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notesMasterIdLst>
    <p:notesMasterId r:id="rId58"/>
  </p:notesMasterIdLst>
  <p:handoutMasterIdLst>
    <p:handoutMasterId r:id="rId59"/>
  </p:handoutMasterIdLst>
  <p:sldIdLst>
    <p:sldId id="283" r:id="rId2"/>
    <p:sldId id="281" r:id="rId3"/>
    <p:sldId id="280" r:id="rId4"/>
    <p:sldId id="288" r:id="rId5"/>
    <p:sldId id="290" r:id="rId6"/>
    <p:sldId id="291" r:id="rId7"/>
    <p:sldId id="282" r:id="rId8"/>
    <p:sldId id="292" r:id="rId9"/>
    <p:sldId id="293" r:id="rId10"/>
    <p:sldId id="294" r:id="rId11"/>
    <p:sldId id="295" r:id="rId12"/>
    <p:sldId id="296" r:id="rId13"/>
    <p:sldId id="297" r:id="rId14"/>
    <p:sldId id="298" r:id="rId15"/>
    <p:sldId id="299" r:id="rId16"/>
    <p:sldId id="300" r:id="rId17"/>
    <p:sldId id="301" r:id="rId18"/>
    <p:sldId id="302" r:id="rId19"/>
    <p:sldId id="305" r:id="rId20"/>
    <p:sldId id="306" r:id="rId21"/>
    <p:sldId id="307" r:id="rId22"/>
    <p:sldId id="308" r:id="rId23"/>
    <p:sldId id="309" r:id="rId24"/>
    <p:sldId id="310" r:id="rId25"/>
    <p:sldId id="311" r:id="rId26"/>
    <p:sldId id="312" r:id="rId27"/>
    <p:sldId id="303" r:id="rId28"/>
    <p:sldId id="304" r:id="rId29"/>
    <p:sldId id="313" r:id="rId30"/>
    <p:sldId id="330" r:id="rId31"/>
    <p:sldId id="325" r:id="rId32"/>
    <p:sldId id="326" r:id="rId33"/>
    <p:sldId id="327" r:id="rId34"/>
    <p:sldId id="331" r:id="rId35"/>
    <p:sldId id="329" r:id="rId36"/>
    <p:sldId id="328" r:id="rId37"/>
    <p:sldId id="332" r:id="rId38"/>
    <p:sldId id="286" r:id="rId39"/>
    <p:sldId id="333" r:id="rId40"/>
    <p:sldId id="338" r:id="rId41"/>
    <p:sldId id="339" r:id="rId42"/>
    <p:sldId id="340" r:id="rId43"/>
    <p:sldId id="341" r:id="rId44"/>
    <p:sldId id="342" r:id="rId45"/>
    <p:sldId id="343" r:id="rId46"/>
    <p:sldId id="344" r:id="rId47"/>
    <p:sldId id="345" r:id="rId48"/>
    <p:sldId id="346" r:id="rId49"/>
    <p:sldId id="347" r:id="rId50"/>
    <p:sldId id="349" r:id="rId51"/>
    <p:sldId id="350" r:id="rId52"/>
    <p:sldId id="351" r:id="rId53"/>
    <p:sldId id="352" r:id="rId54"/>
    <p:sldId id="353" r:id="rId55"/>
    <p:sldId id="354" r:id="rId56"/>
    <p:sldId id="257"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notesViewPr>
    <p:cSldViewPr snapToGrid="0">
      <p:cViewPr varScale="1">
        <p:scale>
          <a:sx n="51" d="100"/>
          <a:sy n="51" d="100"/>
        </p:scale>
        <p:origin x="269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A52C5E-1681-449F-8CAC-0E2D5988FA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65A7E95-4017-42F7-86BF-439100882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4313A1-EE4B-495A-811F-CF2E95556A17}" type="datetimeFigureOut">
              <a:rPr lang="en-US" smtClean="0"/>
              <a:t>8/13/2021</a:t>
            </a:fld>
            <a:endParaRPr lang="en-US"/>
          </a:p>
        </p:txBody>
      </p:sp>
      <p:sp>
        <p:nvSpPr>
          <p:cNvPr id="4" name="Footer Placeholder 3">
            <a:extLst>
              <a:ext uri="{FF2B5EF4-FFF2-40B4-BE49-F238E27FC236}">
                <a16:creationId xmlns:a16="http://schemas.microsoft.com/office/drawing/2014/main" id="{ED2F8257-8A33-4453-97D2-A2E982CDD3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E17CCEF-332F-4EF0-B792-CEEC6417F2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497F2D-C7B7-4E9F-8A16-BD6254E92D1D}" type="slidenum">
              <a:rPr lang="en-US" smtClean="0"/>
              <a:t>‹#›</a:t>
            </a:fld>
            <a:endParaRPr lang="en-US"/>
          </a:p>
        </p:txBody>
      </p:sp>
    </p:spTree>
    <p:extLst>
      <p:ext uri="{BB962C8B-B14F-4D97-AF65-F5344CB8AC3E}">
        <p14:creationId xmlns:p14="http://schemas.microsoft.com/office/powerpoint/2010/main" val="11615695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0AF9F-5218-46E8-8453-1E209FAA7EA2}" type="datetimeFigureOut">
              <a:rPr lang="en-US" smtClean="0"/>
              <a:t>8/13/2021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3600D-CBE5-491A-A16E-B26B10180A88}" type="slidenum">
              <a:rPr lang="en-US" smtClean="0"/>
              <a:t>‹#›</a:t>
            </a:fld>
            <a:endParaRPr lang="en-US"/>
          </a:p>
        </p:txBody>
      </p:sp>
    </p:spTree>
    <p:extLst>
      <p:ext uri="{BB962C8B-B14F-4D97-AF65-F5344CB8AC3E}">
        <p14:creationId xmlns:p14="http://schemas.microsoft.com/office/powerpoint/2010/main" val="2400879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commons.wikimedia.org/wiki/File:SPI_8-bit_circular_transfer.svg"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nxp.com/docs/en/user-guide/UM10204.pdf"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nxp.com/docs/en/user-guide/UM10204.pdf"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ti.com/lit/ug/sprugp1/sprugp1.pdf"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st.com/resource/en/reference_manual/DM00135183-.pdf"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IN" dirty="0"/>
              <a:t>Self Created</a:t>
            </a:r>
            <a:endParaRPr lang="en-US" dirty="0"/>
          </a:p>
        </p:txBody>
      </p:sp>
    </p:spTree>
    <p:extLst>
      <p:ext uri="{BB962C8B-B14F-4D97-AF65-F5344CB8AC3E}">
        <p14:creationId xmlns:p14="http://schemas.microsoft.com/office/powerpoint/2010/main" val="2656826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IN" dirty="0"/>
              <a:t>Self created</a:t>
            </a:r>
          </a:p>
          <a:p>
            <a:pPr marL="457200" indent="-298450"/>
            <a:r>
              <a:rPr lang="en-IN" dirty="0"/>
              <a:t>Taken from STM32CubeMX IDE tool</a:t>
            </a:r>
            <a:endParaRPr lang="en-US" dirty="0"/>
          </a:p>
        </p:txBody>
      </p:sp>
    </p:spTree>
    <p:extLst>
      <p:ext uri="{BB962C8B-B14F-4D97-AF65-F5344CB8AC3E}">
        <p14:creationId xmlns:p14="http://schemas.microsoft.com/office/powerpoint/2010/main" val="102854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a:t>
            </a:r>
            <a:endParaRPr lang="en-US" dirty="0"/>
          </a:p>
        </p:txBody>
      </p:sp>
    </p:spTree>
    <p:extLst>
      <p:ext uri="{BB962C8B-B14F-4D97-AF65-F5344CB8AC3E}">
        <p14:creationId xmlns:p14="http://schemas.microsoft.com/office/powerpoint/2010/main" val="1951649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2402046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1698343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3846054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922043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139212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d825073d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d825073d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d825073db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d825073db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d825073db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d825073dbc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d825073dbc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d825073db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d825073dbc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d825073dbc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hlinkClick r:id="rId3"/>
              </a:rPr>
              <a:t>File:SPI 8-bit circular </a:t>
            </a:r>
            <a:r>
              <a:rPr lang="en-US" dirty="0" err="1">
                <a:hlinkClick r:id="rId3"/>
              </a:rPr>
              <a:t>transfer.svg</a:t>
            </a:r>
            <a:r>
              <a:rPr lang="en-US" dirty="0">
                <a:hlinkClick r:id="rId3"/>
              </a:rPr>
              <a:t> - Wikimedia Commons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d825073db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d825073db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d825073dbc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d825073dbc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STM32F446xx advanced Arm®-based 32-bit MCUs - Reference manual</a:t>
            </a:r>
            <a:r>
              <a:rPr lang="en-IN" dirty="0"/>
              <a:t>  (</a:t>
            </a:r>
            <a:r>
              <a:rPr lang="en-IN" dirty="0" err="1"/>
              <a:t>pg</a:t>
            </a:r>
            <a:r>
              <a:rPr lang="en-IN" dirty="0"/>
              <a:t> no. 852)</a:t>
            </a:r>
            <a:endParaRPr lang="en-US" dirty="0"/>
          </a:p>
        </p:txBody>
      </p:sp>
    </p:spTree>
    <p:extLst>
      <p:ext uri="{BB962C8B-B14F-4D97-AF65-F5344CB8AC3E}">
        <p14:creationId xmlns:p14="http://schemas.microsoft.com/office/powerpoint/2010/main" val="3893330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 </a:t>
            </a:r>
            <a:endParaRPr lang="en-US" dirty="0"/>
          </a:p>
        </p:txBody>
      </p:sp>
    </p:spTree>
    <p:extLst>
      <p:ext uri="{BB962C8B-B14F-4D97-AF65-F5344CB8AC3E}">
        <p14:creationId xmlns:p14="http://schemas.microsoft.com/office/powerpoint/2010/main" val="3126973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 </a:t>
            </a:r>
            <a:endParaRPr lang="en-US" dirty="0"/>
          </a:p>
          <a:p>
            <a:endParaRPr lang="en-US" dirty="0"/>
          </a:p>
        </p:txBody>
      </p:sp>
    </p:spTree>
    <p:extLst>
      <p:ext uri="{BB962C8B-B14F-4D97-AF65-F5344CB8AC3E}">
        <p14:creationId xmlns:p14="http://schemas.microsoft.com/office/powerpoint/2010/main" val="870787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d825073dbc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d825073dbc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a:solidFill>
                  <a:schemeClr val="dk1"/>
                </a:solidFill>
              </a:rPr>
              <a:t>Self created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d825073dbc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d825073dbc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d825073dbc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d825073dbc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Self Created</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d825073dbc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d825073dbc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d825073dbc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d825073dbc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IN" dirty="0">
                <a:hlinkClick r:id="rId3"/>
              </a:rPr>
              <a:t>STM32F446xx advanced Arm®-based 32-bit MCUs - Reference manual</a:t>
            </a:r>
            <a:r>
              <a:rPr lang="en-IN" dirty="0"/>
              <a:t>  (</a:t>
            </a:r>
            <a:r>
              <a:rPr lang="en-IN" dirty="0" err="1"/>
              <a:t>pg</a:t>
            </a:r>
            <a:r>
              <a:rPr lang="en-IN" dirty="0"/>
              <a:t> no. 856)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3372279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1234752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31004025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UM10204 I2C-bus specification and user manual (nxp.com)</a:t>
            </a:r>
            <a:r>
              <a:rPr lang="en-IN" dirty="0"/>
              <a:t> (</a:t>
            </a:r>
            <a:r>
              <a:rPr lang="en-IN" dirty="0" err="1"/>
              <a:t>pg</a:t>
            </a:r>
            <a:r>
              <a:rPr lang="en-IN" dirty="0"/>
              <a:t> no. 9)</a:t>
            </a:r>
            <a:endParaRPr lang="en-US" dirty="0"/>
          </a:p>
          <a:p>
            <a:endParaRPr lang="en-US" dirty="0"/>
          </a:p>
        </p:txBody>
      </p:sp>
    </p:spTree>
    <p:extLst>
      <p:ext uri="{BB962C8B-B14F-4D97-AF65-F5344CB8AC3E}">
        <p14:creationId xmlns:p14="http://schemas.microsoft.com/office/powerpoint/2010/main" val="2398163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a:t>
            </a:r>
            <a:endParaRPr lang="en-US" dirty="0"/>
          </a:p>
        </p:txBody>
      </p:sp>
    </p:spTree>
    <p:extLst>
      <p:ext uri="{BB962C8B-B14F-4D97-AF65-F5344CB8AC3E}">
        <p14:creationId xmlns:p14="http://schemas.microsoft.com/office/powerpoint/2010/main" val="2099702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UM10204 I2C-bus specification and user manual (nxp.com)</a:t>
            </a:r>
            <a:r>
              <a:rPr lang="en-IN" dirty="0"/>
              <a:t> (</a:t>
            </a:r>
            <a:r>
              <a:rPr lang="en-IN" dirty="0" err="1"/>
              <a:t>pg</a:t>
            </a:r>
            <a:r>
              <a:rPr lang="en-IN" dirty="0"/>
              <a:t> no. 9)</a:t>
            </a:r>
            <a:endParaRPr lang="en-US" dirty="0"/>
          </a:p>
          <a:p>
            <a:endParaRPr lang="en-US" dirty="0"/>
          </a:p>
        </p:txBody>
      </p:sp>
    </p:spTree>
    <p:extLst>
      <p:ext uri="{BB962C8B-B14F-4D97-AF65-F5344CB8AC3E}">
        <p14:creationId xmlns:p14="http://schemas.microsoft.com/office/powerpoint/2010/main" val="25593620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a:t>
            </a:r>
            <a:endParaRPr lang="en-US" dirty="0"/>
          </a:p>
        </p:txBody>
      </p:sp>
    </p:spTree>
    <p:extLst>
      <p:ext uri="{BB962C8B-B14F-4D97-AF65-F5344CB8AC3E}">
        <p14:creationId xmlns:p14="http://schemas.microsoft.com/office/powerpoint/2010/main" val="264814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STM32F446xx advanced Arm®-based 32-bit MCUs - Reference manual</a:t>
            </a:r>
            <a:r>
              <a:rPr lang="en-IN" dirty="0"/>
              <a:t>  (</a:t>
            </a:r>
            <a:r>
              <a:rPr lang="en-IN" dirty="0" err="1"/>
              <a:t>pg</a:t>
            </a:r>
            <a:r>
              <a:rPr lang="en-IN" dirty="0"/>
              <a:t> no. 762)</a:t>
            </a:r>
            <a:endParaRPr lang="en-US" dirty="0"/>
          </a:p>
          <a:p>
            <a:endParaRPr lang="en-US" dirty="0"/>
          </a:p>
        </p:txBody>
      </p:sp>
    </p:spTree>
    <p:extLst>
      <p:ext uri="{BB962C8B-B14F-4D97-AF65-F5344CB8AC3E}">
        <p14:creationId xmlns:p14="http://schemas.microsoft.com/office/powerpoint/2010/main" val="15813260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309266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a:t>
            </a:r>
            <a:endParaRPr lang="en-US" dirty="0"/>
          </a:p>
        </p:txBody>
      </p:sp>
    </p:spTree>
    <p:extLst>
      <p:ext uri="{BB962C8B-B14F-4D97-AF65-F5344CB8AC3E}">
        <p14:creationId xmlns:p14="http://schemas.microsoft.com/office/powerpoint/2010/main" val="27892314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Self Created</a:t>
            </a:r>
            <a:endParaRPr lang="en-US" dirty="0"/>
          </a:p>
        </p:txBody>
      </p:sp>
    </p:spTree>
    <p:extLst>
      <p:ext uri="{BB962C8B-B14F-4D97-AF65-F5344CB8AC3E}">
        <p14:creationId xmlns:p14="http://schemas.microsoft.com/office/powerpoint/2010/main" val="440970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Self Created</a:t>
            </a:r>
            <a:endParaRPr lang="en-US" dirty="0"/>
          </a:p>
          <a:p>
            <a:endParaRPr lang="en-US" dirty="0"/>
          </a:p>
        </p:txBody>
      </p:sp>
    </p:spTree>
    <p:extLst>
      <p:ext uri="{BB962C8B-B14F-4D97-AF65-F5344CB8AC3E}">
        <p14:creationId xmlns:p14="http://schemas.microsoft.com/office/powerpoint/2010/main" val="23220823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hlinkClick r:id="rId3"/>
              </a:rPr>
              <a:t>Universal Asynchronous Receiver/Transmitter (UART) for </a:t>
            </a:r>
            <a:r>
              <a:rPr lang="en-US" dirty="0" err="1">
                <a:hlinkClick r:id="rId3"/>
              </a:rPr>
              <a:t>KeyStone</a:t>
            </a:r>
            <a:r>
              <a:rPr lang="en-US" dirty="0">
                <a:hlinkClick r:id="rId3"/>
              </a:rPr>
              <a:t> Devices UG (ti.com)</a:t>
            </a:r>
            <a:r>
              <a:rPr lang="en-US" dirty="0"/>
              <a:t> (</a:t>
            </a:r>
            <a:r>
              <a:rPr lang="en-US" dirty="0" err="1"/>
              <a:t>pg</a:t>
            </a:r>
            <a:r>
              <a:rPr lang="en-US" dirty="0"/>
              <a:t> no. 15)</a:t>
            </a:r>
          </a:p>
        </p:txBody>
      </p:sp>
    </p:spTree>
    <p:extLst>
      <p:ext uri="{BB962C8B-B14F-4D97-AF65-F5344CB8AC3E}">
        <p14:creationId xmlns:p14="http://schemas.microsoft.com/office/powerpoint/2010/main" val="20402683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STM32F446xx advanced Arm®-based 32-bit MCUs - Reference manual</a:t>
            </a:r>
            <a:r>
              <a:rPr lang="en-IN" dirty="0"/>
              <a:t>  (</a:t>
            </a:r>
            <a:r>
              <a:rPr lang="en-IN" dirty="0" err="1"/>
              <a:t>pg</a:t>
            </a:r>
            <a:r>
              <a:rPr lang="en-IN" dirty="0"/>
              <a:t> no. 806 &amp; 807)</a:t>
            </a:r>
            <a:endParaRPr lang="en-US" dirty="0"/>
          </a:p>
          <a:p>
            <a:endParaRPr lang="en-US" dirty="0"/>
          </a:p>
          <a:p>
            <a:endParaRPr lang="en-US" dirty="0"/>
          </a:p>
        </p:txBody>
      </p:sp>
    </p:spTree>
    <p:extLst>
      <p:ext uri="{BB962C8B-B14F-4D97-AF65-F5344CB8AC3E}">
        <p14:creationId xmlns:p14="http://schemas.microsoft.com/office/powerpoint/2010/main" val="12198786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STM32F446xx advanced Arm®-based 32-bit MCUs - Reference manual</a:t>
            </a:r>
            <a:r>
              <a:rPr lang="en-IN" dirty="0"/>
              <a:t>  (</a:t>
            </a:r>
            <a:r>
              <a:rPr lang="en-IN" dirty="0" err="1"/>
              <a:t>pg</a:t>
            </a:r>
            <a:r>
              <a:rPr lang="en-IN" dirty="0"/>
              <a:t> no. 807)</a:t>
            </a:r>
            <a:endParaRPr lang="en-US" dirty="0"/>
          </a:p>
          <a:p>
            <a:endParaRPr lang="en-US" dirty="0"/>
          </a:p>
        </p:txBody>
      </p:sp>
    </p:spTree>
    <p:extLst>
      <p:ext uri="{BB962C8B-B14F-4D97-AF65-F5344CB8AC3E}">
        <p14:creationId xmlns:p14="http://schemas.microsoft.com/office/powerpoint/2010/main" val="4009819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hlinkClick r:id="rId3"/>
              </a:rPr>
              <a:t>STM32F446xx advanced Arm®-based 32-bit MCUs - Reference manual</a:t>
            </a:r>
            <a:r>
              <a:rPr lang="en-IN" dirty="0"/>
              <a:t>  (</a:t>
            </a:r>
            <a:r>
              <a:rPr lang="en-IN" dirty="0" err="1"/>
              <a:t>pg</a:t>
            </a:r>
            <a:r>
              <a:rPr lang="en-IN" dirty="0"/>
              <a:t> no. 808)</a:t>
            </a:r>
            <a:endParaRPr lang="en-US" dirty="0"/>
          </a:p>
          <a:p>
            <a:endParaRPr lang="en-US" dirty="0"/>
          </a:p>
        </p:txBody>
      </p:sp>
    </p:spTree>
    <p:extLst>
      <p:ext uri="{BB962C8B-B14F-4D97-AF65-F5344CB8AC3E}">
        <p14:creationId xmlns:p14="http://schemas.microsoft.com/office/powerpoint/2010/main" val="786436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2C45D3-2254-4692-80DF-EAAF877A5E42}"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1462508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2C45D3-2254-4692-80DF-EAAF877A5E42}"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2609760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2C45D3-2254-4692-80DF-EAAF877A5E42}"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932158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2C45D3-2254-4692-80DF-EAAF877A5E42}"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2834379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2C45D3-2254-4692-80DF-EAAF877A5E42}" type="datetimeFigureOut">
              <a:rPr lang="en-US" smtClean="0"/>
              <a:t>8/13/2021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2996337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2C45D3-2254-4692-80DF-EAAF877A5E42}" type="datetimeFigureOut">
              <a:rPr lang="en-US" smtClean="0"/>
              <a:t>8/13/2021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530855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2C45D3-2254-4692-80DF-EAAF877A5E42}" type="datetimeFigureOut">
              <a:rPr lang="en-US" smtClean="0"/>
              <a:t>8/13/2021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383289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2C45D3-2254-4692-80DF-EAAF877A5E42}"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413348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2C45D3-2254-4692-80DF-EAAF877A5E42}"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1965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2C45D3-2254-4692-80DF-EAAF877A5E42}"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83521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2C45D3-2254-4692-80DF-EAAF877A5E42}"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9292E-D6AD-48CB-9712-B227F489604D}" type="slidenum">
              <a:rPr lang="en-US" smtClean="0"/>
              <a:t>‹#›</a:t>
            </a:fld>
            <a:endParaRPr lang="en-US"/>
          </a:p>
        </p:txBody>
      </p:sp>
    </p:spTree>
    <p:extLst>
      <p:ext uri="{BB962C8B-B14F-4D97-AF65-F5344CB8AC3E}">
        <p14:creationId xmlns:p14="http://schemas.microsoft.com/office/powerpoint/2010/main" val="2120806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2C45D3-2254-4692-80DF-EAAF877A5E42}" type="datetimeFigureOut">
              <a:rPr lang="en-US" smtClean="0"/>
              <a:t>8/13/2021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E9292E-D6AD-48CB-9712-B227F489604D}" type="slidenum">
              <a:rPr lang="en-US" smtClean="0"/>
              <a:t>‹#›</a:t>
            </a:fld>
            <a:endParaRPr lang="en-US"/>
          </a:p>
        </p:txBody>
      </p:sp>
    </p:spTree>
    <p:extLst>
      <p:ext uri="{BB962C8B-B14F-4D97-AF65-F5344CB8AC3E}">
        <p14:creationId xmlns:p14="http://schemas.microsoft.com/office/powerpoint/2010/main" val="3944572124"/>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2519992"/>
            <a:ext cx="10515600" cy="2144152"/>
          </a:xfrm>
        </p:spPr>
        <p:txBody>
          <a:bodyPr>
            <a:normAutofit/>
          </a:bodyPr>
          <a:lstStyle/>
          <a:p>
            <a:pPr algn="ctr"/>
            <a:r>
              <a:rPr lang="en-US" sz="4800" b="1" dirty="0">
                <a:solidFill>
                  <a:schemeClr val="dk1"/>
                </a:solidFill>
                <a:latin typeface="Helvetica Neue" panose="020B0604020202020204" charset="0"/>
                <a:cs typeface="Gill Sans"/>
              </a:rPr>
              <a:t>Understand the GPIO controller and its functionalities</a:t>
            </a:r>
            <a:br>
              <a:rPr lang="en-US" sz="4800" dirty="0">
                <a:solidFill>
                  <a:schemeClr val="dk2"/>
                </a:solidFill>
                <a:latin typeface="Gill Sans"/>
                <a:cs typeface="Gill Sans"/>
              </a:rPr>
            </a:br>
            <a:endParaRPr lang="en-US" sz="4800" b="1" dirty="0">
              <a:solidFill>
                <a:schemeClr val="dk1"/>
              </a:solidFill>
              <a:latin typeface="Helvetica Neue" panose="020B0604020202020204" charset="0"/>
              <a:cs typeface="Gill Sans"/>
              <a:sym typeface="Gill Sans"/>
            </a:endParaRPr>
          </a:p>
        </p:txBody>
      </p:sp>
    </p:spTree>
    <p:extLst>
      <p:ext uri="{BB962C8B-B14F-4D97-AF65-F5344CB8AC3E}">
        <p14:creationId xmlns:p14="http://schemas.microsoft.com/office/powerpoint/2010/main" val="2928825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5A4E0D-3220-4656-A4B7-310BD8F7E1A0}"/>
              </a:ext>
            </a:extLst>
          </p:cNvPr>
          <p:cNvSpPr txBox="1"/>
          <p:nvPr/>
        </p:nvSpPr>
        <p:spPr>
          <a:xfrm>
            <a:off x="694657" y="411126"/>
            <a:ext cx="10547497" cy="748988"/>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General Purpose Input Output (GPIO)</a:t>
            </a:r>
            <a:endParaRPr lang="en-US" sz="4267" b="1" dirty="0">
              <a:latin typeface="Helvetica Neue" panose="020B0604020202020204" charset="0"/>
              <a:cs typeface="Helvetica Neue" panose="020B0604020202020204" charset="0"/>
            </a:endParaRPr>
          </a:p>
        </p:txBody>
      </p:sp>
      <p:sp>
        <p:nvSpPr>
          <p:cNvPr id="3" name="TextBox 2">
            <a:extLst>
              <a:ext uri="{FF2B5EF4-FFF2-40B4-BE49-F238E27FC236}">
                <a16:creationId xmlns:a16="http://schemas.microsoft.com/office/drawing/2014/main" id="{74AEFC0A-B818-4666-B3EF-0F447AC11D45}"/>
              </a:ext>
            </a:extLst>
          </p:cNvPr>
          <p:cNvSpPr txBox="1"/>
          <p:nvPr/>
        </p:nvSpPr>
        <p:spPr>
          <a:xfrm>
            <a:off x="1275907" y="1290085"/>
            <a:ext cx="9484243" cy="3046988"/>
          </a:xfrm>
          <a:prstGeom prst="rect">
            <a:avLst/>
          </a:prstGeom>
          <a:noFill/>
        </p:spPr>
        <p:txBody>
          <a:bodyPr wrap="square" rtlCol="0">
            <a:spAutoFit/>
          </a:bodyPr>
          <a:lstStyle/>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GPIO pins most commonly used in toggling LED’s and handling press and release events of the buttons.</a:t>
            </a:r>
          </a:p>
          <a:p>
            <a:pPr marL="457189" indent="-457189">
              <a:buFont typeface="Arial" panose="020B0604020202020204" pitchFamily="34" charset="0"/>
              <a:buChar char="•"/>
            </a:pPr>
            <a:endParaRPr lang="en-IN" sz="3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But, GPIO’s are not limited to only this applications.</a:t>
            </a:r>
          </a:p>
          <a:p>
            <a:pPr marL="457189" indent="-457189">
              <a:buFont typeface="Arial" panose="020B0604020202020204" pitchFamily="34" charset="0"/>
              <a:buChar char="•"/>
            </a:pPr>
            <a:endParaRPr lang="en-IN" sz="3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GPIO’s are used in many other applications.</a:t>
            </a:r>
            <a:endParaRPr lang="en-US" sz="3200"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1499891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EEA914A8-59E9-4D69-A683-A30749754A88}"/>
              </a:ext>
            </a:extLst>
          </p:cNvPr>
          <p:cNvSpPr/>
          <p:nvPr/>
        </p:nvSpPr>
        <p:spPr>
          <a:xfrm>
            <a:off x="8054737" y="1835890"/>
            <a:ext cx="3856075" cy="2806996"/>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IN" sz="2400" b="1" dirty="0"/>
              <a:t>MCU</a:t>
            </a:r>
            <a:endParaRPr lang="en-US" sz="2400" b="1" dirty="0"/>
          </a:p>
        </p:txBody>
      </p:sp>
      <p:sp>
        <p:nvSpPr>
          <p:cNvPr id="2" name="TextBox 1">
            <a:extLst>
              <a:ext uri="{FF2B5EF4-FFF2-40B4-BE49-F238E27FC236}">
                <a16:creationId xmlns:a16="http://schemas.microsoft.com/office/drawing/2014/main" id="{49637324-04F3-495B-B242-AAFA7CE9FAB5}"/>
              </a:ext>
            </a:extLst>
          </p:cNvPr>
          <p:cNvSpPr txBox="1"/>
          <p:nvPr/>
        </p:nvSpPr>
        <p:spPr>
          <a:xfrm>
            <a:off x="694656" y="1275903"/>
            <a:ext cx="7130907" cy="4308872"/>
          </a:xfrm>
          <a:prstGeom prst="rect">
            <a:avLst/>
          </a:prstGeom>
          <a:noFill/>
        </p:spPr>
        <p:txBody>
          <a:bodyPr wrap="square" rtlCol="0">
            <a:spAutoFit/>
          </a:bodyPr>
          <a:lstStyle/>
          <a:p>
            <a:r>
              <a:rPr lang="en-IN" sz="3200" b="1" dirty="0">
                <a:latin typeface="Gill Sans" panose="020B0604020202020204" charset="0"/>
                <a:cs typeface="Gill Sans" panose="020B0604020202020204" charset="0"/>
              </a:rPr>
              <a:t>Applications of GPIO:</a:t>
            </a:r>
          </a:p>
          <a:p>
            <a:endParaRPr lang="en-IN" sz="1200" b="1"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Reading/Writing digital signal</a:t>
            </a:r>
          </a:p>
          <a:p>
            <a:endParaRPr lang="en-IN" sz="14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Issuing interrupts</a:t>
            </a:r>
          </a:p>
          <a:p>
            <a:endParaRPr lang="en-IN" sz="16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Generating triggers for the external components</a:t>
            </a:r>
          </a:p>
          <a:p>
            <a:endParaRPr lang="en-IN" sz="16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Waking up the processor</a:t>
            </a:r>
          </a:p>
          <a:p>
            <a:endParaRPr lang="en-IN" sz="2400" dirty="0">
              <a:latin typeface="Gill Sans" panose="020B0604020202020204" charset="0"/>
              <a:cs typeface="Gill Sans" panose="020B0604020202020204" charset="0"/>
            </a:endParaRPr>
          </a:p>
        </p:txBody>
      </p:sp>
      <p:sp>
        <p:nvSpPr>
          <p:cNvPr id="3" name="TextBox 2">
            <a:extLst>
              <a:ext uri="{FF2B5EF4-FFF2-40B4-BE49-F238E27FC236}">
                <a16:creationId xmlns:a16="http://schemas.microsoft.com/office/drawing/2014/main" id="{E7F8AF2F-5DD2-4A3C-9199-08987D22A739}"/>
              </a:ext>
            </a:extLst>
          </p:cNvPr>
          <p:cNvSpPr txBox="1"/>
          <p:nvPr/>
        </p:nvSpPr>
        <p:spPr>
          <a:xfrm>
            <a:off x="694657" y="411126"/>
            <a:ext cx="10547497" cy="748988"/>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General Purpose Input Output (GPIO)</a:t>
            </a:r>
            <a:endParaRPr lang="en-US" sz="4267" b="1" dirty="0">
              <a:latin typeface="Helvetica Neue" panose="020B0604020202020204" charset="0"/>
              <a:cs typeface="Helvetica Neue" panose="020B0604020202020204" charset="0"/>
            </a:endParaRPr>
          </a:p>
        </p:txBody>
      </p:sp>
      <p:cxnSp>
        <p:nvCxnSpPr>
          <p:cNvPr id="5" name="Straight Connector 4">
            <a:extLst>
              <a:ext uri="{FF2B5EF4-FFF2-40B4-BE49-F238E27FC236}">
                <a16:creationId xmlns:a16="http://schemas.microsoft.com/office/drawing/2014/main" id="{90FCA29A-80EC-456E-961D-6BF3C6818084}"/>
              </a:ext>
            </a:extLst>
          </p:cNvPr>
          <p:cNvCxnSpPr>
            <a:cxnSpLocks/>
          </p:cNvCxnSpPr>
          <p:nvPr/>
        </p:nvCxnSpPr>
        <p:spPr>
          <a:xfrm>
            <a:off x="8449341" y="3076353"/>
            <a:ext cx="313306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Isosceles Triangle 5">
            <a:extLst>
              <a:ext uri="{FF2B5EF4-FFF2-40B4-BE49-F238E27FC236}">
                <a16:creationId xmlns:a16="http://schemas.microsoft.com/office/drawing/2014/main" id="{C46FF4EC-B0B4-4F34-8915-9EBFD7F0D1B1}"/>
              </a:ext>
            </a:extLst>
          </p:cNvPr>
          <p:cNvSpPr/>
          <p:nvPr/>
        </p:nvSpPr>
        <p:spPr>
          <a:xfrm rot="5400000">
            <a:off x="9427538" y="2906236"/>
            <a:ext cx="326065" cy="34024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7" name="Straight Connector 6">
            <a:extLst>
              <a:ext uri="{FF2B5EF4-FFF2-40B4-BE49-F238E27FC236}">
                <a16:creationId xmlns:a16="http://schemas.microsoft.com/office/drawing/2014/main" id="{B04D9892-34C2-4DD3-8874-FA9203E25E80}"/>
              </a:ext>
            </a:extLst>
          </p:cNvPr>
          <p:cNvCxnSpPr>
            <a:cxnSpLocks/>
          </p:cNvCxnSpPr>
          <p:nvPr/>
        </p:nvCxnSpPr>
        <p:spPr>
          <a:xfrm>
            <a:off x="8510767" y="3818276"/>
            <a:ext cx="2079261"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Isosceles Triangle 7">
            <a:extLst>
              <a:ext uri="{FF2B5EF4-FFF2-40B4-BE49-F238E27FC236}">
                <a16:creationId xmlns:a16="http://schemas.microsoft.com/office/drawing/2014/main" id="{83692E9D-FA67-43C2-9C4C-68CA99B953D8}"/>
              </a:ext>
            </a:extLst>
          </p:cNvPr>
          <p:cNvSpPr/>
          <p:nvPr/>
        </p:nvSpPr>
        <p:spPr>
          <a:xfrm rot="16200000">
            <a:off x="9488965" y="3648158"/>
            <a:ext cx="326065" cy="34024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1" name="Straight Connector 10">
            <a:extLst>
              <a:ext uri="{FF2B5EF4-FFF2-40B4-BE49-F238E27FC236}">
                <a16:creationId xmlns:a16="http://schemas.microsoft.com/office/drawing/2014/main" id="{F9889EA9-A1BB-4A85-A4F9-1FBB60E8DA19}"/>
              </a:ext>
            </a:extLst>
          </p:cNvPr>
          <p:cNvCxnSpPr/>
          <p:nvPr/>
        </p:nvCxnSpPr>
        <p:spPr>
          <a:xfrm flipV="1">
            <a:off x="10590028" y="3076353"/>
            <a:ext cx="0" cy="741923"/>
          </a:xfrm>
          <a:prstGeom prst="line">
            <a:avLst/>
          </a:prstGeom>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7B2C09F-6060-4CFF-BF82-DDFB0FC5FBE1}"/>
              </a:ext>
            </a:extLst>
          </p:cNvPr>
          <p:cNvSpPr/>
          <p:nvPr/>
        </p:nvSpPr>
        <p:spPr>
          <a:xfrm>
            <a:off x="11043691" y="3019648"/>
            <a:ext cx="297700" cy="1275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5" name="Straight Connector 14">
            <a:extLst>
              <a:ext uri="{FF2B5EF4-FFF2-40B4-BE49-F238E27FC236}">
                <a16:creationId xmlns:a16="http://schemas.microsoft.com/office/drawing/2014/main" id="{1004C119-75CA-4F03-A768-A32F42D16CCC}"/>
              </a:ext>
            </a:extLst>
          </p:cNvPr>
          <p:cNvCxnSpPr/>
          <p:nvPr/>
        </p:nvCxnSpPr>
        <p:spPr>
          <a:xfrm>
            <a:off x="8449341" y="2466753"/>
            <a:ext cx="116249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8F748CE-5140-4DCB-8DF1-92F2DD58F676}"/>
              </a:ext>
            </a:extLst>
          </p:cNvPr>
          <p:cNvCxnSpPr>
            <a:cxnSpLocks/>
          </p:cNvCxnSpPr>
          <p:nvPr/>
        </p:nvCxnSpPr>
        <p:spPr>
          <a:xfrm flipH="1">
            <a:off x="9590570" y="2438400"/>
            <a:ext cx="7087" cy="542261"/>
          </a:xfrm>
          <a:prstGeom prst="line">
            <a:avLst/>
          </a:prstGeom>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0460B99F-C8A0-4671-B541-3B30FD453334}"/>
              </a:ext>
            </a:extLst>
          </p:cNvPr>
          <p:cNvSpPr/>
          <p:nvPr/>
        </p:nvSpPr>
        <p:spPr>
          <a:xfrm>
            <a:off x="9540956" y="2881427"/>
            <a:ext cx="99237" cy="12404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TextBox 19">
            <a:extLst>
              <a:ext uri="{FF2B5EF4-FFF2-40B4-BE49-F238E27FC236}">
                <a16:creationId xmlns:a16="http://schemas.microsoft.com/office/drawing/2014/main" id="{22C665DD-02EB-43E2-9C6C-FA4FE72D7AA3}"/>
              </a:ext>
            </a:extLst>
          </p:cNvPr>
          <p:cNvSpPr txBox="1"/>
          <p:nvPr/>
        </p:nvSpPr>
        <p:spPr>
          <a:xfrm>
            <a:off x="8293401" y="2098174"/>
            <a:ext cx="1769727" cy="400110"/>
          </a:xfrm>
          <a:prstGeom prst="rect">
            <a:avLst/>
          </a:prstGeom>
          <a:noFill/>
        </p:spPr>
        <p:txBody>
          <a:bodyPr wrap="square" rtlCol="0">
            <a:spAutoFit/>
          </a:bodyPr>
          <a:lstStyle/>
          <a:p>
            <a:r>
              <a:rPr lang="en-IN" sz="2000" b="1" dirty="0">
                <a:latin typeface="Gill Sans" panose="020B0604020202020204" charset="0"/>
                <a:cs typeface="Gill Sans" panose="020B0604020202020204" charset="0"/>
              </a:rPr>
              <a:t>Enable Line</a:t>
            </a:r>
            <a:endParaRPr lang="en-US" sz="2000" b="1" dirty="0">
              <a:latin typeface="Gill Sans" panose="020B0604020202020204" charset="0"/>
              <a:cs typeface="Gill Sans" panose="020B0604020202020204" charset="0"/>
            </a:endParaRPr>
          </a:p>
        </p:txBody>
      </p:sp>
      <p:sp>
        <p:nvSpPr>
          <p:cNvPr id="21" name="TextBox 20">
            <a:extLst>
              <a:ext uri="{FF2B5EF4-FFF2-40B4-BE49-F238E27FC236}">
                <a16:creationId xmlns:a16="http://schemas.microsoft.com/office/drawing/2014/main" id="{9EC48105-01B6-4242-B622-C165A9812BC6}"/>
              </a:ext>
            </a:extLst>
          </p:cNvPr>
          <p:cNvSpPr txBox="1"/>
          <p:nvPr/>
        </p:nvSpPr>
        <p:spPr>
          <a:xfrm>
            <a:off x="7957874" y="3121766"/>
            <a:ext cx="2079261" cy="400110"/>
          </a:xfrm>
          <a:prstGeom prst="rect">
            <a:avLst/>
          </a:prstGeom>
          <a:noFill/>
        </p:spPr>
        <p:txBody>
          <a:bodyPr wrap="square" rtlCol="0">
            <a:spAutoFit/>
          </a:bodyPr>
          <a:lstStyle/>
          <a:p>
            <a:r>
              <a:rPr lang="en-IN" sz="2000" b="1" dirty="0">
                <a:latin typeface="Gill Sans" panose="020B0604020202020204" charset="0"/>
                <a:cs typeface="Gill Sans" panose="020B0604020202020204" charset="0"/>
              </a:rPr>
              <a:t>Output buffer</a:t>
            </a:r>
            <a:endParaRPr lang="en-US" sz="2000" b="1" dirty="0">
              <a:latin typeface="Gill Sans" panose="020B0604020202020204" charset="0"/>
              <a:cs typeface="Gill Sans" panose="020B0604020202020204" charset="0"/>
            </a:endParaRPr>
          </a:p>
        </p:txBody>
      </p:sp>
      <p:sp>
        <p:nvSpPr>
          <p:cNvPr id="22" name="TextBox 21">
            <a:extLst>
              <a:ext uri="{FF2B5EF4-FFF2-40B4-BE49-F238E27FC236}">
                <a16:creationId xmlns:a16="http://schemas.microsoft.com/office/drawing/2014/main" id="{84267B17-2D7B-4080-B156-251BD9ADFDA5}"/>
              </a:ext>
            </a:extLst>
          </p:cNvPr>
          <p:cNvSpPr txBox="1"/>
          <p:nvPr/>
        </p:nvSpPr>
        <p:spPr>
          <a:xfrm>
            <a:off x="8019306" y="3794638"/>
            <a:ext cx="1769727" cy="400110"/>
          </a:xfrm>
          <a:prstGeom prst="rect">
            <a:avLst/>
          </a:prstGeom>
          <a:noFill/>
        </p:spPr>
        <p:txBody>
          <a:bodyPr wrap="square" rtlCol="0">
            <a:spAutoFit/>
          </a:bodyPr>
          <a:lstStyle/>
          <a:p>
            <a:r>
              <a:rPr lang="en-IN" sz="2000" b="1" dirty="0">
                <a:latin typeface="Gill Sans" panose="020B0604020202020204" charset="0"/>
                <a:cs typeface="Gill Sans" panose="020B0604020202020204" charset="0"/>
              </a:rPr>
              <a:t>Input buffer</a:t>
            </a:r>
            <a:endParaRPr lang="en-US" sz="2000" b="1" dirty="0">
              <a:latin typeface="Gill Sans" panose="020B0604020202020204" charset="0"/>
              <a:cs typeface="Gill Sans" panose="020B0604020202020204" charset="0"/>
            </a:endParaRPr>
          </a:p>
        </p:txBody>
      </p:sp>
      <p:sp>
        <p:nvSpPr>
          <p:cNvPr id="23" name="TextBox 22">
            <a:extLst>
              <a:ext uri="{FF2B5EF4-FFF2-40B4-BE49-F238E27FC236}">
                <a16:creationId xmlns:a16="http://schemas.microsoft.com/office/drawing/2014/main" id="{4A050AE1-CB13-452F-87AD-D4F637395A84}"/>
              </a:ext>
            </a:extLst>
          </p:cNvPr>
          <p:cNvSpPr txBox="1"/>
          <p:nvPr/>
        </p:nvSpPr>
        <p:spPr>
          <a:xfrm>
            <a:off x="10916093" y="2656523"/>
            <a:ext cx="886046" cy="461665"/>
          </a:xfrm>
          <a:prstGeom prst="rect">
            <a:avLst/>
          </a:prstGeom>
          <a:noFill/>
        </p:spPr>
        <p:txBody>
          <a:bodyPr wrap="square" rtlCol="0">
            <a:spAutoFit/>
          </a:bodyPr>
          <a:lstStyle/>
          <a:p>
            <a:r>
              <a:rPr lang="en-IN" sz="2400" b="1" dirty="0">
                <a:latin typeface="Gill Sans" panose="020B0604020202020204" charset="0"/>
                <a:cs typeface="Gill Sans" panose="020B0604020202020204" charset="0"/>
              </a:rPr>
              <a:t>Pin</a:t>
            </a:r>
            <a:endParaRPr lang="en-US" sz="2400" b="1" dirty="0">
              <a:latin typeface="Gill Sans" panose="020B0604020202020204" charset="0"/>
              <a:cs typeface="Gill Sans" panose="020B0604020202020204" charset="0"/>
            </a:endParaRPr>
          </a:p>
        </p:txBody>
      </p:sp>
      <p:sp>
        <p:nvSpPr>
          <p:cNvPr id="24" name="Oval 23">
            <a:extLst>
              <a:ext uri="{FF2B5EF4-FFF2-40B4-BE49-F238E27FC236}">
                <a16:creationId xmlns:a16="http://schemas.microsoft.com/office/drawing/2014/main" id="{4EF88A1F-5BA1-450D-B8CB-E51C0D06B811}"/>
              </a:ext>
            </a:extLst>
          </p:cNvPr>
          <p:cNvSpPr/>
          <p:nvPr/>
        </p:nvSpPr>
        <p:spPr>
          <a:xfrm>
            <a:off x="11582400" y="3009017"/>
            <a:ext cx="94517" cy="1392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TextBox 24">
            <a:extLst>
              <a:ext uri="{FF2B5EF4-FFF2-40B4-BE49-F238E27FC236}">
                <a16:creationId xmlns:a16="http://schemas.microsoft.com/office/drawing/2014/main" id="{9688270D-00B2-436D-A321-68F22DDD5182}"/>
              </a:ext>
            </a:extLst>
          </p:cNvPr>
          <p:cNvSpPr txBox="1"/>
          <p:nvPr/>
        </p:nvSpPr>
        <p:spPr>
          <a:xfrm>
            <a:off x="8985695" y="4736414"/>
            <a:ext cx="2310813" cy="461665"/>
          </a:xfrm>
          <a:prstGeom prst="rect">
            <a:avLst/>
          </a:prstGeom>
          <a:noFill/>
        </p:spPr>
        <p:txBody>
          <a:bodyPr wrap="square" rtlCol="0">
            <a:spAutoFit/>
          </a:bodyPr>
          <a:lstStyle/>
          <a:p>
            <a:pPr algn="ctr"/>
            <a:r>
              <a:rPr lang="en-IN" sz="2400" b="1" dirty="0">
                <a:latin typeface="Gill Sans" panose="020B0604020202020204" charset="0"/>
                <a:cs typeface="Gill Sans" panose="020B0604020202020204" charset="0"/>
              </a:rPr>
              <a:t>GPIO Pin</a:t>
            </a:r>
            <a:endParaRPr lang="en-US" sz="2400" b="1" dirty="0">
              <a:latin typeface="Gill Sans" panose="020B0604020202020204" charset="0"/>
              <a:cs typeface="Gill Sans" panose="020B0604020202020204" charset="0"/>
            </a:endParaRPr>
          </a:p>
        </p:txBody>
      </p:sp>
      <p:cxnSp>
        <p:nvCxnSpPr>
          <p:cNvPr id="13" name="Connector: Elbow 12">
            <a:extLst>
              <a:ext uri="{FF2B5EF4-FFF2-40B4-BE49-F238E27FC236}">
                <a16:creationId xmlns:a16="http://schemas.microsoft.com/office/drawing/2014/main" id="{03F251ED-40BF-4A3A-A65F-75263E4AD6B8}"/>
              </a:ext>
            </a:extLst>
          </p:cNvPr>
          <p:cNvCxnSpPr>
            <a:cxnSpLocks/>
          </p:cNvCxnSpPr>
          <p:nvPr/>
        </p:nvCxnSpPr>
        <p:spPr>
          <a:xfrm rot="16200000" flipH="1">
            <a:off x="9149906" y="2980675"/>
            <a:ext cx="1179028" cy="198464"/>
          </a:xfrm>
          <a:prstGeom prst="bentConnector3">
            <a:avLst>
              <a:gd name="adj1" fmla="val -2907"/>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4580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637324-04F3-495B-B242-AAFA7CE9FAB5}"/>
              </a:ext>
            </a:extLst>
          </p:cNvPr>
          <p:cNvSpPr txBox="1"/>
          <p:nvPr/>
        </p:nvSpPr>
        <p:spPr>
          <a:xfrm>
            <a:off x="694657" y="1162485"/>
            <a:ext cx="6138535" cy="4524315"/>
          </a:xfrm>
          <a:prstGeom prst="rect">
            <a:avLst/>
          </a:prstGeom>
          <a:noFill/>
        </p:spPr>
        <p:txBody>
          <a:bodyPr wrap="square" rtlCol="0">
            <a:spAutoFit/>
          </a:bodyPr>
          <a:lstStyle/>
          <a:p>
            <a:r>
              <a:rPr lang="en-IN" sz="3200" b="1" dirty="0">
                <a:latin typeface="Gill Sans" panose="020B0604020202020204" charset="0"/>
                <a:cs typeface="Gill Sans" panose="020B0604020202020204" charset="0"/>
              </a:rPr>
              <a:t>GPIO Port and Pin:</a:t>
            </a: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GPIO port is a collection of fixed number of I/O pins (i.e., in STM32 </a:t>
            </a:r>
            <a:r>
              <a:rPr lang="en-IN" sz="3200" dirty="0" err="1">
                <a:latin typeface="Gill Sans" panose="020B0604020202020204" charset="0"/>
                <a:cs typeface="Gill Sans" panose="020B0604020202020204" charset="0"/>
              </a:rPr>
              <a:t>Nucleo</a:t>
            </a:r>
            <a:r>
              <a:rPr lang="en-IN" sz="3200" dirty="0">
                <a:latin typeface="Gill Sans" panose="020B0604020202020204" charset="0"/>
                <a:cs typeface="Gill Sans" panose="020B0604020202020204" charset="0"/>
              </a:rPr>
              <a:t> board there are 16 pins in each port)</a:t>
            </a:r>
          </a:p>
          <a:p>
            <a:pPr marL="457189" indent="-457189">
              <a:buFont typeface="Arial" panose="020B0604020202020204" pitchFamily="34" charset="0"/>
              <a:buChar char="•"/>
            </a:pPr>
            <a:endParaRPr lang="en-IN" sz="3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Each pin represented by the  corresponding bit of the GPIO port registers </a:t>
            </a:r>
            <a:endParaRPr lang="en-US" sz="3200" dirty="0">
              <a:latin typeface="Gill Sans" panose="020B0604020202020204" charset="0"/>
              <a:cs typeface="Gill Sans" panose="020B0604020202020204" charset="0"/>
            </a:endParaRPr>
          </a:p>
        </p:txBody>
      </p:sp>
      <p:sp>
        <p:nvSpPr>
          <p:cNvPr id="3" name="TextBox 2">
            <a:extLst>
              <a:ext uri="{FF2B5EF4-FFF2-40B4-BE49-F238E27FC236}">
                <a16:creationId xmlns:a16="http://schemas.microsoft.com/office/drawing/2014/main" id="{E7F8AF2F-5DD2-4A3C-9199-08987D22A739}"/>
              </a:ext>
            </a:extLst>
          </p:cNvPr>
          <p:cNvSpPr txBox="1"/>
          <p:nvPr/>
        </p:nvSpPr>
        <p:spPr>
          <a:xfrm>
            <a:off x="694657" y="337679"/>
            <a:ext cx="10547497" cy="748988"/>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General Purpose Input Output (GPIO)</a:t>
            </a:r>
            <a:endParaRPr lang="en-US" sz="4267" b="1" dirty="0">
              <a:latin typeface="Helvetica Neue" panose="020B0604020202020204" charset="0"/>
              <a:cs typeface="Helvetica Neue" panose="020B0604020202020204" charset="0"/>
            </a:endParaRPr>
          </a:p>
        </p:txBody>
      </p:sp>
      <p:sp>
        <p:nvSpPr>
          <p:cNvPr id="5" name="Rectangle 4">
            <a:extLst>
              <a:ext uri="{FF2B5EF4-FFF2-40B4-BE49-F238E27FC236}">
                <a16:creationId xmlns:a16="http://schemas.microsoft.com/office/drawing/2014/main" id="{D31D4751-A304-46A2-B3D8-50E09FDA6B40}"/>
              </a:ext>
            </a:extLst>
          </p:cNvPr>
          <p:cNvSpPr/>
          <p:nvPr/>
        </p:nvSpPr>
        <p:spPr>
          <a:xfrm>
            <a:off x="7953155" y="1587794"/>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9B728A99-4664-42EF-A66E-EDCA7D97C97F}"/>
              </a:ext>
            </a:extLst>
          </p:cNvPr>
          <p:cNvSpPr/>
          <p:nvPr/>
        </p:nvSpPr>
        <p:spPr>
          <a:xfrm>
            <a:off x="8411541" y="1606694"/>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41573A3B-4158-4424-844D-4D267890B267}"/>
              </a:ext>
            </a:extLst>
          </p:cNvPr>
          <p:cNvSpPr/>
          <p:nvPr/>
        </p:nvSpPr>
        <p:spPr>
          <a:xfrm>
            <a:off x="8865194" y="1606697"/>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B0B5AFE3-5B21-4CA1-8B3C-A0FB50283178}"/>
              </a:ext>
            </a:extLst>
          </p:cNvPr>
          <p:cNvSpPr/>
          <p:nvPr/>
        </p:nvSpPr>
        <p:spPr>
          <a:xfrm>
            <a:off x="9337757" y="1597242"/>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8B1ECEE5-67F4-4DD3-BF00-0FD3088FE43D}"/>
              </a:ext>
            </a:extLst>
          </p:cNvPr>
          <p:cNvSpPr/>
          <p:nvPr/>
        </p:nvSpPr>
        <p:spPr>
          <a:xfrm>
            <a:off x="9843381" y="1606702"/>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8C921CC1-CF81-48C9-A0BC-9457AD3F25CA}"/>
              </a:ext>
            </a:extLst>
          </p:cNvPr>
          <p:cNvSpPr/>
          <p:nvPr/>
        </p:nvSpPr>
        <p:spPr>
          <a:xfrm>
            <a:off x="10273406" y="1568893"/>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29BC4A2C-75E2-4967-984B-DD7ECFB49E3F}"/>
              </a:ext>
            </a:extLst>
          </p:cNvPr>
          <p:cNvSpPr/>
          <p:nvPr/>
        </p:nvSpPr>
        <p:spPr>
          <a:xfrm>
            <a:off x="10712879" y="1583073"/>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3519FC38-3D06-4555-9C11-C39FD2F9060C}"/>
              </a:ext>
            </a:extLst>
          </p:cNvPr>
          <p:cNvSpPr/>
          <p:nvPr/>
        </p:nvSpPr>
        <p:spPr>
          <a:xfrm>
            <a:off x="11142913" y="1587795"/>
            <a:ext cx="85060" cy="14460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Rectangle: Rounded Corners 3">
            <a:extLst>
              <a:ext uri="{FF2B5EF4-FFF2-40B4-BE49-F238E27FC236}">
                <a16:creationId xmlns:a16="http://schemas.microsoft.com/office/drawing/2014/main" id="{4230354B-BD22-47C9-9271-5945E1C3F0AB}"/>
              </a:ext>
            </a:extLst>
          </p:cNvPr>
          <p:cNvSpPr/>
          <p:nvPr/>
        </p:nvSpPr>
        <p:spPr>
          <a:xfrm>
            <a:off x="7797210" y="2140686"/>
            <a:ext cx="3700135" cy="3260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GPIO Port A</a:t>
            </a:r>
            <a:endParaRPr lang="en-US" sz="2400" dirty="0"/>
          </a:p>
        </p:txBody>
      </p:sp>
      <p:graphicFrame>
        <p:nvGraphicFramePr>
          <p:cNvPr id="13" name="Table 13">
            <a:extLst>
              <a:ext uri="{FF2B5EF4-FFF2-40B4-BE49-F238E27FC236}">
                <a16:creationId xmlns:a16="http://schemas.microsoft.com/office/drawing/2014/main" id="{1C0937A9-18DB-4099-9A18-180841E966B4}"/>
              </a:ext>
            </a:extLst>
          </p:cNvPr>
          <p:cNvGraphicFramePr>
            <a:graphicFrameLocks noGrp="1"/>
          </p:cNvGraphicFramePr>
          <p:nvPr/>
        </p:nvGraphicFramePr>
        <p:xfrm>
          <a:off x="7797207" y="3033818"/>
          <a:ext cx="3610344" cy="497489"/>
        </p:xfrm>
        <a:graphic>
          <a:graphicData uri="http://schemas.openxmlformats.org/drawingml/2006/table">
            <a:tbl>
              <a:tblPr firstRow="1" bandRow="1">
                <a:tableStyleId>{616DA210-FB5B-4158-B5E0-FEB733F419BA}</a:tableStyleId>
              </a:tblPr>
              <a:tblGrid>
                <a:gridCol w="451293">
                  <a:extLst>
                    <a:ext uri="{9D8B030D-6E8A-4147-A177-3AD203B41FA5}">
                      <a16:colId xmlns:a16="http://schemas.microsoft.com/office/drawing/2014/main" val="1234441071"/>
                    </a:ext>
                  </a:extLst>
                </a:gridCol>
                <a:gridCol w="451293">
                  <a:extLst>
                    <a:ext uri="{9D8B030D-6E8A-4147-A177-3AD203B41FA5}">
                      <a16:colId xmlns:a16="http://schemas.microsoft.com/office/drawing/2014/main" val="3982439699"/>
                    </a:ext>
                  </a:extLst>
                </a:gridCol>
                <a:gridCol w="451293">
                  <a:extLst>
                    <a:ext uri="{9D8B030D-6E8A-4147-A177-3AD203B41FA5}">
                      <a16:colId xmlns:a16="http://schemas.microsoft.com/office/drawing/2014/main" val="3404779382"/>
                    </a:ext>
                  </a:extLst>
                </a:gridCol>
                <a:gridCol w="451293">
                  <a:extLst>
                    <a:ext uri="{9D8B030D-6E8A-4147-A177-3AD203B41FA5}">
                      <a16:colId xmlns:a16="http://schemas.microsoft.com/office/drawing/2014/main" val="6556170"/>
                    </a:ext>
                  </a:extLst>
                </a:gridCol>
                <a:gridCol w="451293">
                  <a:extLst>
                    <a:ext uri="{9D8B030D-6E8A-4147-A177-3AD203B41FA5}">
                      <a16:colId xmlns:a16="http://schemas.microsoft.com/office/drawing/2014/main" val="1147400020"/>
                    </a:ext>
                  </a:extLst>
                </a:gridCol>
                <a:gridCol w="451293">
                  <a:extLst>
                    <a:ext uri="{9D8B030D-6E8A-4147-A177-3AD203B41FA5}">
                      <a16:colId xmlns:a16="http://schemas.microsoft.com/office/drawing/2014/main" val="303678166"/>
                    </a:ext>
                  </a:extLst>
                </a:gridCol>
                <a:gridCol w="451293">
                  <a:extLst>
                    <a:ext uri="{9D8B030D-6E8A-4147-A177-3AD203B41FA5}">
                      <a16:colId xmlns:a16="http://schemas.microsoft.com/office/drawing/2014/main" val="4209420238"/>
                    </a:ext>
                  </a:extLst>
                </a:gridCol>
                <a:gridCol w="451293">
                  <a:extLst>
                    <a:ext uri="{9D8B030D-6E8A-4147-A177-3AD203B41FA5}">
                      <a16:colId xmlns:a16="http://schemas.microsoft.com/office/drawing/2014/main" val="4240094993"/>
                    </a:ext>
                  </a:extLst>
                </a:gridCol>
              </a:tblGrid>
              <a:tr h="497489">
                <a:tc>
                  <a:txBody>
                    <a:bodyPr/>
                    <a:lstStyle/>
                    <a:p>
                      <a:pPr algn="ctr"/>
                      <a:r>
                        <a:rPr lang="en-IN" sz="1100" dirty="0"/>
                        <a:t>PA 0</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 1</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 2</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PA3</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PA4</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PA5</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PA6</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PA7</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866935815"/>
                  </a:ext>
                </a:extLst>
              </a:tr>
            </a:tbl>
          </a:graphicData>
        </a:graphic>
      </p:graphicFrame>
      <p:graphicFrame>
        <p:nvGraphicFramePr>
          <p:cNvPr id="15" name="Table 13">
            <a:extLst>
              <a:ext uri="{FF2B5EF4-FFF2-40B4-BE49-F238E27FC236}">
                <a16:creationId xmlns:a16="http://schemas.microsoft.com/office/drawing/2014/main" id="{981F3B6E-D8DE-4A8B-A705-439C77A42A5E}"/>
              </a:ext>
            </a:extLst>
          </p:cNvPr>
          <p:cNvGraphicFramePr>
            <a:graphicFrameLocks noGrp="1"/>
          </p:cNvGraphicFramePr>
          <p:nvPr/>
        </p:nvGraphicFramePr>
        <p:xfrm>
          <a:off x="7759400" y="1153044"/>
          <a:ext cx="3610344" cy="497489"/>
        </p:xfrm>
        <a:graphic>
          <a:graphicData uri="http://schemas.openxmlformats.org/drawingml/2006/table">
            <a:tbl>
              <a:tblPr firstRow="1" bandRow="1">
                <a:tableStyleId>{616DA210-FB5B-4158-B5E0-FEB733F419BA}</a:tableStyleId>
              </a:tblPr>
              <a:tblGrid>
                <a:gridCol w="451293">
                  <a:extLst>
                    <a:ext uri="{9D8B030D-6E8A-4147-A177-3AD203B41FA5}">
                      <a16:colId xmlns:a16="http://schemas.microsoft.com/office/drawing/2014/main" val="1234441071"/>
                    </a:ext>
                  </a:extLst>
                </a:gridCol>
                <a:gridCol w="451293">
                  <a:extLst>
                    <a:ext uri="{9D8B030D-6E8A-4147-A177-3AD203B41FA5}">
                      <a16:colId xmlns:a16="http://schemas.microsoft.com/office/drawing/2014/main" val="3982439699"/>
                    </a:ext>
                  </a:extLst>
                </a:gridCol>
                <a:gridCol w="451293">
                  <a:extLst>
                    <a:ext uri="{9D8B030D-6E8A-4147-A177-3AD203B41FA5}">
                      <a16:colId xmlns:a16="http://schemas.microsoft.com/office/drawing/2014/main" val="3404779382"/>
                    </a:ext>
                  </a:extLst>
                </a:gridCol>
                <a:gridCol w="451293">
                  <a:extLst>
                    <a:ext uri="{9D8B030D-6E8A-4147-A177-3AD203B41FA5}">
                      <a16:colId xmlns:a16="http://schemas.microsoft.com/office/drawing/2014/main" val="6556170"/>
                    </a:ext>
                  </a:extLst>
                </a:gridCol>
                <a:gridCol w="451293">
                  <a:extLst>
                    <a:ext uri="{9D8B030D-6E8A-4147-A177-3AD203B41FA5}">
                      <a16:colId xmlns:a16="http://schemas.microsoft.com/office/drawing/2014/main" val="1147400020"/>
                    </a:ext>
                  </a:extLst>
                </a:gridCol>
                <a:gridCol w="451293">
                  <a:extLst>
                    <a:ext uri="{9D8B030D-6E8A-4147-A177-3AD203B41FA5}">
                      <a16:colId xmlns:a16="http://schemas.microsoft.com/office/drawing/2014/main" val="303678166"/>
                    </a:ext>
                  </a:extLst>
                </a:gridCol>
                <a:gridCol w="451293">
                  <a:extLst>
                    <a:ext uri="{9D8B030D-6E8A-4147-A177-3AD203B41FA5}">
                      <a16:colId xmlns:a16="http://schemas.microsoft.com/office/drawing/2014/main" val="4209420238"/>
                    </a:ext>
                  </a:extLst>
                </a:gridCol>
                <a:gridCol w="451293">
                  <a:extLst>
                    <a:ext uri="{9D8B030D-6E8A-4147-A177-3AD203B41FA5}">
                      <a16:colId xmlns:a16="http://schemas.microsoft.com/office/drawing/2014/main" val="4240094993"/>
                    </a:ext>
                  </a:extLst>
                </a:gridCol>
              </a:tblGrid>
              <a:tr h="497489">
                <a:tc>
                  <a:txBody>
                    <a:bodyPr/>
                    <a:lstStyle/>
                    <a:p>
                      <a:pPr algn="ctr"/>
                      <a:r>
                        <a:rPr lang="en-IN" sz="1100" dirty="0"/>
                        <a:t>PA 8</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 9</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 10</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  11</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PA12</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PA13</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PA14</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IN" sz="1100" dirty="0"/>
                        <a:t>PA15</a:t>
                      </a:r>
                      <a:endParaRPr lang="en-US" sz="1100" dirty="0"/>
                    </a:p>
                  </a:txBody>
                  <a:tcPr marL="121920" marR="121920" marT="60960" marB="60960">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866935815"/>
                  </a:ext>
                </a:extLst>
              </a:tr>
            </a:tbl>
          </a:graphicData>
        </a:graphic>
      </p:graphicFrame>
      <p:pic>
        <p:nvPicPr>
          <p:cNvPr id="16" name="Picture 15">
            <a:extLst>
              <a:ext uri="{FF2B5EF4-FFF2-40B4-BE49-F238E27FC236}">
                <a16:creationId xmlns:a16="http://schemas.microsoft.com/office/drawing/2014/main" id="{44F7E6A4-B302-4C20-BC66-ABA5625F9B8D}"/>
              </a:ext>
            </a:extLst>
          </p:cNvPr>
          <p:cNvPicPr>
            <a:picLocks noChangeAspect="1"/>
          </p:cNvPicPr>
          <p:nvPr/>
        </p:nvPicPr>
        <p:blipFill>
          <a:blip r:embed="rId3"/>
          <a:stretch>
            <a:fillRect/>
          </a:stretch>
        </p:blipFill>
        <p:spPr>
          <a:xfrm>
            <a:off x="8059487" y="3440031"/>
            <a:ext cx="3310260" cy="3389276"/>
          </a:xfrm>
          <a:prstGeom prst="rect">
            <a:avLst/>
          </a:prstGeom>
        </p:spPr>
      </p:pic>
    </p:spTree>
    <p:extLst>
      <p:ext uri="{BB962C8B-B14F-4D97-AF65-F5344CB8AC3E}">
        <p14:creationId xmlns:p14="http://schemas.microsoft.com/office/powerpoint/2010/main" val="319576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63C9323-606F-4CD8-8FE4-AA422D2F743F}"/>
              </a:ext>
            </a:extLst>
          </p:cNvPr>
          <p:cNvSpPr txBox="1"/>
          <p:nvPr/>
        </p:nvSpPr>
        <p:spPr>
          <a:xfrm>
            <a:off x="708834" y="453657"/>
            <a:ext cx="10547497" cy="748988"/>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GPIO Input &amp; Output Mode</a:t>
            </a:r>
            <a:endParaRPr lang="en-US" sz="4267" b="1" dirty="0">
              <a:latin typeface="Helvetica Neue" panose="020B0604020202020204" charset="0"/>
              <a:cs typeface="Helvetica Neue" panose="020B0604020202020204" charset="0"/>
            </a:endParaRPr>
          </a:p>
        </p:txBody>
      </p:sp>
      <p:sp>
        <p:nvSpPr>
          <p:cNvPr id="10" name="TextBox 9">
            <a:extLst>
              <a:ext uri="{FF2B5EF4-FFF2-40B4-BE49-F238E27FC236}">
                <a16:creationId xmlns:a16="http://schemas.microsoft.com/office/drawing/2014/main" id="{2E0EC3B5-946A-4C9C-B802-9351726F1EC7}"/>
              </a:ext>
            </a:extLst>
          </p:cNvPr>
          <p:cNvSpPr txBox="1"/>
          <p:nvPr/>
        </p:nvSpPr>
        <p:spPr>
          <a:xfrm>
            <a:off x="1587797" y="5897521"/>
            <a:ext cx="4737847" cy="502766"/>
          </a:xfrm>
          <a:prstGeom prst="rect">
            <a:avLst/>
          </a:prstGeom>
          <a:noFill/>
        </p:spPr>
        <p:txBody>
          <a:bodyPr wrap="square" rtlCol="0">
            <a:spAutoFit/>
          </a:bodyPr>
          <a:lstStyle/>
          <a:p>
            <a:pPr algn="ctr"/>
            <a:r>
              <a:rPr lang="en-IN" sz="2667" b="1" dirty="0">
                <a:latin typeface="Gill Sans" panose="020B0604020202020204" charset="0"/>
                <a:cs typeface="Gill Sans" panose="020B0604020202020204" charset="0"/>
              </a:rPr>
              <a:t>Output Buffer</a:t>
            </a:r>
            <a:endParaRPr lang="en-US" sz="2667" b="1" dirty="0">
              <a:latin typeface="Gill Sans" panose="020B0604020202020204" charset="0"/>
              <a:cs typeface="Gill Sans" panose="020B0604020202020204" charset="0"/>
            </a:endParaRPr>
          </a:p>
        </p:txBody>
      </p:sp>
      <p:sp>
        <p:nvSpPr>
          <p:cNvPr id="12" name="TextBox 11">
            <a:extLst>
              <a:ext uri="{FF2B5EF4-FFF2-40B4-BE49-F238E27FC236}">
                <a16:creationId xmlns:a16="http://schemas.microsoft.com/office/drawing/2014/main" id="{88928CE0-3035-497C-9B64-870100B7C37E}"/>
              </a:ext>
            </a:extLst>
          </p:cNvPr>
          <p:cNvSpPr txBox="1"/>
          <p:nvPr/>
        </p:nvSpPr>
        <p:spPr>
          <a:xfrm>
            <a:off x="5267085" y="5831369"/>
            <a:ext cx="4737847" cy="502766"/>
          </a:xfrm>
          <a:prstGeom prst="rect">
            <a:avLst/>
          </a:prstGeom>
          <a:noFill/>
        </p:spPr>
        <p:txBody>
          <a:bodyPr wrap="square" rtlCol="0">
            <a:spAutoFit/>
          </a:bodyPr>
          <a:lstStyle/>
          <a:p>
            <a:pPr algn="ctr"/>
            <a:r>
              <a:rPr lang="en-IN" sz="2667" b="1" dirty="0">
                <a:latin typeface="Gill Sans" panose="020B0604020202020204" charset="0"/>
                <a:cs typeface="Gill Sans" panose="020B0604020202020204" charset="0"/>
              </a:rPr>
              <a:t>Input Buffer</a:t>
            </a:r>
            <a:endParaRPr lang="en-US" sz="2667" b="1" dirty="0">
              <a:latin typeface="Gill Sans" panose="020B0604020202020204" charset="0"/>
              <a:cs typeface="Gill Sans" panose="020B0604020202020204" charset="0"/>
            </a:endParaRPr>
          </a:p>
        </p:txBody>
      </p:sp>
      <p:sp>
        <p:nvSpPr>
          <p:cNvPr id="13" name="Rectangle 12">
            <a:extLst>
              <a:ext uri="{FF2B5EF4-FFF2-40B4-BE49-F238E27FC236}">
                <a16:creationId xmlns:a16="http://schemas.microsoft.com/office/drawing/2014/main" id="{C6EBC4B4-3086-4070-8A2E-19F37A228803}"/>
              </a:ext>
            </a:extLst>
          </p:cNvPr>
          <p:cNvSpPr/>
          <p:nvPr/>
        </p:nvSpPr>
        <p:spPr>
          <a:xfrm>
            <a:off x="6143269" y="1675951"/>
            <a:ext cx="125508" cy="39370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Isosceles Triangle 10">
            <a:extLst>
              <a:ext uri="{FF2B5EF4-FFF2-40B4-BE49-F238E27FC236}">
                <a16:creationId xmlns:a16="http://schemas.microsoft.com/office/drawing/2014/main" id="{DEFA8E49-7A81-40FA-9E38-08C20AE026A2}"/>
              </a:ext>
            </a:extLst>
          </p:cNvPr>
          <p:cNvSpPr/>
          <p:nvPr/>
        </p:nvSpPr>
        <p:spPr>
          <a:xfrm rot="5562177">
            <a:off x="1296249" y="3552819"/>
            <a:ext cx="269357" cy="3118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14" name="Straight Connector 13">
            <a:extLst>
              <a:ext uri="{FF2B5EF4-FFF2-40B4-BE49-F238E27FC236}">
                <a16:creationId xmlns:a16="http://schemas.microsoft.com/office/drawing/2014/main" id="{25286719-FDD1-4D77-A0A6-3FE6EFB611F7}"/>
              </a:ext>
            </a:extLst>
          </p:cNvPr>
          <p:cNvCxnSpPr>
            <a:cxnSpLocks/>
            <a:endCxn id="11" idx="3"/>
          </p:cNvCxnSpPr>
          <p:nvPr/>
        </p:nvCxnSpPr>
        <p:spPr>
          <a:xfrm>
            <a:off x="800063" y="3684111"/>
            <a:ext cx="475095" cy="17300"/>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FB15569B-9CDD-4A9C-870C-E4066D2901CA}"/>
              </a:ext>
            </a:extLst>
          </p:cNvPr>
          <p:cNvSpPr/>
          <p:nvPr/>
        </p:nvSpPr>
        <p:spPr>
          <a:xfrm>
            <a:off x="1578874" y="3623590"/>
            <a:ext cx="150849" cy="1781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16" name="Straight Connector 15">
            <a:extLst>
              <a:ext uri="{FF2B5EF4-FFF2-40B4-BE49-F238E27FC236}">
                <a16:creationId xmlns:a16="http://schemas.microsoft.com/office/drawing/2014/main" id="{27698260-2FF8-46A4-9AC0-2F6DF325D43A}"/>
              </a:ext>
            </a:extLst>
          </p:cNvPr>
          <p:cNvCxnSpPr>
            <a:cxnSpLocks/>
          </p:cNvCxnSpPr>
          <p:nvPr/>
        </p:nvCxnSpPr>
        <p:spPr>
          <a:xfrm>
            <a:off x="1729723" y="3712685"/>
            <a:ext cx="7715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A89D93-802C-41C6-9F23-86DB73EECE0E}"/>
              </a:ext>
            </a:extLst>
          </p:cNvPr>
          <p:cNvCxnSpPr>
            <a:cxnSpLocks/>
          </p:cNvCxnSpPr>
          <p:nvPr/>
        </p:nvCxnSpPr>
        <p:spPr>
          <a:xfrm>
            <a:off x="2501270" y="3056632"/>
            <a:ext cx="0" cy="1364647"/>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EB713E7-A935-45D9-AB31-69CCF6EB8F04}"/>
              </a:ext>
            </a:extLst>
          </p:cNvPr>
          <p:cNvCxnSpPr>
            <a:cxnSpLocks/>
          </p:cNvCxnSpPr>
          <p:nvPr/>
        </p:nvCxnSpPr>
        <p:spPr>
          <a:xfrm>
            <a:off x="2501272" y="3056631"/>
            <a:ext cx="5812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ABD0AA5-E2E2-4C14-AB47-11099E45B54F}"/>
              </a:ext>
            </a:extLst>
          </p:cNvPr>
          <p:cNvCxnSpPr>
            <a:cxnSpLocks/>
          </p:cNvCxnSpPr>
          <p:nvPr/>
        </p:nvCxnSpPr>
        <p:spPr>
          <a:xfrm>
            <a:off x="2491823" y="4408147"/>
            <a:ext cx="581247"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A3A54EA6-3C18-4CC5-80AE-6D31033DC450}"/>
              </a:ext>
            </a:extLst>
          </p:cNvPr>
          <p:cNvSpPr/>
          <p:nvPr/>
        </p:nvSpPr>
        <p:spPr>
          <a:xfrm>
            <a:off x="3073070" y="2971575"/>
            <a:ext cx="60959" cy="17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21" name="Straight Connector 20">
            <a:extLst>
              <a:ext uri="{FF2B5EF4-FFF2-40B4-BE49-F238E27FC236}">
                <a16:creationId xmlns:a16="http://schemas.microsoft.com/office/drawing/2014/main" id="{606843FD-3CA4-4D64-8FBE-88E54DBD0302}"/>
              </a:ext>
            </a:extLst>
          </p:cNvPr>
          <p:cNvCxnSpPr>
            <a:cxnSpLocks/>
          </p:cNvCxnSpPr>
          <p:nvPr/>
        </p:nvCxnSpPr>
        <p:spPr>
          <a:xfrm>
            <a:off x="3134028" y="2843981"/>
            <a:ext cx="0" cy="415843"/>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F4CF29F-B293-4A04-BBBF-28682173FB1B}"/>
              </a:ext>
            </a:extLst>
          </p:cNvPr>
          <p:cNvCxnSpPr>
            <a:cxnSpLocks/>
          </p:cNvCxnSpPr>
          <p:nvPr/>
        </p:nvCxnSpPr>
        <p:spPr>
          <a:xfrm>
            <a:off x="3082044" y="4190794"/>
            <a:ext cx="0" cy="3874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F333462-AC30-4F87-B2C9-A94CF0DBA9D1}"/>
              </a:ext>
            </a:extLst>
          </p:cNvPr>
          <p:cNvCxnSpPr>
            <a:cxnSpLocks/>
          </p:cNvCxnSpPr>
          <p:nvPr/>
        </p:nvCxnSpPr>
        <p:spPr>
          <a:xfrm>
            <a:off x="3337228" y="2702211"/>
            <a:ext cx="0" cy="6284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9A9F988-781D-4E50-943C-8C3FB1C186D6}"/>
              </a:ext>
            </a:extLst>
          </p:cNvPr>
          <p:cNvCxnSpPr>
            <a:cxnSpLocks/>
          </p:cNvCxnSpPr>
          <p:nvPr/>
        </p:nvCxnSpPr>
        <p:spPr>
          <a:xfrm>
            <a:off x="3285244" y="4077359"/>
            <a:ext cx="0" cy="61904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614F014-5CD8-4EF1-B997-C5A121DED7A8}"/>
              </a:ext>
            </a:extLst>
          </p:cNvPr>
          <p:cNvCxnSpPr>
            <a:cxnSpLocks/>
          </p:cNvCxnSpPr>
          <p:nvPr/>
        </p:nvCxnSpPr>
        <p:spPr>
          <a:xfrm>
            <a:off x="3337229" y="2834522"/>
            <a:ext cx="4966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68FA4C4-C84D-4703-BC33-CDC478C6BBCA}"/>
              </a:ext>
            </a:extLst>
          </p:cNvPr>
          <p:cNvCxnSpPr>
            <a:cxnSpLocks/>
          </p:cNvCxnSpPr>
          <p:nvPr/>
        </p:nvCxnSpPr>
        <p:spPr>
          <a:xfrm>
            <a:off x="3341951" y="3222022"/>
            <a:ext cx="49193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287BCD7-E939-4AD4-9416-C423F1CE6A0F}"/>
              </a:ext>
            </a:extLst>
          </p:cNvPr>
          <p:cNvCxnSpPr>
            <a:cxnSpLocks/>
          </p:cNvCxnSpPr>
          <p:nvPr/>
        </p:nvCxnSpPr>
        <p:spPr>
          <a:xfrm>
            <a:off x="3285245" y="4171866"/>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4C28206-3F29-4686-9514-58C6D266E381}"/>
              </a:ext>
            </a:extLst>
          </p:cNvPr>
          <p:cNvCxnSpPr>
            <a:cxnSpLocks/>
          </p:cNvCxnSpPr>
          <p:nvPr/>
        </p:nvCxnSpPr>
        <p:spPr>
          <a:xfrm>
            <a:off x="3261607" y="4559369"/>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FD3DD10-81C9-4E85-814C-742FC0CBD32E}"/>
              </a:ext>
            </a:extLst>
          </p:cNvPr>
          <p:cNvCxnSpPr>
            <a:cxnSpLocks/>
          </p:cNvCxnSpPr>
          <p:nvPr/>
        </p:nvCxnSpPr>
        <p:spPr>
          <a:xfrm>
            <a:off x="3833885" y="2206026"/>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E58AD56-AEEB-4255-96DC-9119059C7270}"/>
              </a:ext>
            </a:extLst>
          </p:cNvPr>
          <p:cNvCxnSpPr>
            <a:cxnSpLocks/>
          </p:cNvCxnSpPr>
          <p:nvPr/>
        </p:nvCxnSpPr>
        <p:spPr>
          <a:xfrm>
            <a:off x="3824430" y="3222022"/>
            <a:ext cx="0" cy="930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13B31BC-E1D2-4D6B-B914-E527B7319D68}"/>
              </a:ext>
            </a:extLst>
          </p:cNvPr>
          <p:cNvCxnSpPr>
            <a:cxnSpLocks/>
          </p:cNvCxnSpPr>
          <p:nvPr/>
        </p:nvCxnSpPr>
        <p:spPr>
          <a:xfrm>
            <a:off x="3829156" y="4540478"/>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B109441-0D9E-4E61-BDFF-32DE5FB00682}"/>
              </a:ext>
            </a:extLst>
          </p:cNvPr>
          <p:cNvCxnSpPr>
            <a:cxnSpLocks/>
          </p:cNvCxnSpPr>
          <p:nvPr/>
        </p:nvCxnSpPr>
        <p:spPr>
          <a:xfrm flipV="1">
            <a:off x="3592882" y="5178434"/>
            <a:ext cx="425303" cy="18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CDFE0BA-7262-44F3-9BCD-08454A43F658}"/>
              </a:ext>
            </a:extLst>
          </p:cNvPr>
          <p:cNvCxnSpPr>
            <a:cxnSpLocks/>
          </p:cNvCxnSpPr>
          <p:nvPr/>
        </p:nvCxnSpPr>
        <p:spPr>
          <a:xfrm>
            <a:off x="3725186" y="5277678"/>
            <a:ext cx="203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895E359-47A6-4108-9CAD-3950E97514EA}"/>
              </a:ext>
            </a:extLst>
          </p:cNvPr>
          <p:cNvCxnSpPr>
            <a:cxnSpLocks/>
          </p:cNvCxnSpPr>
          <p:nvPr/>
        </p:nvCxnSpPr>
        <p:spPr>
          <a:xfrm>
            <a:off x="3763006" y="5386351"/>
            <a:ext cx="137039"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B920081B-0ACC-4537-9104-20352E5AD552}"/>
              </a:ext>
            </a:extLst>
          </p:cNvPr>
          <p:cNvSpPr/>
          <p:nvPr/>
        </p:nvSpPr>
        <p:spPr>
          <a:xfrm>
            <a:off x="4840435" y="3623590"/>
            <a:ext cx="354415" cy="178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36" name="Straight Connector 35">
            <a:extLst>
              <a:ext uri="{FF2B5EF4-FFF2-40B4-BE49-F238E27FC236}">
                <a16:creationId xmlns:a16="http://schemas.microsoft.com/office/drawing/2014/main" id="{AD1AF6F1-5E59-4ADB-8C89-701D93168A7D}"/>
              </a:ext>
            </a:extLst>
          </p:cNvPr>
          <p:cNvCxnSpPr>
            <a:cxnSpLocks/>
            <a:endCxn id="35" idx="1"/>
          </p:cNvCxnSpPr>
          <p:nvPr/>
        </p:nvCxnSpPr>
        <p:spPr>
          <a:xfrm>
            <a:off x="3824431" y="3712685"/>
            <a:ext cx="1016004"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C26FB56-A491-41BF-8473-6C60C799B33C}"/>
              </a:ext>
            </a:extLst>
          </p:cNvPr>
          <p:cNvCxnSpPr>
            <a:cxnSpLocks/>
          </p:cNvCxnSpPr>
          <p:nvPr/>
        </p:nvCxnSpPr>
        <p:spPr>
          <a:xfrm>
            <a:off x="5190130" y="3703226"/>
            <a:ext cx="727737" cy="9459"/>
          </a:xfrm>
          <a:prstGeom prst="line">
            <a:avLst/>
          </a:prstGeom>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FFB94D39-D34E-44D6-9095-2FAA42F86E50}"/>
              </a:ext>
            </a:extLst>
          </p:cNvPr>
          <p:cNvSpPr/>
          <p:nvPr/>
        </p:nvSpPr>
        <p:spPr>
          <a:xfrm>
            <a:off x="5917866" y="3666123"/>
            <a:ext cx="151217" cy="89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39" name="TextBox 38">
            <a:extLst>
              <a:ext uri="{FF2B5EF4-FFF2-40B4-BE49-F238E27FC236}">
                <a16:creationId xmlns:a16="http://schemas.microsoft.com/office/drawing/2014/main" id="{A6D0D1CB-A6A7-47CF-A2F1-1D4977A2224F}"/>
              </a:ext>
            </a:extLst>
          </p:cNvPr>
          <p:cNvSpPr txBox="1"/>
          <p:nvPr/>
        </p:nvSpPr>
        <p:spPr>
          <a:xfrm>
            <a:off x="4117419" y="3450027"/>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Drain</a:t>
            </a:r>
            <a:endParaRPr lang="en-US" sz="1200" b="1" dirty="0">
              <a:latin typeface="Gill Sans" panose="020B0604020202020204" charset="0"/>
              <a:cs typeface="Gill Sans" panose="020B0604020202020204" charset="0"/>
            </a:endParaRPr>
          </a:p>
        </p:txBody>
      </p:sp>
      <p:sp>
        <p:nvSpPr>
          <p:cNvPr id="40" name="TextBox 39">
            <a:extLst>
              <a:ext uri="{FF2B5EF4-FFF2-40B4-BE49-F238E27FC236}">
                <a16:creationId xmlns:a16="http://schemas.microsoft.com/office/drawing/2014/main" id="{5826C353-739C-42FB-963A-221B074FB5FC}"/>
              </a:ext>
            </a:extLst>
          </p:cNvPr>
          <p:cNvSpPr txBox="1"/>
          <p:nvPr/>
        </p:nvSpPr>
        <p:spPr>
          <a:xfrm>
            <a:off x="3285244" y="4221989"/>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NMOS</a:t>
            </a:r>
            <a:endParaRPr lang="en-US" sz="1200" b="1" dirty="0">
              <a:latin typeface="Gill Sans" panose="020B0604020202020204" charset="0"/>
              <a:cs typeface="Gill Sans" panose="020B0604020202020204" charset="0"/>
            </a:endParaRPr>
          </a:p>
        </p:txBody>
      </p:sp>
      <p:sp>
        <p:nvSpPr>
          <p:cNvPr id="41" name="TextBox 40">
            <a:extLst>
              <a:ext uri="{FF2B5EF4-FFF2-40B4-BE49-F238E27FC236}">
                <a16:creationId xmlns:a16="http://schemas.microsoft.com/office/drawing/2014/main" id="{E002F3EF-1AB6-475E-B924-94C6B974A81D}"/>
              </a:ext>
            </a:extLst>
          </p:cNvPr>
          <p:cNvSpPr txBox="1"/>
          <p:nvPr/>
        </p:nvSpPr>
        <p:spPr>
          <a:xfrm>
            <a:off x="3837018" y="2401478"/>
            <a:ext cx="841151"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Source</a:t>
            </a:r>
            <a:endParaRPr lang="en-US" sz="1600" b="1" dirty="0">
              <a:latin typeface="Gill Sans" panose="020B0604020202020204" charset="0"/>
              <a:cs typeface="Gill Sans" panose="020B0604020202020204" charset="0"/>
            </a:endParaRPr>
          </a:p>
        </p:txBody>
      </p:sp>
      <p:sp>
        <p:nvSpPr>
          <p:cNvPr id="42" name="TextBox 41">
            <a:extLst>
              <a:ext uri="{FF2B5EF4-FFF2-40B4-BE49-F238E27FC236}">
                <a16:creationId xmlns:a16="http://schemas.microsoft.com/office/drawing/2014/main" id="{7A36B6DD-949D-49BB-A53C-E9132D6FF154}"/>
              </a:ext>
            </a:extLst>
          </p:cNvPr>
          <p:cNvSpPr txBox="1"/>
          <p:nvPr/>
        </p:nvSpPr>
        <p:spPr>
          <a:xfrm>
            <a:off x="3791350" y="4785543"/>
            <a:ext cx="1016001"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Source</a:t>
            </a:r>
            <a:endParaRPr lang="en-US" b="1" dirty="0">
              <a:latin typeface="Gill Sans" panose="020B0604020202020204" charset="0"/>
              <a:cs typeface="Gill Sans" panose="020B0604020202020204" charset="0"/>
            </a:endParaRPr>
          </a:p>
        </p:txBody>
      </p:sp>
      <p:sp>
        <p:nvSpPr>
          <p:cNvPr id="43" name="TextBox 42">
            <a:extLst>
              <a:ext uri="{FF2B5EF4-FFF2-40B4-BE49-F238E27FC236}">
                <a16:creationId xmlns:a16="http://schemas.microsoft.com/office/drawing/2014/main" id="{7F2A1C7A-7BDE-4AAA-BB1E-3D26089574EB}"/>
              </a:ext>
            </a:extLst>
          </p:cNvPr>
          <p:cNvSpPr txBox="1"/>
          <p:nvPr/>
        </p:nvSpPr>
        <p:spPr>
          <a:xfrm>
            <a:off x="3500725" y="2466910"/>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T1</a:t>
            </a:r>
            <a:endParaRPr lang="en-US" sz="1200" b="1" dirty="0">
              <a:latin typeface="Gill Sans" panose="020B0604020202020204" charset="0"/>
              <a:cs typeface="Gill Sans" panose="020B0604020202020204" charset="0"/>
            </a:endParaRPr>
          </a:p>
        </p:txBody>
      </p:sp>
      <p:sp>
        <p:nvSpPr>
          <p:cNvPr id="44" name="TextBox 43">
            <a:extLst>
              <a:ext uri="{FF2B5EF4-FFF2-40B4-BE49-F238E27FC236}">
                <a16:creationId xmlns:a16="http://schemas.microsoft.com/office/drawing/2014/main" id="{05FB7213-0F31-4EA0-82FD-9F074A6AE25F}"/>
              </a:ext>
            </a:extLst>
          </p:cNvPr>
          <p:cNvSpPr txBox="1"/>
          <p:nvPr/>
        </p:nvSpPr>
        <p:spPr>
          <a:xfrm>
            <a:off x="4774271" y="3300295"/>
            <a:ext cx="65212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45" name="TextBox 44">
            <a:extLst>
              <a:ext uri="{FF2B5EF4-FFF2-40B4-BE49-F238E27FC236}">
                <a16:creationId xmlns:a16="http://schemas.microsoft.com/office/drawing/2014/main" id="{B92DA3FF-DDBA-4A25-A9D9-15332E83C408}"/>
              </a:ext>
            </a:extLst>
          </p:cNvPr>
          <p:cNvSpPr txBox="1"/>
          <p:nvPr/>
        </p:nvSpPr>
        <p:spPr>
          <a:xfrm>
            <a:off x="3341951" y="2933758"/>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PMOS</a:t>
            </a:r>
            <a:endParaRPr lang="en-US" sz="1200" b="1" dirty="0">
              <a:latin typeface="Gill Sans" panose="020B0604020202020204" charset="0"/>
              <a:cs typeface="Gill Sans" panose="020B0604020202020204" charset="0"/>
            </a:endParaRPr>
          </a:p>
        </p:txBody>
      </p:sp>
      <p:sp>
        <p:nvSpPr>
          <p:cNvPr id="46" name="TextBox 45">
            <a:extLst>
              <a:ext uri="{FF2B5EF4-FFF2-40B4-BE49-F238E27FC236}">
                <a16:creationId xmlns:a16="http://schemas.microsoft.com/office/drawing/2014/main" id="{14C1F40A-E1B6-435A-B97F-26207FED71AD}"/>
              </a:ext>
            </a:extLst>
          </p:cNvPr>
          <p:cNvSpPr txBox="1"/>
          <p:nvPr/>
        </p:nvSpPr>
        <p:spPr>
          <a:xfrm>
            <a:off x="3438356" y="4578267"/>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T2</a:t>
            </a:r>
            <a:endParaRPr lang="en-US" sz="1200" b="1" dirty="0">
              <a:latin typeface="Gill Sans" panose="020B0604020202020204" charset="0"/>
              <a:cs typeface="Gill Sans" panose="020B0604020202020204" charset="0"/>
            </a:endParaRPr>
          </a:p>
        </p:txBody>
      </p:sp>
      <p:sp>
        <p:nvSpPr>
          <p:cNvPr id="47" name="TextBox 46">
            <a:extLst>
              <a:ext uri="{FF2B5EF4-FFF2-40B4-BE49-F238E27FC236}">
                <a16:creationId xmlns:a16="http://schemas.microsoft.com/office/drawing/2014/main" id="{363B7520-C896-4C41-AA2E-89B9CAF0B0B6}"/>
              </a:ext>
            </a:extLst>
          </p:cNvPr>
          <p:cNvSpPr txBox="1"/>
          <p:nvPr/>
        </p:nvSpPr>
        <p:spPr>
          <a:xfrm>
            <a:off x="2452739" y="4322436"/>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48" name="TextBox 47">
            <a:extLst>
              <a:ext uri="{FF2B5EF4-FFF2-40B4-BE49-F238E27FC236}">
                <a16:creationId xmlns:a16="http://schemas.microsoft.com/office/drawing/2014/main" id="{BBBC1332-925D-4E71-8F35-98613D5408C9}"/>
              </a:ext>
            </a:extLst>
          </p:cNvPr>
          <p:cNvSpPr txBox="1"/>
          <p:nvPr/>
        </p:nvSpPr>
        <p:spPr>
          <a:xfrm>
            <a:off x="2443285" y="2753527"/>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49" name="Oval 48">
            <a:extLst>
              <a:ext uri="{FF2B5EF4-FFF2-40B4-BE49-F238E27FC236}">
                <a16:creationId xmlns:a16="http://schemas.microsoft.com/office/drawing/2014/main" id="{5E85F81E-7A3F-4F39-B87C-EFCDB7DA2F41}"/>
              </a:ext>
            </a:extLst>
          </p:cNvPr>
          <p:cNvSpPr/>
          <p:nvPr/>
        </p:nvSpPr>
        <p:spPr>
          <a:xfrm>
            <a:off x="3739364" y="2050082"/>
            <a:ext cx="162092" cy="171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50" name="TextBox 49">
            <a:extLst>
              <a:ext uri="{FF2B5EF4-FFF2-40B4-BE49-F238E27FC236}">
                <a16:creationId xmlns:a16="http://schemas.microsoft.com/office/drawing/2014/main" id="{059D749F-01A6-47EE-A4E5-0D99A88A5278}"/>
              </a:ext>
            </a:extLst>
          </p:cNvPr>
          <p:cNvSpPr txBox="1"/>
          <p:nvPr/>
        </p:nvSpPr>
        <p:spPr>
          <a:xfrm>
            <a:off x="3431265" y="1768252"/>
            <a:ext cx="91298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+VCC</a:t>
            </a:r>
            <a:endParaRPr lang="en-US" sz="1600" b="1" dirty="0">
              <a:latin typeface="Gill Sans" panose="020B0604020202020204" charset="0"/>
              <a:cs typeface="Gill Sans" panose="020B0604020202020204" charset="0"/>
            </a:endParaRPr>
          </a:p>
        </p:txBody>
      </p:sp>
      <p:sp>
        <p:nvSpPr>
          <p:cNvPr id="51" name="TextBox 50">
            <a:extLst>
              <a:ext uri="{FF2B5EF4-FFF2-40B4-BE49-F238E27FC236}">
                <a16:creationId xmlns:a16="http://schemas.microsoft.com/office/drawing/2014/main" id="{78F10A3F-210A-4B38-BEE6-345304C9ED30}"/>
              </a:ext>
            </a:extLst>
          </p:cNvPr>
          <p:cNvSpPr txBox="1"/>
          <p:nvPr/>
        </p:nvSpPr>
        <p:spPr>
          <a:xfrm>
            <a:off x="3555062" y="5399874"/>
            <a:ext cx="70885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GND</a:t>
            </a:r>
            <a:endParaRPr lang="en-US" b="1" dirty="0">
              <a:latin typeface="Gill Sans" panose="020B0604020202020204" charset="0"/>
              <a:cs typeface="Gill Sans" panose="020B0604020202020204" charset="0"/>
            </a:endParaRPr>
          </a:p>
        </p:txBody>
      </p:sp>
      <p:sp>
        <p:nvSpPr>
          <p:cNvPr id="52" name="Isosceles Triangle 51">
            <a:extLst>
              <a:ext uri="{FF2B5EF4-FFF2-40B4-BE49-F238E27FC236}">
                <a16:creationId xmlns:a16="http://schemas.microsoft.com/office/drawing/2014/main" id="{0D8D1A76-EE4C-4734-A2DD-26E59CDA6247}"/>
              </a:ext>
            </a:extLst>
          </p:cNvPr>
          <p:cNvSpPr/>
          <p:nvPr/>
        </p:nvSpPr>
        <p:spPr>
          <a:xfrm rot="16024616">
            <a:off x="9703618" y="3674107"/>
            <a:ext cx="269357" cy="3118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53" name="Straight Connector 52">
            <a:extLst>
              <a:ext uri="{FF2B5EF4-FFF2-40B4-BE49-F238E27FC236}">
                <a16:creationId xmlns:a16="http://schemas.microsoft.com/office/drawing/2014/main" id="{74AE4E2A-D535-4CDF-9B6E-3BF5459017F1}"/>
              </a:ext>
            </a:extLst>
          </p:cNvPr>
          <p:cNvCxnSpPr>
            <a:cxnSpLocks/>
          </p:cNvCxnSpPr>
          <p:nvPr/>
        </p:nvCxnSpPr>
        <p:spPr>
          <a:xfrm>
            <a:off x="9987156" y="3819575"/>
            <a:ext cx="446987" cy="0"/>
          </a:xfrm>
          <a:prstGeom prst="line">
            <a:avLst/>
          </a:prstGeom>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5F8C455E-1F48-4850-B362-3810972BE9C5}"/>
              </a:ext>
            </a:extLst>
          </p:cNvPr>
          <p:cNvSpPr/>
          <p:nvPr/>
        </p:nvSpPr>
        <p:spPr>
          <a:xfrm>
            <a:off x="9524958" y="3716356"/>
            <a:ext cx="150849" cy="1781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55" name="Straight Connector 54">
            <a:extLst>
              <a:ext uri="{FF2B5EF4-FFF2-40B4-BE49-F238E27FC236}">
                <a16:creationId xmlns:a16="http://schemas.microsoft.com/office/drawing/2014/main" id="{0562623D-35B7-42CF-B5EB-7D403E9FF8C4}"/>
              </a:ext>
            </a:extLst>
          </p:cNvPr>
          <p:cNvCxnSpPr>
            <a:cxnSpLocks/>
          </p:cNvCxnSpPr>
          <p:nvPr/>
        </p:nvCxnSpPr>
        <p:spPr>
          <a:xfrm>
            <a:off x="8751324" y="3829071"/>
            <a:ext cx="7715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6975BF4-AEED-4A90-80C6-6ADD18A16183}"/>
              </a:ext>
            </a:extLst>
          </p:cNvPr>
          <p:cNvCxnSpPr>
            <a:cxnSpLocks/>
          </p:cNvCxnSpPr>
          <p:nvPr/>
        </p:nvCxnSpPr>
        <p:spPr>
          <a:xfrm>
            <a:off x="8746153" y="3149398"/>
            <a:ext cx="0" cy="136464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050B7DC-D0A2-492E-A1B3-470749D4E7F8}"/>
              </a:ext>
            </a:extLst>
          </p:cNvPr>
          <p:cNvCxnSpPr>
            <a:cxnSpLocks/>
          </p:cNvCxnSpPr>
          <p:nvPr/>
        </p:nvCxnSpPr>
        <p:spPr>
          <a:xfrm>
            <a:off x="8164906" y="3149397"/>
            <a:ext cx="5812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6357C0E0-541E-413B-88C6-23B0479F5CAA}"/>
              </a:ext>
            </a:extLst>
          </p:cNvPr>
          <p:cNvCxnSpPr>
            <a:cxnSpLocks/>
          </p:cNvCxnSpPr>
          <p:nvPr/>
        </p:nvCxnSpPr>
        <p:spPr>
          <a:xfrm>
            <a:off x="8155463" y="4500913"/>
            <a:ext cx="581247" cy="0"/>
          </a:xfrm>
          <a:prstGeom prst="line">
            <a:avLst/>
          </a:prstGeom>
        </p:spPr>
        <p:style>
          <a:lnRef idx="2">
            <a:schemeClr val="accent1"/>
          </a:lnRef>
          <a:fillRef idx="0">
            <a:schemeClr val="accent1"/>
          </a:fillRef>
          <a:effectRef idx="1">
            <a:schemeClr val="accent1"/>
          </a:effectRef>
          <a:fontRef idx="minor">
            <a:schemeClr val="tx1"/>
          </a:fontRef>
        </p:style>
      </p:cxnSp>
      <p:sp>
        <p:nvSpPr>
          <p:cNvPr id="59" name="Oval 58">
            <a:extLst>
              <a:ext uri="{FF2B5EF4-FFF2-40B4-BE49-F238E27FC236}">
                <a16:creationId xmlns:a16="http://schemas.microsoft.com/office/drawing/2014/main" id="{761938EA-E8BA-4993-929C-FB546FA42BF1}"/>
              </a:ext>
            </a:extLst>
          </p:cNvPr>
          <p:cNvSpPr/>
          <p:nvPr/>
        </p:nvSpPr>
        <p:spPr>
          <a:xfrm>
            <a:off x="8084569" y="3064341"/>
            <a:ext cx="60959" cy="17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60" name="Straight Connector 59">
            <a:extLst>
              <a:ext uri="{FF2B5EF4-FFF2-40B4-BE49-F238E27FC236}">
                <a16:creationId xmlns:a16="http://schemas.microsoft.com/office/drawing/2014/main" id="{A169B53A-FAF1-4C93-AD2F-9A6A35B6B768}"/>
              </a:ext>
            </a:extLst>
          </p:cNvPr>
          <p:cNvCxnSpPr>
            <a:cxnSpLocks/>
          </p:cNvCxnSpPr>
          <p:nvPr/>
        </p:nvCxnSpPr>
        <p:spPr>
          <a:xfrm>
            <a:off x="8074649" y="2936747"/>
            <a:ext cx="0" cy="415843"/>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1D60124F-72C2-4896-A24C-15ED7693568B}"/>
              </a:ext>
            </a:extLst>
          </p:cNvPr>
          <p:cNvCxnSpPr>
            <a:cxnSpLocks/>
          </p:cNvCxnSpPr>
          <p:nvPr/>
        </p:nvCxnSpPr>
        <p:spPr>
          <a:xfrm>
            <a:off x="8164429" y="4283560"/>
            <a:ext cx="0" cy="3874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7F1DD6F7-9DD9-4128-A0DA-6801E80CDED8}"/>
              </a:ext>
            </a:extLst>
          </p:cNvPr>
          <p:cNvCxnSpPr>
            <a:cxnSpLocks/>
          </p:cNvCxnSpPr>
          <p:nvPr/>
        </p:nvCxnSpPr>
        <p:spPr>
          <a:xfrm>
            <a:off x="7909228" y="2794977"/>
            <a:ext cx="0" cy="628499"/>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823B472-19CA-49DD-8552-F6A05828753C}"/>
              </a:ext>
            </a:extLst>
          </p:cNvPr>
          <p:cNvCxnSpPr>
            <a:cxnSpLocks/>
          </p:cNvCxnSpPr>
          <p:nvPr/>
        </p:nvCxnSpPr>
        <p:spPr>
          <a:xfrm>
            <a:off x="7984832" y="4170125"/>
            <a:ext cx="0" cy="619043"/>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A442F05A-7B47-48E4-A493-1A594B361F13}"/>
              </a:ext>
            </a:extLst>
          </p:cNvPr>
          <p:cNvCxnSpPr>
            <a:cxnSpLocks/>
          </p:cNvCxnSpPr>
          <p:nvPr/>
        </p:nvCxnSpPr>
        <p:spPr>
          <a:xfrm>
            <a:off x="7398872" y="2927288"/>
            <a:ext cx="4966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24716672-2BA7-480B-AC85-E03744D7DEB0}"/>
              </a:ext>
            </a:extLst>
          </p:cNvPr>
          <p:cNvCxnSpPr>
            <a:cxnSpLocks/>
          </p:cNvCxnSpPr>
          <p:nvPr/>
        </p:nvCxnSpPr>
        <p:spPr>
          <a:xfrm>
            <a:off x="7403597" y="3314788"/>
            <a:ext cx="49193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6157E762-F1F0-4999-B76D-0DDF369E943B}"/>
              </a:ext>
            </a:extLst>
          </p:cNvPr>
          <p:cNvCxnSpPr>
            <a:cxnSpLocks/>
          </p:cNvCxnSpPr>
          <p:nvPr/>
        </p:nvCxnSpPr>
        <p:spPr>
          <a:xfrm>
            <a:off x="7417777" y="4250455"/>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3B845CBE-54D8-4D0C-84DB-BD60E3E04A79}"/>
              </a:ext>
            </a:extLst>
          </p:cNvPr>
          <p:cNvCxnSpPr>
            <a:cxnSpLocks/>
          </p:cNvCxnSpPr>
          <p:nvPr/>
        </p:nvCxnSpPr>
        <p:spPr>
          <a:xfrm>
            <a:off x="7408312" y="4652135"/>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6FA78F09-125B-4AFB-A9BD-E1730928A669}"/>
              </a:ext>
            </a:extLst>
          </p:cNvPr>
          <p:cNvCxnSpPr>
            <a:cxnSpLocks/>
          </p:cNvCxnSpPr>
          <p:nvPr/>
        </p:nvCxnSpPr>
        <p:spPr>
          <a:xfrm>
            <a:off x="7427689" y="2298792"/>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171A3E50-AC3C-4319-AA72-1E163D92FBB1}"/>
              </a:ext>
            </a:extLst>
          </p:cNvPr>
          <p:cNvCxnSpPr>
            <a:cxnSpLocks/>
          </p:cNvCxnSpPr>
          <p:nvPr/>
        </p:nvCxnSpPr>
        <p:spPr>
          <a:xfrm>
            <a:off x="7418235" y="3314788"/>
            <a:ext cx="0" cy="930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A1B62EA-45B4-43CD-9B84-2AE900028125}"/>
              </a:ext>
            </a:extLst>
          </p:cNvPr>
          <p:cNvCxnSpPr>
            <a:cxnSpLocks/>
          </p:cNvCxnSpPr>
          <p:nvPr/>
        </p:nvCxnSpPr>
        <p:spPr>
          <a:xfrm>
            <a:off x="7422960" y="4633244"/>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1CF07EA9-C203-4813-8952-5FC11CFCDE93}"/>
              </a:ext>
            </a:extLst>
          </p:cNvPr>
          <p:cNvCxnSpPr>
            <a:cxnSpLocks/>
          </p:cNvCxnSpPr>
          <p:nvPr/>
        </p:nvCxnSpPr>
        <p:spPr>
          <a:xfrm flipV="1">
            <a:off x="7186686" y="5271200"/>
            <a:ext cx="425303" cy="18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C54F09-7367-4F67-AB32-5FA44E3822E8}"/>
              </a:ext>
            </a:extLst>
          </p:cNvPr>
          <p:cNvCxnSpPr>
            <a:cxnSpLocks/>
          </p:cNvCxnSpPr>
          <p:nvPr/>
        </p:nvCxnSpPr>
        <p:spPr>
          <a:xfrm>
            <a:off x="7318991" y="5370444"/>
            <a:ext cx="203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508AF536-AFCC-412E-AB0D-B2FCD931DF78}"/>
              </a:ext>
            </a:extLst>
          </p:cNvPr>
          <p:cNvCxnSpPr>
            <a:cxnSpLocks/>
          </p:cNvCxnSpPr>
          <p:nvPr/>
        </p:nvCxnSpPr>
        <p:spPr>
          <a:xfrm>
            <a:off x="7356810" y="5479117"/>
            <a:ext cx="137039" cy="0"/>
          </a:xfrm>
          <a:prstGeom prst="line">
            <a:avLst/>
          </a:prstGeom>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26B0FE1E-0C0F-4AA0-AB22-C8AA4A40468D}"/>
              </a:ext>
            </a:extLst>
          </p:cNvPr>
          <p:cNvSpPr/>
          <p:nvPr/>
        </p:nvSpPr>
        <p:spPr>
          <a:xfrm>
            <a:off x="10418993" y="3716358"/>
            <a:ext cx="354415" cy="178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75" name="Straight Connector 74">
            <a:extLst>
              <a:ext uri="{FF2B5EF4-FFF2-40B4-BE49-F238E27FC236}">
                <a16:creationId xmlns:a16="http://schemas.microsoft.com/office/drawing/2014/main" id="{36C3836C-6DD6-4AE0-B583-796BECC973B9}"/>
              </a:ext>
            </a:extLst>
          </p:cNvPr>
          <p:cNvCxnSpPr>
            <a:cxnSpLocks/>
          </p:cNvCxnSpPr>
          <p:nvPr/>
        </p:nvCxnSpPr>
        <p:spPr>
          <a:xfrm>
            <a:off x="10778144" y="3805449"/>
            <a:ext cx="363845"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A0B694EE-6BC2-46D1-B665-0F93B81A5330}"/>
              </a:ext>
            </a:extLst>
          </p:cNvPr>
          <p:cNvCxnSpPr>
            <a:cxnSpLocks/>
          </p:cNvCxnSpPr>
          <p:nvPr/>
        </p:nvCxnSpPr>
        <p:spPr>
          <a:xfrm>
            <a:off x="6714148" y="3795992"/>
            <a:ext cx="727737" cy="9459"/>
          </a:xfrm>
          <a:prstGeom prst="line">
            <a:avLst/>
          </a:prstGeom>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48648820-0B74-4A5B-9317-48442797A848}"/>
              </a:ext>
            </a:extLst>
          </p:cNvPr>
          <p:cNvSpPr/>
          <p:nvPr/>
        </p:nvSpPr>
        <p:spPr>
          <a:xfrm>
            <a:off x="11099493" y="3758891"/>
            <a:ext cx="151217" cy="89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78" name="TextBox 77">
            <a:extLst>
              <a:ext uri="{FF2B5EF4-FFF2-40B4-BE49-F238E27FC236}">
                <a16:creationId xmlns:a16="http://schemas.microsoft.com/office/drawing/2014/main" id="{502E45C0-6D27-4758-B43D-77F6693E788D}"/>
              </a:ext>
            </a:extLst>
          </p:cNvPr>
          <p:cNvSpPr txBox="1"/>
          <p:nvPr/>
        </p:nvSpPr>
        <p:spPr>
          <a:xfrm>
            <a:off x="6718877" y="3556965"/>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Drain</a:t>
            </a:r>
            <a:endParaRPr lang="en-US" sz="1200" b="1" dirty="0">
              <a:latin typeface="Gill Sans" panose="020B0604020202020204" charset="0"/>
              <a:cs typeface="Gill Sans" panose="020B0604020202020204" charset="0"/>
            </a:endParaRPr>
          </a:p>
        </p:txBody>
      </p:sp>
      <p:sp>
        <p:nvSpPr>
          <p:cNvPr id="79" name="TextBox 78">
            <a:extLst>
              <a:ext uri="{FF2B5EF4-FFF2-40B4-BE49-F238E27FC236}">
                <a16:creationId xmlns:a16="http://schemas.microsoft.com/office/drawing/2014/main" id="{2497960D-02C8-4722-9AF6-45322A54ABD3}"/>
              </a:ext>
            </a:extLst>
          </p:cNvPr>
          <p:cNvSpPr txBox="1"/>
          <p:nvPr/>
        </p:nvSpPr>
        <p:spPr>
          <a:xfrm>
            <a:off x="7291101" y="4298056"/>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NMOS</a:t>
            </a:r>
            <a:endParaRPr lang="en-US" sz="1200" b="1" dirty="0">
              <a:latin typeface="Gill Sans" panose="020B0604020202020204" charset="0"/>
              <a:cs typeface="Gill Sans" panose="020B0604020202020204" charset="0"/>
            </a:endParaRPr>
          </a:p>
        </p:txBody>
      </p:sp>
      <p:sp>
        <p:nvSpPr>
          <p:cNvPr id="80" name="TextBox 79">
            <a:extLst>
              <a:ext uri="{FF2B5EF4-FFF2-40B4-BE49-F238E27FC236}">
                <a16:creationId xmlns:a16="http://schemas.microsoft.com/office/drawing/2014/main" id="{2D12E9CB-438D-4E0C-B407-C66162EE102B}"/>
              </a:ext>
            </a:extLst>
          </p:cNvPr>
          <p:cNvSpPr txBox="1"/>
          <p:nvPr/>
        </p:nvSpPr>
        <p:spPr>
          <a:xfrm>
            <a:off x="7332237" y="2494244"/>
            <a:ext cx="841151"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Source</a:t>
            </a:r>
            <a:endParaRPr lang="en-US" sz="1600" b="1" dirty="0">
              <a:latin typeface="Gill Sans" panose="020B0604020202020204" charset="0"/>
              <a:cs typeface="Gill Sans" panose="020B0604020202020204" charset="0"/>
            </a:endParaRPr>
          </a:p>
        </p:txBody>
      </p:sp>
      <p:sp>
        <p:nvSpPr>
          <p:cNvPr id="81" name="TextBox 80">
            <a:extLst>
              <a:ext uri="{FF2B5EF4-FFF2-40B4-BE49-F238E27FC236}">
                <a16:creationId xmlns:a16="http://schemas.microsoft.com/office/drawing/2014/main" id="{6D1EA620-EB71-40D9-AB51-9F9EED234A45}"/>
              </a:ext>
            </a:extLst>
          </p:cNvPr>
          <p:cNvSpPr txBox="1"/>
          <p:nvPr/>
        </p:nvSpPr>
        <p:spPr>
          <a:xfrm>
            <a:off x="7342622" y="4878309"/>
            <a:ext cx="1016001"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Source</a:t>
            </a:r>
            <a:endParaRPr lang="en-US" b="1" dirty="0">
              <a:latin typeface="Gill Sans" panose="020B0604020202020204" charset="0"/>
              <a:cs typeface="Gill Sans" panose="020B0604020202020204" charset="0"/>
            </a:endParaRPr>
          </a:p>
        </p:txBody>
      </p:sp>
      <p:sp>
        <p:nvSpPr>
          <p:cNvPr id="82" name="TextBox 81">
            <a:extLst>
              <a:ext uri="{FF2B5EF4-FFF2-40B4-BE49-F238E27FC236}">
                <a16:creationId xmlns:a16="http://schemas.microsoft.com/office/drawing/2014/main" id="{54162C36-2808-4667-B9EC-FA8D6EA648E9}"/>
              </a:ext>
            </a:extLst>
          </p:cNvPr>
          <p:cNvSpPr txBox="1"/>
          <p:nvPr/>
        </p:nvSpPr>
        <p:spPr>
          <a:xfrm>
            <a:off x="7094529" y="2559676"/>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T1</a:t>
            </a:r>
            <a:endParaRPr lang="en-US" sz="1200" b="1" dirty="0">
              <a:latin typeface="Gill Sans" panose="020B0604020202020204" charset="0"/>
              <a:cs typeface="Gill Sans" panose="020B0604020202020204" charset="0"/>
            </a:endParaRPr>
          </a:p>
        </p:txBody>
      </p:sp>
      <p:sp>
        <p:nvSpPr>
          <p:cNvPr id="83" name="TextBox 82">
            <a:extLst>
              <a:ext uri="{FF2B5EF4-FFF2-40B4-BE49-F238E27FC236}">
                <a16:creationId xmlns:a16="http://schemas.microsoft.com/office/drawing/2014/main" id="{0154BB0F-3BF1-4805-AE7A-8A6D0F623393}"/>
              </a:ext>
            </a:extLst>
          </p:cNvPr>
          <p:cNvSpPr txBox="1"/>
          <p:nvPr/>
        </p:nvSpPr>
        <p:spPr>
          <a:xfrm>
            <a:off x="10296137" y="3407238"/>
            <a:ext cx="65212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84" name="TextBox 83">
            <a:extLst>
              <a:ext uri="{FF2B5EF4-FFF2-40B4-BE49-F238E27FC236}">
                <a16:creationId xmlns:a16="http://schemas.microsoft.com/office/drawing/2014/main" id="{2820DC4B-4402-4742-94F2-74EC00139C02}"/>
              </a:ext>
            </a:extLst>
          </p:cNvPr>
          <p:cNvSpPr txBox="1"/>
          <p:nvPr/>
        </p:nvSpPr>
        <p:spPr>
          <a:xfrm>
            <a:off x="7219297" y="2969815"/>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PMOS</a:t>
            </a:r>
            <a:endParaRPr lang="en-US" sz="1200" b="1" dirty="0">
              <a:latin typeface="Gill Sans" panose="020B0604020202020204" charset="0"/>
              <a:cs typeface="Gill Sans" panose="020B0604020202020204" charset="0"/>
            </a:endParaRPr>
          </a:p>
        </p:txBody>
      </p:sp>
      <p:sp>
        <p:nvSpPr>
          <p:cNvPr id="85" name="TextBox 84">
            <a:extLst>
              <a:ext uri="{FF2B5EF4-FFF2-40B4-BE49-F238E27FC236}">
                <a16:creationId xmlns:a16="http://schemas.microsoft.com/office/drawing/2014/main" id="{4AD16796-590F-41FA-B085-3A9FE898EDC5}"/>
              </a:ext>
            </a:extLst>
          </p:cNvPr>
          <p:cNvSpPr txBox="1"/>
          <p:nvPr/>
        </p:nvSpPr>
        <p:spPr>
          <a:xfrm>
            <a:off x="7032160" y="4671033"/>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T2</a:t>
            </a:r>
            <a:endParaRPr lang="en-US" sz="1200" b="1" dirty="0">
              <a:latin typeface="Gill Sans" panose="020B0604020202020204" charset="0"/>
              <a:cs typeface="Gill Sans" panose="020B0604020202020204" charset="0"/>
            </a:endParaRPr>
          </a:p>
        </p:txBody>
      </p:sp>
      <p:sp>
        <p:nvSpPr>
          <p:cNvPr id="86" name="TextBox 85">
            <a:extLst>
              <a:ext uri="{FF2B5EF4-FFF2-40B4-BE49-F238E27FC236}">
                <a16:creationId xmlns:a16="http://schemas.microsoft.com/office/drawing/2014/main" id="{04354FBB-9CBD-41DB-8630-CF0DBE97FC11}"/>
              </a:ext>
            </a:extLst>
          </p:cNvPr>
          <p:cNvSpPr txBox="1"/>
          <p:nvPr/>
        </p:nvSpPr>
        <p:spPr>
          <a:xfrm>
            <a:off x="8144724" y="4500261"/>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87" name="TextBox 86">
            <a:extLst>
              <a:ext uri="{FF2B5EF4-FFF2-40B4-BE49-F238E27FC236}">
                <a16:creationId xmlns:a16="http://schemas.microsoft.com/office/drawing/2014/main" id="{8CF5D595-EF3A-48BD-A434-BF7E6C141F17}"/>
              </a:ext>
            </a:extLst>
          </p:cNvPr>
          <p:cNvSpPr txBox="1"/>
          <p:nvPr/>
        </p:nvSpPr>
        <p:spPr>
          <a:xfrm>
            <a:off x="8141307" y="2830724"/>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88" name="Oval 87">
            <a:extLst>
              <a:ext uri="{FF2B5EF4-FFF2-40B4-BE49-F238E27FC236}">
                <a16:creationId xmlns:a16="http://schemas.microsoft.com/office/drawing/2014/main" id="{69A57BF1-92BB-4B0C-8F5F-E96F3CA0D2BA}"/>
              </a:ext>
            </a:extLst>
          </p:cNvPr>
          <p:cNvSpPr/>
          <p:nvPr/>
        </p:nvSpPr>
        <p:spPr>
          <a:xfrm>
            <a:off x="7333169" y="2142848"/>
            <a:ext cx="162092" cy="171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89" name="TextBox 88">
            <a:extLst>
              <a:ext uri="{FF2B5EF4-FFF2-40B4-BE49-F238E27FC236}">
                <a16:creationId xmlns:a16="http://schemas.microsoft.com/office/drawing/2014/main" id="{CA7AA771-41CC-406E-9DF2-D30697BA75C7}"/>
              </a:ext>
            </a:extLst>
          </p:cNvPr>
          <p:cNvSpPr txBox="1"/>
          <p:nvPr/>
        </p:nvSpPr>
        <p:spPr>
          <a:xfrm>
            <a:off x="7025069" y="1861018"/>
            <a:ext cx="91298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+VCC</a:t>
            </a:r>
            <a:endParaRPr lang="en-US" sz="1600" b="1" dirty="0">
              <a:latin typeface="Gill Sans" panose="020B0604020202020204" charset="0"/>
              <a:cs typeface="Gill Sans" panose="020B0604020202020204" charset="0"/>
            </a:endParaRPr>
          </a:p>
        </p:txBody>
      </p:sp>
      <p:sp>
        <p:nvSpPr>
          <p:cNvPr id="90" name="TextBox 89">
            <a:extLst>
              <a:ext uri="{FF2B5EF4-FFF2-40B4-BE49-F238E27FC236}">
                <a16:creationId xmlns:a16="http://schemas.microsoft.com/office/drawing/2014/main" id="{DA534D6D-9137-45BB-ADD9-858F39958A1E}"/>
              </a:ext>
            </a:extLst>
          </p:cNvPr>
          <p:cNvSpPr txBox="1"/>
          <p:nvPr/>
        </p:nvSpPr>
        <p:spPr>
          <a:xfrm>
            <a:off x="7148867" y="5492640"/>
            <a:ext cx="70885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GND</a:t>
            </a:r>
            <a:endParaRPr lang="en-US" b="1"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418063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63C9323-606F-4CD8-8FE4-AA422D2F743F}"/>
              </a:ext>
            </a:extLst>
          </p:cNvPr>
          <p:cNvSpPr txBox="1"/>
          <p:nvPr/>
        </p:nvSpPr>
        <p:spPr>
          <a:xfrm>
            <a:off x="708834" y="453657"/>
            <a:ext cx="10547497" cy="748988"/>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GPIO Pin Hi-Z State</a:t>
            </a:r>
            <a:endParaRPr lang="en-US" sz="4267" b="1" dirty="0">
              <a:latin typeface="Helvetica Neue" panose="020B0604020202020204" charset="0"/>
              <a:cs typeface="Helvetica Neue" panose="020B0604020202020204" charset="0"/>
            </a:endParaRPr>
          </a:p>
        </p:txBody>
      </p:sp>
      <p:sp>
        <p:nvSpPr>
          <p:cNvPr id="12" name="TextBox 11">
            <a:extLst>
              <a:ext uri="{FF2B5EF4-FFF2-40B4-BE49-F238E27FC236}">
                <a16:creationId xmlns:a16="http://schemas.microsoft.com/office/drawing/2014/main" id="{88928CE0-3035-497C-9B64-870100B7C37E}"/>
              </a:ext>
            </a:extLst>
          </p:cNvPr>
          <p:cNvSpPr txBox="1"/>
          <p:nvPr/>
        </p:nvSpPr>
        <p:spPr>
          <a:xfrm>
            <a:off x="6154975" y="5831369"/>
            <a:ext cx="4737847" cy="502766"/>
          </a:xfrm>
          <a:prstGeom prst="rect">
            <a:avLst/>
          </a:prstGeom>
          <a:noFill/>
        </p:spPr>
        <p:txBody>
          <a:bodyPr wrap="square" rtlCol="0">
            <a:spAutoFit/>
          </a:bodyPr>
          <a:lstStyle/>
          <a:p>
            <a:pPr algn="ctr"/>
            <a:r>
              <a:rPr lang="en-IN" sz="2667" b="1" dirty="0">
                <a:latin typeface="Gill Sans" panose="020B0604020202020204" charset="0"/>
                <a:cs typeface="Gill Sans" panose="020B0604020202020204" charset="0"/>
              </a:rPr>
              <a:t>Input Buffer</a:t>
            </a:r>
            <a:endParaRPr lang="en-US" sz="2667" b="1" dirty="0">
              <a:latin typeface="Gill Sans" panose="020B0604020202020204" charset="0"/>
              <a:cs typeface="Gill Sans" panose="020B0604020202020204" charset="0"/>
            </a:endParaRPr>
          </a:p>
        </p:txBody>
      </p:sp>
      <p:sp>
        <p:nvSpPr>
          <p:cNvPr id="2" name="TextBox 1">
            <a:extLst>
              <a:ext uri="{FF2B5EF4-FFF2-40B4-BE49-F238E27FC236}">
                <a16:creationId xmlns:a16="http://schemas.microsoft.com/office/drawing/2014/main" id="{51C96A8B-82AD-4B8A-BC13-82B1B11C9EA0}"/>
              </a:ext>
            </a:extLst>
          </p:cNvPr>
          <p:cNvSpPr txBox="1"/>
          <p:nvPr/>
        </p:nvSpPr>
        <p:spPr>
          <a:xfrm>
            <a:off x="559047" y="1781967"/>
            <a:ext cx="5174512" cy="2554545"/>
          </a:xfrm>
          <a:prstGeom prst="rect">
            <a:avLst/>
          </a:prstGeom>
          <a:noFill/>
        </p:spPr>
        <p:txBody>
          <a:bodyPr wrap="square" rtlCol="0">
            <a:spAutoFit/>
          </a:bodyPr>
          <a:lstStyle/>
          <a:p>
            <a:r>
              <a:rPr lang="en-IN" sz="3200" b="1" dirty="0">
                <a:latin typeface="Gill Sans" panose="020B0604020202020204" charset="0"/>
                <a:cs typeface="Gill Sans" panose="020B0604020202020204" charset="0"/>
              </a:rPr>
              <a:t>Hi-Z state</a:t>
            </a: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By default all the GPIO pins are in floating (Hi-Z) state</a:t>
            </a:r>
          </a:p>
          <a:p>
            <a:pPr marL="457189" indent="-457189">
              <a:buFont typeface="Arial" panose="020B0604020202020204" pitchFamily="34" charset="0"/>
              <a:buChar char="•"/>
            </a:pPr>
            <a:endParaRPr lang="en-IN" sz="3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It results in current leakage</a:t>
            </a:r>
            <a:endParaRPr lang="en-US" sz="3200" dirty="0">
              <a:latin typeface="Gill Sans" panose="020B0604020202020204" charset="0"/>
              <a:cs typeface="Gill Sans" panose="020B0604020202020204" charset="0"/>
            </a:endParaRPr>
          </a:p>
        </p:txBody>
      </p:sp>
      <p:cxnSp>
        <p:nvCxnSpPr>
          <p:cNvPr id="4" name="Straight Connector 3">
            <a:extLst>
              <a:ext uri="{FF2B5EF4-FFF2-40B4-BE49-F238E27FC236}">
                <a16:creationId xmlns:a16="http://schemas.microsoft.com/office/drawing/2014/main" id="{128A92DE-E733-4F1C-9C83-49F080168108}"/>
              </a:ext>
            </a:extLst>
          </p:cNvPr>
          <p:cNvCxnSpPr/>
          <p:nvPr/>
        </p:nvCxnSpPr>
        <p:spPr>
          <a:xfrm>
            <a:off x="10363200" y="3827722"/>
            <a:ext cx="0" cy="1148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8E7812-36A9-4D3F-AA09-AB0BA0A6FAF3}"/>
              </a:ext>
            </a:extLst>
          </p:cNvPr>
          <p:cNvCxnSpPr/>
          <p:nvPr/>
        </p:nvCxnSpPr>
        <p:spPr>
          <a:xfrm>
            <a:off x="10221433" y="4976037"/>
            <a:ext cx="2720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F3B442-5BF9-4930-9E65-8ECB9B0CFD5D}"/>
              </a:ext>
            </a:extLst>
          </p:cNvPr>
          <p:cNvCxnSpPr>
            <a:cxnSpLocks/>
          </p:cNvCxnSpPr>
          <p:nvPr/>
        </p:nvCxnSpPr>
        <p:spPr>
          <a:xfrm>
            <a:off x="10292313" y="5079996"/>
            <a:ext cx="1349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5E97FD-04B5-4066-909A-16CC0C3282B7}"/>
              </a:ext>
            </a:extLst>
          </p:cNvPr>
          <p:cNvCxnSpPr>
            <a:cxnSpLocks/>
          </p:cNvCxnSpPr>
          <p:nvPr/>
        </p:nvCxnSpPr>
        <p:spPr>
          <a:xfrm>
            <a:off x="10314911" y="5169781"/>
            <a:ext cx="88747"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86AF952-AE32-4177-8BF6-C068599B7C24}"/>
              </a:ext>
            </a:extLst>
          </p:cNvPr>
          <p:cNvSpPr/>
          <p:nvPr/>
        </p:nvSpPr>
        <p:spPr>
          <a:xfrm>
            <a:off x="10292313" y="3766763"/>
            <a:ext cx="134979" cy="609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Oval 18">
            <a:extLst>
              <a:ext uri="{FF2B5EF4-FFF2-40B4-BE49-F238E27FC236}">
                <a16:creationId xmlns:a16="http://schemas.microsoft.com/office/drawing/2014/main" id="{14BCFCF2-577B-4580-8DB8-466AEADABA49}"/>
              </a:ext>
            </a:extLst>
          </p:cNvPr>
          <p:cNvSpPr/>
          <p:nvPr/>
        </p:nvSpPr>
        <p:spPr>
          <a:xfrm>
            <a:off x="10051307" y="3118887"/>
            <a:ext cx="723012" cy="87895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TextBox 19">
            <a:extLst>
              <a:ext uri="{FF2B5EF4-FFF2-40B4-BE49-F238E27FC236}">
                <a16:creationId xmlns:a16="http://schemas.microsoft.com/office/drawing/2014/main" id="{D6CA1688-7559-448A-90DF-8260B25BCF16}"/>
              </a:ext>
            </a:extLst>
          </p:cNvPr>
          <p:cNvSpPr txBox="1"/>
          <p:nvPr/>
        </p:nvSpPr>
        <p:spPr>
          <a:xfrm>
            <a:off x="10654285" y="3118887"/>
            <a:ext cx="1537715" cy="461665"/>
          </a:xfrm>
          <a:prstGeom prst="rect">
            <a:avLst/>
          </a:prstGeom>
          <a:noFill/>
        </p:spPr>
        <p:txBody>
          <a:bodyPr wrap="square" rtlCol="0">
            <a:spAutoFit/>
          </a:bodyPr>
          <a:lstStyle/>
          <a:p>
            <a:r>
              <a:rPr lang="en-IN" sz="2400" b="1" dirty="0">
                <a:latin typeface="Gill Sans" panose="020B0604020202020204" charset="0"/>
                <a:cs typeface="Gill Sans" panose="020B0604020202020204" charset="0"/>
              </a:rPr>
              <a:t>Hi-Z state</a:t>
            </a:r>
            <a:endParaRPr lang="en-US" sz="2400" b="1" dirty="0">
              <a:latin typeface="Gill Sans" panose="020B0604020202020204" charset="0"/>
              <a:cs typeface="Gill Sans" panose="020B0604020202020204" charset="0"/>
            </a:endParaRPr>
          </a:p>
        </p:txBody>
      </p:sp>
      <p:sp>
        <p:nvSpPr>
          <p:cNvPr id="13" name="Isosceles Triangle 12">
            <a:extLst>
              <a:ext uri="{FF2B5EF4-FFF2-40B4-BE49-F238E27FC236}">
                <a16:creationId xmlns:a16="http://schemas.microsoft.com/office/drawing/2014/main" id="{5F577889-F7B2-4A69-BC76-3C3A48E5070E}"/>
              </a:ext>
            </a:extLst>
          </p:cNvPr>
          <p:cNvSpPr/>
          <p:nvPr/>
        </p:nvSpPr>
        <p:spPr>
          <a:xfrm rot="16024616">
            <a:off x="8895233" y="3435564"/>
            <a:ext cx="269357" cy="3118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15" name="Straight Connector 14">
            <a:extLst>
              <a:ext uri="{FF2B5EF4-FFF2-40B4-BE49-F238E27FC236}">
                <a16:creationId xmlns:a16="http://schemas.microsoft.com/office/drawing/2014/main" id="{809E3E05-A007-4166-8DA9-7FB41D23E532}"/>
              </a:ext>
            </a:extLst>
          </p:cNvPr>
          <p:cNvCxnSpPr>
            <a:cxnSpLocks/>
          </p:cNvCxnSpPr>
          <p:nvPr/>
        </p:nvCxnSpPr>
        <p:spPr>
          <a:xfrm>
            <a:off x="9178771" y="3581032"/>
            <a:ext cx="446987"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5D093EE4-C43A-4CE0-A635-E9594938A249}"/>
              </a:ext>
            </a:extLst>
          </p:cNvPr>
          <p:cNvSpPr/>
          <p:nvPr/>
        </p:nvSpPr>
        <p:spPr>
          <a:xfrm>
            <a:off x="8716573" y="3477813"/>
            <a:ext cx="150849" cy="1781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21" name="Straight Connector 20">
            <a:extLst>
              <a:ext uri="{FF2B5EF4-FFF2-40B4-BE49-F238E27FC236}">
                <a16:creationId xmlns:a16="http://schemas.microsoft.com/office/drawing/2014/main" id="{2AA70FF0-04D7-40B3-9378-90E7F3C77F2C}"/>
              </a:ext>
            </a:extLst>
          </p:cNvPr>
          <p:cNvCxnSpPr>
            <a:cxnSpLocks/>
          </p:cNvCxnSpPr>
          <p:nvPr/>
        </p:nvCxnSpPr>
        <p:spPr>
          <a:xfrm>
            <a:off x="7942939" y="3590528"/>
            <a:ext cx="7715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4AD5CC0-20F7-4AA2-8433-76A694B541BE}"/>
              </a:ext>
            </a:extLst>
          </p:cNvPr>
          <p:cNvCxnSpPr>
            <a:cxnSpLocks/>
          </p:cNvCxnSpPr>
          <p:nvPr/>
        </p:nvCxnSpPr>
        <p:spPr>
          <a:xfrm>
            <a:off x="7937768" y="2910855"/>
            <a:ext cx="0" cy="136464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700BB97-6962-4248-9A60-AAD4A53BF2B0}"/>
              </a:ext>
            </a:extLst>
          </p:cNvPr>
          <p:cNvCxnSpPr>
            <a:cxnSpLocks/>
          </p:cNvCxnSpPr>
          <p:nvPr/>
        </p:nvCxnSpPr>
        <p:spPr>
          <a:xfrm>
            <a:off x="7356521" y="2910854"/>
            <a:ext cx="5812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2753AF-6320-4C57-9BC4-BB0AD76D39C5}"/>
              </a:ext>
            </a:extLst>
          </p:cNvPr>
          <p:cNvCxnSpPr>
            <a:cxnSpLocks/>
          </p:cNvCxnSpPr>
          <p:nvPr/>
        </p:nvCxnSpPr>
        <p:spPr>
          <a:xfrm>
            <a:off x="7347078" y="4262370"/>
            <a:ext cx="581247"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56C59555-A821-46A4-B2B7-2926A401124A}"/>
              </a:ext>
            </a:extLst>
          </p:cNvPr>
          <p:cNvSpPr/>
          <p:nvPr/>
        </p:nvSpPr>
        <p:spPr>
          <a:xfrm>
            <a:off x="7276184" y="2825798"/>
            <a:ext cx="60959" cy="17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26" name="Straight Connector 25">
            <a:extLst>
              <a:ext uri="{FF2B5EF4-FFF2-40B4-BE49-F238E27FC236}">
                <a16:creationId xmlns:a16="http://schemas.microsoft.com/office/drawing/2014/main" id="{A88F99A7-C88A-47CF-82F2-F4ECDAEA2A83}"/>
              </a:ext>
            </a:extLst>
          </p:cNvPr>
          <p:cNvCxnSpPr>
            <a:cxnSpLocks/>
          </p:cNvCxnSpPr>
          <p:nvPr/>
        </p:nvCxnSpPr>
        <p:spPr>
          <a:xfrm>
            <a:off x="7266264" y="2698204"/>
            <a:ext cx="0" cy="415843"/>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2DFDAE1-1EBD-4053-8118-623C321E787E}"/>
              </a:ext>
            </a:extLst>
          </p:cNvPr>
          <p:cNvCxnSpPr>
            <a:cxnSpLocks/>
          </p:cNvCxnSpPr>
          <p:nvPr/>
        </p:nvCxnSpPr>
        <p:spPr>
          <a:xfrm>
            <a:off x="7356044" y="4045017"/>
            <a:ext cx="0" cy="3874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E1D9482-6978-4FA3-AFC2-BF87687C8C15}"/>
              </a:ext>
            </a:extLst>
          </p:cNvPr>
          <p:cNvCxnSpPr>
            <a:cxnSpLocks/>
          </p:cNvCxnSpPr>
          <p:nvPr/>
        </p:nvCxnSpPr>
        <p:spPr>
          <a:xfrm>
            <a:off x="7100843" y="2556434"/>
            <a:ext cx="0" cy="6284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1FA0185-F9E5-4501-BE06-91B9A5DEE256}"/>
              </a:ext>
            </a:extLst>
          </p:cNvPr>
          <p:cNvCxnSpPr>
            <a:cxnSpLocks/>
          </p:cNvCxnSpPr>
          <p:nvPr/>
        </p:nvCxnSpPr>
        <p:spPr>
          <a:xfrm>
            <a:off x="7176447" y="3931582"/>
            <a:ext cx="0" cy="6190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D76F1E6-172A-49F2-9C47-4ADADDEFA9C1}"/>
              </a:ext>
            </a:extLst>
          </p:cNvPr>
          <p:cNvCxnSpPr>
            <a:cxnSpLocks/>
          </p:cNvCxnSpPr>
          <p:nvPr/>
        </p:nvCxnSpPr>
        <p:spPr>
          <a:xfrm>
            <a:off x="6590487" y="2688745"/>
            <a:ext cx="4966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5EB5028-B8A2-4AC6-84A5-6FB1FAB27E7A}"/>
              </a:ext>
            </a:extLst>
          </p:cNvPr>
          <p:cNvCxnSpPr>
            <a:cxnSpLocks/>
          </p:cNvCxnSpPr>
          <p:nvPr/>
        </p:nvCxnSpPr>
        <p:spPr>
          <a:xfrm>
            <a:off x="6595212" y="3076245"/>
            <a:ext cx="49193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780C0E1-398F-45F4-9AEA-094371EE0F04}"/>
              </a:ext>
            </a:extLst>
          </p:cNvPr>
          <p:cNvCxnSpPr>
            <a:cxnSpLocks/>
          </p:cNvCxnSpPr>
          <p:nvPr/>
        </p:nvCxnSpPr>
        <p:spPr>
          <a:xfrm>
            <a:off x="6609392" y="4011912"/>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2C724B8-7EC3-41A4-85B3-A0B9F468B76F}"/>
              </a:ext>
            </a:extLst>
          </p:cNvPr>
          <p:cNvCxnSpPr>
            <a:cxnSpLocks/>
          </p:cNvCxnSpPr>
          <p:nvPr/>
        </p:nvCxnSpPr>
        <p:spPr>
          <a:xfrm>
            <a:off x="6599927" y="4413592"/>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4DC6528-00FD-4C34-9676-EFB758D47458}"/>
              </a:ext>
            </a:extLst>
          </p:cNvPr>
          <p:cNvCxnSpPr>
            <a:cxnSpLocks/>
          </p:cNvCxnSpPr>
          <p:nvPr/>
        </p:nvCxnSpPr>
        <p:spPr>
          <a:xfrm>
            <a:off x="6619304" y="2060249"/>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07140C4-B929-4BFC-8CA1-DA819D3754F3}"/>
              </a:ext>
            </a:extLst>
          </p:cNvPr>
          <p:cNvCxnSpPr>
            <a:cxnSpLocks/>
          </p:cNvCxnSpPr>
          <p:nvPr/>
        </p:nvCxnSpPr>
        <p:spPr>
          <a:xfrm>
            <a:off x="6609850" y="3076245"/>
            <a:ext cx="0" cy="930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27B2FCF-90EE-473F-A1AE-B7A6A086292C}"/>
              </a:ext>
            </a:extLst>
          </p:cNvPr>
          <p:cNvCxnSpPr>
            <a:cxnSpLocks/>
          </p:cNvCxnSpPr>
          <p:nvPr/>
        </p:nvCxnSpPr>
        <p:spPr>
          <a:xfrm>
            <a:off x="6614575" y="4394701"/>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AA3679A-2D0F-4A5F-B363-755F2249AC0A}"/>
              </a:ext>
            </a:extLst>
          </p:cNvPr>
          <p:cNvCxnSpPr>
            <a:cxnSpLocks/>
          </p:cNvCxnSpPr>
          <p:nvPr/>
        </p:nvCxnSpPr>
        <p:spPr>
          <a:xfrm flipV="1">
            <a:off x="6378301" y="5032657"/>
            <a:ext cx="425303" cy="18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9F20AAD-0135-4103-AC28-6AC24BF41373}"/>
              </a:ext>
            </a:extLst>
          </p:cNvPr>
          <p:cNvCxnSpPr>
            <a:cxnSpLocks/>
          </p:cNvCxnSpPr>
          <p:nvPr/>
        </p:nvCxnSpPr>
        <p:spPr>
          <a:xfrm>
            <a:off x="6510606" y="5131901"/>
            <a:ext cx="203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E801B2-6ECD-441C-836C-E303A9E5F842}"/>
              </a:ext>
            </a:extLst>
          </p:cNvPr>
          <p:cNvCxnSpPr>
            <a:cxnSpLocks/>
          </p:cNvCxnSpPr>
          <p:nvPr/>
        </p:nvCxnSpPr>
        <p:spPr>
          <a:xfrm>
            <a:off x="6548425" y="5240574"/>
            <a:ext cx="137039"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FFFC8E67-910E-4067-BA65-4CAECF6953CD}"/>
              </a:ext>
            </a:extLst>
          </p:cNvPr>
          <p:cNvSpPr/>
          <p:nvPr/>
        </p:nvSpPr>
        <p:spPr>
          <a:xfrm>
            <a:off x="9610608" y="3477815"/>
            <a:ext cx="354415" cy="178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41" name="Straight Connector 40">
            <a:extLst>
              <a:ext uri="{FF2B5EF4-FFF2-40B4-BE49-F238E27FC236}">
                <a16:creationId xmlns:a16="http://schemas.microsoft.com/office/drawing/2014/main" id="{8A6F0DC4-12BB-4BBA-9710-50B80E58DF8E}"/>
              </a:ext>
            </a:extLst>
          </p:cNvPr>
          <p:cNvCxnSpPr>
            <a:cxnSpLocks/>
          </p:cNvCxnSpPr>
          <p:nvPr/>
        </p:nvCxnSpPr>
        <p:spPr>
          <a:xfrm>
            <a:off x="9969759" y="3566906"/>
            <a:ext cx="363845"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C902EF3-2C21-4CBE-88F7-AEEFF0547749}"/>
              </a:ext>
            </a:extLst>
          </p:cNvPr>
          <p:cNvCxnSpPr>
            <a:cxnSpLocks/>
          </p:cNvCxnSpPr>
          <p:nvPr/>
        </p:nvCxnSpPr>
        <p:spPr>
          <a:xfrm>
            <a:off x="5905763" y="3557449"/>
            <a:ext cx="727737" cy="9459"/>
          </a:xfrm>
          <a:prstGeom prst="line">
            <a:avLst/>
          </a:prstGeom>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F8CE4540-49EF-4325-BD0F-CB1D173281FE}"/>
              </a:ext>
            </a:extLst>
          </p:cNvPr>
          <p:cNvSpPr/>
          <p:nvPr/>
        </p:nvSpPr>
        <p:spPr>
          <a:xfrm>
            <a:off x="10291108" y="3520348"/>
            <a:ext cx="151217" cy="89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44" name="TextBox 43">
            <a:extLst>
              <a:ext uri="{FF2B5EF4-FFF2-40B4-BE49-F238E27FC236}">
                <a16:creationId xmlns:a16="http://schemas.microsoft.com/office/drawing/2014/main" id="{385F9888-1DF5-4315-9868-B883979F8392}"/>
              </a:ext>
            </a:extLst>
          </p:cNvPr>
          <p:cNvSpPr txBox="1"/>
          <p:nvPr/>
        </p:nvSpPr>
        <p:spPr>
          <a:xfrm>
            <a:off x="5910492" y="3318422"/>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Drain</a:t>
            </a:r>
            <a:endParaRPr lang="en-US" sz="1200" b="1" dirty="0">
              <a:latin typeface="Gill Sans" panose="020B0604020202020204" charset="0"/>
              <a:cs typeface="Gill Sans" panose="020B0604020202020204" charset="0"/>
            </a:endParaRPr>
          </a:p>
        </p:txBody>
      </p:sp>
      <p:sp>
        <p:nvSpPr>
          <p:cNvPr id="45" name="TextBox 44">
            <a:extLst>
              <a:ext uri="{FF2B5EF4-FFF2-40B4-BE49-F238E27FC236}">
                <a16:creationId xmlns:a16="http://schemas.microsoft.com/office/drawing/2014/main" id="{34ECB8A7-58BA-4A60-ACEB-624BA2B29769}"/>
              </a:ext>
            </a:extLst>
          </p:cNvPr>
          <p:cNvSpPr txBox="1"/>
          <p:nvPr/>
        </p:nvSpPr>
        <p:spPr>
          <a:xfrm>
            <a:off x="6482716" y="4059513"/>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NMOS</a:t>
            </a:r>
            <a:endParaRPr lang="en-US" sz="1200" b="1" dirty="0">
              <a:latin typeface="Gill Sans" panose="020B0604020202020204" charset="0"/>
              <a:cs typeface="Gill Sans" panose="020B0604020202020204" charset="0"/>
            </a:endParaRPr>
          </a:p>
        </p:txBody>
      </p:sp>
      <p:sp>
        <p:nvSpPr>
          <p:cNvPr id="46" name="TextBox 45">
            <a:extLst>
              <a:ext uri="{FF2B5EF4-FFF2-40B4-BE49-F238E27FC236}">
                <a16:creationId xmlns:a16="http://schemas.microsoft.com/office/drawing/2014/main" id="{220708BD-07F0-4AE7-B498-C8F5B8C529B7}"/>
              </a:ext>
            </a:extLst>
          </p:cNvPr>
          <p:cNvSpPr txBox="1"/>
          <p:nvPr/>
        </p:nvSpPr>
        <p:spPr>
          <a:xfrm>
            <a:off x="6523852" y="2255701"/>
            <a:ext cx="841151"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Source</a:t>
            </a:r>
            <a:endParaRPr lang="en-US" sz="1600" b="1" dirty="0">
              <a:latin typeface="Gill Sans" panose="020B0604020202020204" charset="0"/>
              <a:cs typeface="Gill Sans" panose="020B0604020202020204" charset="0"/>
            </a:endParaRPr>
          </a:p>
        </p:txBody>
      </p:sp>
      <p:sp>
        <p:nvSpPr>
          <p:cNvPr id="47" name="TextBox 46">
            <a:extLst>
              <a:ext uri="{FF2B5EF4-FFF2-40B4-BE49-F238E27FC236}">
                <a16:creationId xmlns:a16="http://schemas.microsoft.com/office/drawing/2014/main" id="{18DD7106-5C8A-4DAB-BB00-649FCA763441}"/>
              </a:ext>
            </a:extLst>
          </p:cNvPr>
          <p:cNvSpPr txBox="1"/>
          <p:nvPr/>
        </p:nvSpPr>
        <p:spPr>
          <a:xfrm>
            <a:off x="6534237" y="4639766"/>
            <a:ext cx="1016001"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Source</a:t>
            </a:r>
            <a:endParaRPr lang="en-US" b="1" dirty="0">
              <a:latin typeface="Gill Sans" panose="020B0604020202020204" charset="0"/>
              <a:cs typeface="Gill Sans" panose="020B0604020202020204" charset="0"/>
            </a:endParaRPr>
          </a:p>
        </p:txBody>
      </p:sp>
      <p:sp>
        <p:nvSpPr>
          <p:cNvPr id="48" name="TextBox 47">
            <a:extLst>
              <a:ext uri="{FF2B5EF4-FFF2-40B4-BE49-F238E27FC236}">
                <a16:creationId xmlns:a16="http://schemas.microsoft.com/office/drawing/2014/main" id="{755FDAC9-E4B1-4381-8B68-F830A7C0AE05}"/>
              </a:ext>
            </a:extLst>
          </p:cNvPr>
          <p:cNvSpPr txBox="1"/>
          <p:nvPr/>
        </p:nvSpPr>
        <p:spPr>
          <a:xfrm>
            <a:off x="6286144" y="2321133"/>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T1</a:t>
            </a:r>
            <a:endParaRPr lang="en-US" sz="1200" b="1" dirty="0">
              <a:latin typeface="Gill Sans" panose="020B0604020202020204" charset="0"/>
              <a:cs typeface="Gill Sans" panose="020B0604020202020204" charset="0"/>
            </a:endParaRPr>
          </a:p>
        </p:txBody>
      </p:sp>
      <p:sp>
        <p:nvSpPr>
          <p:cNvPr id="49" name="TextBox 48">
            <a:extLst>
              <a:ext uri="{FF2B5EF4-FFF2-40B4-BE49-F238E27FC236}">
                <a16:creationId xmlns:a16="http://schemas.microsoft.com/office/drawing/2014/main" id="{1C501ED6-AC63-435B-BAA2-274B9D8192AD}"/>
              </a:ext>
            </a:extLst>
          </p:cNvPr>
          <p:cNvSpPr txBox="1"/>
          <p:nvPr/>
        </p:nvSpPr>
        <p:spPr>
          <a:xfrm>
            <a:off x="9487752" y="3168695"/>
            <a:ext cx="65212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50" name="TextBox 49">
            <a:extLst>
              <a:ext uri="{FF2B5EF4-FFF2-40B4-BE49-F238E27FC236}">
                <a16:creationId xmlns:a16="http://schemas.microsoft.com/office/drawing/2014/main" id="{4DCC9488-22B0-4C88-8FFA-463995DFD903}"/>
              </a:ext>
            </a:extLst>
          </p:cNvPr>
          <p:cNvSpPr txBox="1"/>
          <p:nvPr/>
        </p:nvSpPr>
        <p:spPr>
          <a:xfrm>
            <a:off x="6410912" y="2731272"/>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PMOS</a:t>
            </a:r>
            <a:endParaRPr lang="en-US" sz="1200" b="1" dirty="0">
              <a:latin typeface="Gill Sans" panose="020B0604020202020204" charset="0"/>
              <a:cs typeface="Gill Sans" panose="020B0604020202020204" charset="0"/>
            </a:endParaRPr>
          </a:p>
        </p:txBody>
      </p:sp>
      <p:sp>
        <p:nvSpPr>
          <p:cNvPr id="51" name="TextBox 50">
            <a:extLst>
              <a:ext uri="{FF2B5EF4-FFF2-40B4-BE49-F238E27FC236}">
                <a16:creationId xmlns:a16="http://schemas.microsoft.com/office/drawing/2014/main" id="{18A93B24-A4CA-42B5-ADAE-53327A5156C8}"/>
              </a:ext>
            </a:extLst>
          </p:cNvPr>
          <p:cNvSpPr txBox="1"/>
          <p:nvPr/>
        </p:nvSpPr>
        <p:spPr>
          <a:xfrm>
            <a:off x="6223775" y="4432490"/>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T2</a:t>
            </a:r>
            <a:endParaRPr lang="en-US" sz="1200" b="1" dirty="0">
              <a:latin typeface="Gill Sans" panose="020B0604020202020204" charset="0"/>
              <a:cs typeface="Gill Sans" panose="020B0604020202020204" charset="0"/>
            </a:endParaRPr>
          </a:p>
        </p:txBody>
      </p:sp>
      <p:sp>
        <p:nvSpPr>
          <p:cNvPr id="52" name="TextBox 51">
            <a:extLst>
              <a:ext uri="{FF2B5EF4-FFF2-40B4-BE49-F238E27FC236}">
                <a16:creationId xmlns:a16="http://schemas.microsoft.com/office/drawing/2014/main" id="{AEAA98EB-2FA2-4CA6-9D01-5382814D8FBF}"/>
              </a:ext>
            </a:extLst>
          </p:cNvPr>
          <p:cNvSpPr txBox="1"/>
          <p:nvPr/>
        </p:nvSpPr>
        <p:spPr>
          <a:xfrm>
            <a:off x="7336339" y="4261718"/>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53" name="TextBox 52">
            <a:extLst>
              <a:ext uri="{FF2B5EF4-FFF2-40B4-BE49-F238E27FC236}">
                <a16:creationId xmlns:a16="http://schemas.microsoft.com/office/drawing/2014/main" id="{D6B5D3B9-2A6D-4CE0-9E80-85D9AF657386}"/>
              </a:ext>
            </a:extLst>
          </p:cNvPr>
          <p:cNvSpPr txBox="1"/>
          <p:nvPr/>
        </p:nvSpPr>
        <p:spPr>
          <a:xfrm>
            <a:off x="7332922" y="2592181"/>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54" name="Oval 53">
            <a:extLst>
              <a:ext uri="{FF2B5EF4-FFF2-40B4-BE49-F238E27FC236}">
                <a16:creationId xmlns:a16="http://schemas.microsoft.com/office/drawing/2014/main" id="{3A6ED73B-09F5-4FA3-88A0-97B3333013A2}"/>
              </a:ext>
            </a:extLst>
          </p:cNvPr>
          <p:cNvSpPr/>
          <p:nvPr/>
        </p:nvSpPr>
        <p:spPr>
          <a:xfrm>
            <a:off x="6524784" y="1904305"/>
            <a:ext cx="162092" cy="171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55" name="TextBox 54">
            <a:extLst>
              <a:ext uri="{FF2B5EF4-FFF2-40B4-BE49-F238E27FC236}">
                <a16:creationId xmlns:a16="http://schemas.microsoft.com/office/drawing/2014/main" id="{449515DD-5517-4168-9809-D53BBB491744}"/>
              </a:ext>
            </a:extLst>
          </p:cNvPr>
          <p:cNvSpPr txBox="1"/>
          <p:nvPr/>
        </p:nvSpPr>
        <p:spPr>
          <a:xfrm>
            <a:off x="6216684" y="1622475"/>
            <a:ext cx="91298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+VCC</a:t>
            </a:r>
            <a:endParaRPr lang="en-US" sz="1600" b="1" dirty="0">
              <a:latin typeface="Gill Sans" panose="020B0604020202020204" charset="0"/>
              <a:cs typeface="Gill Sans" panose="020B0604020202020204" charset="0"/>
            </a:endParaRPr>
          </a:p>
        </p:txBody>
      </p:sp>
      <p:sp>
        <p:nvSpPr>
          <p:cNvPr id="56" name="TextBox 55">
            <a:extLst>
              <a:ext uri="{FF2B5EF4-FFF2-40B4-BE49-F238E27FC236}">
                <a16:creationId xmlns:a16="http://schemas.microsoft.com/office/drawing/2014/main" id="{01F52C6B-7F18-4648-913E-A82C01F36ABA}"/>
              </a:ext>
            </a:extLst>
          </p:cNvPr>
          <p:cNvSpPr txBox="1"/>
          <p:nvPr/>
        </p:nvSpPr>
        <p:spPr>
          <a:xfrm>
            <a:off x="6340482" y="5254097"/>
            <a:ext cx="70885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GND</a:t>
            </a:r>
            <a:endParaRPr lang="en-US" b="1"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3652274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A9595-8947-4A18-A0EA-17BEA5EF6C15}"/>
              </a:ext>
            </a:extLst>
          </p:cNvPr>
          <p:cNvSpPr txBox="1"/>
          <p:nvPr/>
        </p:nvSpPr>
        <p:spPr>
          <a:xfrm>
            <a:off x="0" y="114630"/>
            <a:ext cx="12192000" cy="1077218"/>
          </a:xfrm>
          <a:prstGeom prst="rect">
            <a:avLst/>
          </a:prstGeom>
          <a:noFill/>
        </p:spPr>
        <p:txBody>
          <a:bodyPr wrap="square" rtlCol="0">
            <a:spAutoFit/>
          </a:bodyPr>
          <a:lstStyle/>
          <a:p>
            <a:pPr algn="ctr"/>
            <a:r>
              <a:rPr lang="en-IN" sz="3200" b="1" dirty="0">
                <a:latin typeface="Helvetica Neue" panose="020B0604020202020204" charset="0"/>
                <a:cs typeface="Helvetica Neue" panose="020B0604020202020204" charset="0"/>
              </a:rPr>
              <a:t>GPIO Input Mode with </a:t>
            </a:r>
          </a:p>
          <a:p>
            <a:pPr algn="ctr"/>
            <a:r>
              <a:rPr lang="en-IN" sz="3200" b="1" dirty="0">
                <a:latin typeface="Helvetica Neue" panose="020B0604020202020204" charset="0"/>
                <a:cs typeface="Helvetica Neue" panose="020B0604020202020204" charset="0"/>
              </a:rPr>
              <a:t>Internal Pull-Up/Pull-Down</a:t>
            </a:r>
            <a:endParaRPr lang="en-US" sz="3200" b="1" dirty="0">
              <a:latin typeface="Helvetica Neue" panose="020B0604020202020204" charset="0"/>
              <a:cs typeface="Helvetica Neue" panose="020B0604020202020204" charset="0"/>
            </a:endParaRPr>
          </a:p>
        </p:txBody>
      </p:sp>
      <p:sp>
        <p:nvSpPr>
          <p:cNvPr id="3" name="TextBox 2">
            <a:extLst>
              <a:ext uri="{FF2B5EF4-FFF2-40B4-BE49-F238E27FC236}">
                <a16:creationId xmlns:a16="http://schemas.microsoft.com/office/drawing/2014/main" id="{45E36C08-5673-4905-8A55-4D6B331849DA}"/>
              </a:ext>
            </a:extLst>
          </p:cNvPr>
          <p:cNvSpPr txBox="1"/>
          <p:nvPr/>
        </p:nvSpPr>
        <p:spPr>
          <a:xfrm>
            <a:off x="1090684" y="1644503"/>
            <a:ext cx="9329944" cy="830997"/>
          </a:xfrm>
          <a:prstGeom prst="rect">
            <a:avLst/>
          </a:prstGeom>
          <a:noFill/>
        </p:spPr>
        <p:txBody>
          <a:bodyPr wrap="square" rtlCol="0">
            <a:spAutoFit/>
          </a:bodyPr>
          <a:lstStyle/>
          <a:p>
            <a:pPr marL="457189" indent="-457189">
              <a:buFont typeface="Arial" panose="020B0604020202020204" pitchFamily="34" charset="0"/>
              <a:buChar char="•"/>
            </a:pPr>
            <a:r>
              <a:rPr lang="en-IN" sz="2400" dirty="0">
                <a:latin typeface="Gill Sans" panose="020B0604020202020204" charset="0"/>
                <a:cs typeface="Gill Sans" panose="020B0604020202020204" charset="0"/>
              </a:rPr>
              <a:t>To avoid Hi-Z state</a:t>
            </a:r>
            <a:r>
              <a:rPr lang="en-IN" sz="2400" b="1" dirty="0">
                <a:latin typeface="Gill Sans" panose="020B0604020202020204" charset="0"/>
                <a:cs typeface="Gill Sans" panose="020B0604020202020204" charset="0"/>
              </a:rPr>
              <a:t> internal pull-up/pull-down</a:t>
            </a:r>
            <a:r>
              <a:rPr lang="en-IN" sz="2400" dirty="0">
                <a:latin typeface="Gill Sans" panose="020B0604020202020204" charset="0"/>
                <a:cs typeface="Gill Sans" panose="020B0604020202020204" charset="0"/>
              </a:rPr>
              <a:t> registers will be activated in GPIO input mode </a:t>
            </a:r>
            <a:endParaRPr lang="en-US" sz="2400" dirty="0">
              <a:latin typeface="Gill Sans" panose="020B0604020202020204" charset="0"/>
              <a:cs typeface="Gill Sans" panose="020B0604020202020204" charset="0"/>
            </a:endParaRPr>
          </a:p>
        </p:txBody>
      </p:sp>
      <p:cxnSp>
        <p:nvCxnSpPr>
          <p:cNvPr id="11" name="Straight Connector 10">
            <a:extLst>
              <a:ext uri="{FF2B5EF4-FFF2-40B4-BE49-F238E27FC236}">
                <a16:creationId xmlns:a16="http://schemas.microsoft.com/office/drawing/2014/main" id="{B15082AE-6654-414D-897D-3341E818A834}"/>
              </a:ext>
            </a:extLst>
          </p:cNvPr>
          <p:cNvCxnSpPr/>
          <p:nvPr/>
        </p:nvCxnSpPr>
        <p:spPr>
          <a:xfrm flipH="1">
            <a:off x="1359528" y="4812080"/>
            <a:ext cx="2203443"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Isosceles Triangle 11">
            <a:extLst>
              <a:ext uri="{FF2B5EF4-FFF2-40B4-BE49-F238E27FC236}">
                <a16:creationId xmlns:a16="http://schemas.microsoft.com/office/drawing/2014/main" id="{F907FCF2-AEB5-4305-845E-7C164EC76F38}"/>
              </a:ext>
            </a:extLst>
          </p:cNvPr>
          <p:cNvSpPr/>
          <p:nvPr/>
        </p:nvSpPr>
        <p:spPr>
          <a:xfrm rot="16012033">
            <a:off x="1989996" y="4677403"/>
            <a:ext cx="255165" cy="26935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605C1A-C454-4819-9422-DCCCDCFC3B5D}"/>
              </a:ext>
            </a:extLst>
          </p:cNvPr>
          <p:cNvSpPr/>
          <p:nvPr/>
        </p:nvSpPr>
        <p:spPr>
          <a:xfrm>
            <a:off x="2967552" y="4734038"/>
            <a:ext cx="282901" cy="134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215AD63-35FA-413C-8C88-D2F53C2E7124}"/>
              </a:ext>
            </a:extLst>
          </p:cNvPr>
          <p:cNvSpPr/>
          <p:nvPr/>
        </p:nvSpPr>
        <p:spPr>
          <a:xfrm>
            <a:off x="3562971" y="4762393"/>
            <a:ext cx="60959" cy="1347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5EA56B97-BEF5-4CBD-AB52-BD4C8E4B3E03}"/>
              </a:ext>
            </a:extLst>
          </p:cNvPr>
          <p:cNvCxnSpPr>
            <a:cxnSpLocks/>
          </p:cNvCxnSpPr>
          <p:nvPr/>
        </p:nvCxnSpPr>
        <p:spPr>
          <a:xfrm flipH="1">
            <a:off x="3109002" y="4216652"/>
            <a:ext cx="315" cy="496185"/>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3C8BED2-DE3C-4EF1-AADB-7E59D36ECED1}"/>
              </a:ext>
            </a:extLst>
          </p:cNvPr>
          <p:cNvSpPr/>
          <p:nvPr/>
        </p:nvSpPr>
        <p:spPr>
          <a:xfrm>
            <a:off x="1833409" y="4776570"/>
            <a:ext cx="156897" cy="78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62A023-FE24-4085-A6D6-1B1227B65C21}"/>
              </a:ext>
            </a:extLst>
          </p:cNvPr>
          <p:cNvSpPr/>
          <p:nvPr/>
        </p:nvSpPr>
        <p:spPr>
          <a:xfrm rot="286289">
            <a:off x="2584953" y="3483591"/>
            <a:ext cx="155589" cy="1352715"/>
          </a:xfrm>
          <a:custGeom>
            <a:avLst/>
            <a:gdLst>
              <a:gd name="connsiteX0" fmla="*/ 0 w 95693"/>
              <a:gd name="connsiteY0" fmla="*/ 0 h 871870"/>
              <a:gd name="connsiteX1" fmla="*/ 10633 w 95693"/>
              <a:gd name="connsiteY1" fmla="*/ 244549 h 871870"/>
              <a:gd name="connsiteX2" fmla="*/ 21265 w 95693"/>
              <a:gd name="connsiteY2" fmla="*/ 340242 h 871870"/>
              <a:gd name="connsiteX3" fmla="*/ 53163 w 95693"/>
              <a:gd name="connsiteY3" fmla="*/ 361507 h 871870"/>
              <a:gd name="connsiteX4" fmla="*/ 95693 w 95693"/>
              <a:gd name="connsiteY4" fmla="*/ 393405 h 871870"/>
              <a:gd name="connsiteX5" fmla="*/ 53163 w 95693"/>
              <a:gd name="connsiteY5" fmla="*/ 435935 h 871870"/>
              <a:gd name="connsiteX6" fmla="*/ 21265 w 95693"/>
              <a:gd name="connsiteY6" fmla="*/ 446567 h 871870"/>
              <a:gd name="connsiteX7" fmla="*/ 31898 w 95693"/>
              <a:gd name="connsiteY7" fmla="*/ 478465 h 871870"/>
              <a:gd name="connsiteX8" fmla="*/ 85061 w 95693"/>
              <a:gd name="connsiteY8" fmla="*/ 520995 h 871870"/>
              <a:gd name="connsiteX9" fmla="*/ 74428 w 95693"/>
              <a:gd name="connsiteY9" fmla="*/ 584791 h 871870"/>
              <a:gd name="connsiteX10" fmla="*/ 42530 w 95693"/>
              <a:gd name="connsiteY10" fmla="*/ 595423 h 871870"/>
              <a:gd name="connsiteX11" fmla="*/ 31898 w 95693"/>
              <a:gd name="connsiteY11" fmla="*/ 659218 h 871870"/>
              <a:gd name="connsiteX12" fmla="*/ 53163 w 95693"/>
              <a:gd name="connsiteY12" fmla="*/ 765544 h 871870"/>
              <a:gd name="connsiteX13" fmla="*/ 63795 w 95693"/>
              <a:gd name="connsiteY13" fmla="*/ 808074 h 871870"/>
              <a:gd name="connsiteX14" fmla="*/ 63795 w 95693"/>
              <a:gd name="connsiteY14" fmla="*/ 871870 h 87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693" h="871870">
                <a:moveTo>
                  <a:pt x="0" y="0"/>
                </a:moveTo>
                <a:cubicBezTo>
                  <a:pt x="3544" y="81516"/>
                  <a:pt x="5543" y="163115"/>
                  <a:pt x="10633" y="244549"/>
                </a:cubicBezTo>
                <a:cubicBezTo>
                  <a:pt x="12635" y="276580"/>
                  <a:pt x="10297" y="310080"/>
                  <a:pt x="21265" y="340242"/>
                </a:cubicBezTo>
                <a:cubicBezTo>
                  <a:pt x="25632" y="352251"/>
                  <a:pt x="42764" y="354079"/>
                  <a:pt x="53163" y="361507"/>
                </a:cubicBezTo>
                <a:cubicBezTo>
                  <a:pt x="67583" y="371807"/>
                  <a:pt x="81516" y="382772"/>
                  <a:pt x="95693" y="393405"/>
                </a:cubicBezTo>
                <a:cubicBezTo>
                  <a:pt x="81516" y="407582"/>
                  <a:pt x="69477" y="424282"/>
                  <a:pt x="53163" y="435935"/>
                </a:cubicBezTo>
                <a:cubicBezTo>
                  <a:pt x="44043" y="442449"/>
                  <a:pt x="26277" y="436542"/>
                  <a:pt x="21265" y="446567"/>
                </a:cubicBezTo>
                <a:cubicBezTo>
                  <a:pt x="16253" y="456592"/>
                  <a:pt x="26886" y="468440"/>
                  <a:pt x="31898" y="478465"/>
                </a:cubicBezTo>
                <a:cubicBezTo>
                  <a:pt x="51136" y="516941"/>
                  <a:pt x="48270" y="508732"/>
                  <a:pt x="85061" y="520995"/>
                </a:cubicBezTo>
                <a:cubicBezTo>
                  <a:pt x="81517" y="542260"/>
                  <a:pt x="85124" y="566073"/>
                  <a:pt x="74428" y="584791"/>
                </a:cubicBezTo>
                <a:cubicBezTo>
                  <a:pt x="68867" y="594522"/>
                  <a:pt x="48091" y="585692"/>
                  <a:pt x="42530" y="595423"/>
                </a:cubicBezTo>
                <a:cubicBezTo>
                  <a:pt x="31834" y="614141"/>
                  <a:pt x="35442" y="637953"/>
                  <a:pt x="31898" y="659218"/>
                </a:cubicBezTo>
                <a:cubicBezTo>
                  <a:pt x="56594" y="758011"/>
                  <a:pt x="27092" y="635189"/>
                  <a:pt x="53163" y="765544"/>
                </a:cubicBezTo>
                <a:cubicBezTo>
                  <a:pt x="56029" y="779873"/>
                  <a:pt x="62341" y="793534"/>
                  <a:pt x="63795" y="808074"/>
                </a:cubicBezTo>
                <a:cubicBezTo>
                  <a:pt x="65911" y="829234"/>
                  <a:pt x="63795" y="850605"/>
                  <a:pt x="63795" y="8718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2D1B527-F033-42E5-B26F-FCFECB00707E}"/>
              </a:ext>
            </a:extLst>
          </p:cNvPr>
          <p:cNvSpPr/>
          <p:nvPr/>
        </p:nvSpPr>
        <p:spPr>
          <a:xfrm>
            <a:off x="2579177" y="3493645"/>
            <a:ext cx="119013" cy="1275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17319F2-9496-4251-8BDC-D3EF97082CCD}"/>
              </a:ext>
            </a:extLst>
          </p:cNvPr>
          <p:cNvCxnSpPr>
            <a:cxnSpLocks/>
          </p:cNvCxnSpPr>
          <p:nvPr/>
        </p:nvCxnSpPr>
        <p:spPr>
          <a:xfrm flipH="1">
            <a:off x="3127901" y="4859344"/>
            <a:ext cx="315" cy="496185"/>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7A11E22-AA2C-4A67-86C4-8F025ED3D9EB}"/>
              </a:ext>
            </a:extLst>
          </p:cNvPr>
          <p:cNvSpPr txBox="1"/>
          <p:nvPr/>
        </p:nvSpPr>
        <p:spPr>
          <a:xfrm>
            <a:off x="3037794" y="4400953"/>
            <a:ext cx="786083" cy="369332"/>
          </a:xfrm>
          <a:prstGeom prst="rect">
            <a:avLst/>
          </a:prstGeom>
          <a:noFill/>
        </p:spPr>
        <p:txBody>
          <a:bodyPr wrap="square" rtlCol="0">
            <a:spAutoFit/>
          </a:bodyPr>
          <a:lstStyle/>
          <a:p>
            <a:r>
              <a:rPr lang="en-IN" dirty="0"/>
              <a:t>Pin</a:t>
            </a:r>
            <a:endParaRPr lang="en-US" dirty="0"/>
          </a:p>
        </p:txBody>
      </p:sp>
      <p:sp>
        <p:nvSpPr>
          <p:cNvPr id="25" name="TextBox 24">
            <a:extLst>
              <a:ext uri="{FF2B5EF4-FFF2-40B4-BE49-F238E27FC236}">
                <a16:creationId xmlns:a16="http://schemas.microsoft.com/office/drawing/2014/main" id="{BD73D507-59A9-4383-89AD-25DD18DBB717}"/>
              </a:ext>
            </a:extLst>
          </p:cNvPr>
          <p:cNvSpPr txBox="1"/>
          <p:nvPr/>
        </p:nvSpPr>
        <p:spPr>
          <a:xfrm>
            <a:off x="2631391" y="4008737"/>
            <a:ext cx="590708" cy="369332"/>
          </a:xfrm>
          <a:prstGeom prst="rect">
            <a:avLst/>
          </a:prstGeom>
          <a:noFill/>
        </p:spPr>
        <p:txBody>
          <a:bodyPr wrap="square" rtlCol="0">
            <a:spAutoFit/>
          </a:bodyPr>
          <a:lstStyle/>
          <a:p>
            <a:r>
              <a:rPr lang="en-IN" dirty="0"/>
              <a:t>Ri</a:t>
            </a:r>
            <a:endParaRPr lang="en-US" dirty="0"/>
          </a:p>
        </p:txBody>
      </p:sp>
      <p:sp>
        <p:nvSpPr>
          <p:cNvPr id="26" name="TextBox 25">
            <a:extLst>
              <a:ext uri="{FF2B5EF4-FFF2-40B4-BE49-F238E27FC236}">
                <a16:creationId xmlns:a16="http://schemas.microsoft.com/office/drawing/2014/main" id="{68EB42C4-48D3-439D-9A3F-F288C75AD0DC}"/>
              </a:ext>
            </a:extLst>
          </p:cNvPr>
          <p:cNvSpPr txBox="1"/>
          <p:nvPr/>
        </p:nvSpPr>
        <p:spPr>
          <a:xfrm>
            <a:off x="2259029" y="3195913"/>
            <a:ext cx="778765" cy="369332"/>
          </a:xfrm>
          <a:prstGeom prst="rect">
            <a:avLst/>
          </a:prstGeom>
          <a:noFill/>
        </p:spPr>
        <p:txBody>
          <a:bodyPr wrap="square" rtlCol="0">
            <a:spAutoFit/>
          </a:bodyPr>
          <a:lstStyle/>
          <a:p>
            <a:r>
              <a:rPr lang="en-IN" dirty="0">
                <a:latin typeface="Gill Sans" panose="020B0604020202020204" charset="0"/>
                <a:cs typeface="Gill Sans" panose="020B0604020202020204" charset="0"/>
              </a:rPr>
              <a:t>+</a:t>
            </a:r>
            <a:r>
              <a:rPr lang="en-IN" dirty="0" err="1">
                <a:latin typeface="Gill Sans" panose="020B0604020202020204" charset="0"/>
                <a:cs typeface="Gill Sans" panose="020B0604020202020204" charset="0"/>
              </a:rPr>
              <a:t>Vcc</a:t>
            </a:r>
            <a:endParaRPr lang="en-US" dirty="0">
              <a:latin typeface="Gill Sans" panose="020B0604020202020204" charset="0"/>
              <a:cs typeface="Gill Sans" panose="020B0604020202020204" charset="0"/>
            </a:endParaRPr>
          </a:p>
        </p:txBody>
      </p:sp>
      <p:sp>
        <p:nvSpPr>
          <p:cNvPr id="27" name="TextBox 26">
            <a:extLst>
              <a:ext uri="{FF2B5EF4-FFF2-40B4-BE49-F238E27FC236}">
                <a16:creationId xmlns:a16="http://schemas.microsoft.com/office/drawing/2014/main" id="{FC8F9C0A-EF24-4D81-B545-DC308757E7C1}"/>
              </a:ext>
            </a:extLst>
          </p:cNvPr>
          <p:cNvSpPr txBox="1"/>
          <p:nvPr/>
        </p:nvSpPr>
        <p:spPr>
          <a:xfrm>
            <a:off x="850923" y="5539659"/>
            <a:ext cx="4078887" cy="369332"/>
          </a:xfrm>
          <a:prstGeom prst="rect">
            <a:avLst/>
          </a:prstGeom>
          <a:noFill/>
        </p:spPr>
        <p:txBody>
          <a:bodyPr wrap="square" rtlCol="0">
            <a:spAutoFit/>
          </a:bodyPr>
          <a:lstStyle/>
          <a:p>
            <a:pPr algn="ctr"/>
            <a:r>
              <a:rPr lang="en-IN" b="1" dirty="0">
                <a:latin typeface="Gill Sans" panose="020B0604020202020204" charset="0"/>
                <a:cs typeface="Gill Sans" panose="020B0604020202020204" charset="0"/>
              </a:rPr>
              <a:t>Input Buffer with Pull-up Register</a:t>
            </a:r>
            <a:endParaRPr lang="en-US" b="1" dirty="0">
              <a:latin typeface="Gill Sans" panose="020B0604020202020204" charset="0"/>
              <a:cs typeface="Gill Sans" panose="020B0604020202020204" charset="0"/>
            </a:endParaRPr>
          </a:p>
        </p:txBody>
      </p:sp>
      <p:cxnSp>
        <p:nvCxnSpPr>
          <p:cNvPr id="28" name="Straight Connector 27">
            <a:extLst>
              <a:ext uri="{FF2B5EF4-FFF2-40B4-BE49-F238E27FC236}">
                <a16:creationId xmlns:a16="http://schemas.microsoft.com/office/drawing/2014/main" id="{5889E271-76A6-41DD-96C6-F77BDEF344FA}"/>
              </a:ext>
            </a:extLst>
          </p:cNvPr>
          <p:cNvCxnSpPr/>
          <p:nvPr/>
        </p:nvCxnSpPr>
        <p:spPr>
          <a:xfrm flipH="1">
            <a:off x="6801350" y="3641974"/>
            <a:ext cx="2203443" cy="0"/>
          </a:xfrm>
          <a:prstGeom prst="line">
            <a:avLst/>
          </a:prstGeom>
        </p:spPr>
        <p:style>
          <a:lnRef idx="2">
            <a:schemeClr val="accent1"/>
          </a:lnRef>
          <a:fillRef idx="0">
            <a:schemeClr val="accent1"/>
          </a:fillRef>
          <a:effectRef idx="1">
            <a:schemeClr val="accent1"/>
          </a:effectRef>
          <a:fontRef idx="minor">
            <a:schemeClr val="tx1"/>
          </a:fontRef>
        </p:style>
      </p:cxnSp>
      <p:sp>
        <p:nvSpPr>
          <p:cNvPr id="29" name="Isosceles Triangle 28">
            <a:extLst>
              <a:ext uri="{FF2B5EF4-FFF2-40B4-BE49-F238E27FC236}">
                <a16:creationId xmlns:a16="http://schemas.microsoft.com/office/drawing/2014/main" id="{C40DB5B4-CA2D-4AAF-B9F3-A5336C7A32F6}"/>
              </a:ext>
            </a:extLst>
          </p:cNvPr>
          <p:cNvSpPr/>
          <p:nvPr/>
        </p:nvSpPr>
        <p:spPr>
          <a:xfrm rot="16012033">
            <a:off x="7431819" y="3507297"/>
            <a:ext cx="255165" cy="26935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E80025F-4BE8-4C58-A8E6-7BF894D444D2}"/>
              </a:ext>
            </a:extLst>
          </p:cNvPr>
          <p:cNvSpPr/>
          <p:nvPr/>
        </p:nvSpPr>
        <p:spPr>
          <a:xfrm>
            <a:off x="8409375" y="3563931"/>
            <a:ext cx="282901" cy="134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9291DF3-6A19-42BE-BEC3-0963B420EE03}"/>
              </a:ext>
            </a:extLst>
          </p:cNvPr>
          <p:cNvSpPr/>
          <p:nvPr/>
        </p:nvSpPr>
        <p:spPr>
          <a:xfrm>
            <a:off x="9004794" y="3592286"/>
            <a:ext cx="60959" cy="1347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BC5E0245-E175-4DE2-92FA-9AACED7AF79A}"/>
              </a:ext>
            </a:extLst>
          </p:cNvPr>
          <p:cNvCxnSpPr>
            <a:cxnSpLocks/>
          </p:cNvCxnSpPr>
          <p:nvPr/>
        </p:nvCxnSpPr>
        <p:spPr>
          <a:xfrm flipH="1">
            <a:off x="8550825" y="3046545"/>
            <a:ext cx="315" cy="496185"/>
          </a:xfrm>
          <a:prstGeom prst="line">
            <a:avLst/>
          </a:prstGeom>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ADD259FB-F6C3-42C4-8DCE-42ABC4C47E87}"/>
              </a:ext>
            </a:extLst>
          </p:cNvPr>
          <p:cNvSpPr/>
          <p:nvPr/>
        </p:nvSpPr>
        <p:spPr>
          <a:xfrm>
            <a:off x="7275231" y="3606463"/>
            <a:ext cx="156897" cy="78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245567C2-F31D-47E6-82C0-3C639A5FC276}"/>
              </a:ext>
            </a:extLst>
          </p:cNvPr>
          <p:cNvSpPr/>
          <p:nvPr/>
        </p:nvSpPr>
        <p:spPr>
          <a:xfrm rot="286289">
            <a:off x="8026776" y="3660279"/>
            <a:ext cx="155589" cy="1352715"/>
          </a:xfrm>
          <a:custGeom>
            <a:avLst/>
            <a:gdLst>
              <a:gd name="connsiteX0" fmla="*/ 0 w 95693"/>
              <a:gd name="connsiteY0" fmla="*/ 0 h 871870"/>
              <a:gd name="connsiteX1" fmla="*/ 10633 w 95693"/>
              <a:gd name="connsiteY1" fmla="*/ 244549 h 871870"/>
              <a:gd name="connsiteX2" fmla="*/ 21265 w 95693"/>
              <a:gd name="connsiteY2" fmla="*/ 340242 h 871870"/>
              <a:gd name="connsiteX3" fmla="*/ 53163 w 95693"/>
              <a:gd name="connsiteY3" fmla="*/ 361507 h 871870"/>
              <a:gd name="connsiteX4" fmla="*/ 95693 w 95693"/>
              <a:gd name="connsiteY4" fmla="*/ 393405 h 871870"/>
              <a:gd name="connsiteX5" fmla="*/ 53163 w 95693"/>
              <a:gd name="connsiteY5" fmla="*/ 435935 h 871870"/>
              <a:gd name="connsiteX6" fmla="*/ 21265 w 95693"/>
              <a:gd name="connsiteY6" fmla="*/ 446567 h 871870"/>
              <a:gd name="connsiteX7" fmla="*/ 31898 w 95693"/>
              <a:gd name="connsiteY7" fmla="*/ 478465 h 871870"/>
              <a:gd name="connsiteX8" fmla="*/ 85061 w 95693"/>
              <a:gd name="connsiteY8" fmla="*/ 520995 h 871870"/>
              <a:gd name="connsiteX9" fmla="*/ 74428 w 95693"/>
              <a:gd name="connsiteY9" fmla="*/ 584791 h 871870"/>
              <a:gd name="connsiteX10" fmla="*/ 42530 w 95693"/>
              <a:gd name="connsiteY10" fmla="*/ 595423 h 871870"/>
              <a:gd name="connsiteX11" fmla="*/ 31898 w 95693"/>
              <a:gd name="connsiteY11" fmla="*/ 659218 h 871870"/>
              <a:gd name="connsiteX12" fmla="*/ 53163 w 95693"/>
              <a:gd name="connsiteY12" fmla="*/ 765544 h 871870"/>
              <a:gd name="connsiteX13" fmla="*/ 63795 w 95693"/>
              <a:gd name="connsiteY13" fmla="*/ 808074 h 871870"/>
              <a:gd name="connsiteX14" fmla="*/ 63795 w 95693"/>
              <a:gd name="connsiteY14" fmla="*/ 871870 h 87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693" h="871870">
                <a:moveTo>
                  <a:pt x="0" y="0"/>
                </a:moveTo>
                <a:cubicBezTo>
                  <a:pt x="3544" y="81516"/>
                  <a:pt x="5543" y="163115"/>
                  <a:pt x="10633" y="244549"/>
                </a:cubicBezTo>
                <a:cubicBezTo>
                  <a:pt x="12635" y="276580"/>
                  <a:pt x="10297" y="310080"/>
                  <a:pt x="21265" y="340242"/>
                </a:cubicBezTo>
                <a:cubicBezTo>
                  <a:pt x="25632" y="352251"/>
                  <a:pt x="42764" y="354079"/>
                  <a:pt x="53163" y="361507"/>
                </a:cubicBezTo>
                <a:cubicBezTo>
                  <a:pt x="67583" y="371807"/>
                  <a:pt x="81516" y="382772"/>
                  <a:pt x="95693" y="393405"/>
                </a:cubicBezTo>
                <a:cubicBezTo>
                  <a:pt x="81516" y="407582"/>
                  <a:pt x="69477" y="424282"/>
                  <a:pt x="53163" y="435935"/>
                </a:cubicBezTo>
                <a:cubicBezTo>
                  <a:pt x="44043" y="442449"/>
                  <a:pt x="26277" y="436542"/>
                  <a:pt x="21265" y="446567"/>
                </a:cubicBezTo>
                <a:cubicBezTo>
                  <a:pt x="16253" y="456592"/>
                  <a:pt x="26886" y="468440"/>
                  <a:pt x="31898" y="478465"/>
                </a:cubicBezTo>
                <a:cubicBezTo>
                  <a:pt x="51136" y="516941"/>
                  <a:pt x="48270" y="508732"/>
                  <a:pt x="85061" y="520995"/>
                </a:cubicBezTo>
                <a:cubicBezTo>
                  <a:pt x="81517" y="542260"/>
                  <a:pt x="85124" y="566073"/>
                  <a:pt x="74428" y="584791"/>
                </a:cubicBezTo>
                <a:cubicBezTo>
                  <a:pt x="68867" y="594522"/>
                  <a:pt x="48091" y="585692"/>
                  <a:pt x="42530" y="595423"/>
                </a:cubicBezTo>
                <a:cubicBezTo>
                  <a:pt x="31834" y="614141"/>
                  <a:pt x="35442" y="637953"/>
                  <a:pt x="31898" y="659218"/>
                </a:cubicBezTo>
                <a:cubicBezTo>
                  <a:pt x="56594" y="758011"/>
                  <a:pt x="27092" y="635189"/>
                  <a:pt x="53163" y="765544"/>
                </a:cubicBezTo>
                <a:cubicBezTo>
                  <a:pt x="56029" y="779873"/>
                  <a:pt x="62341" y="793534"/>
                  <a:pt x="63795" y="808074"/>
                </a:cubicBezTo>
                <a:cubicBezTo>
                  <a:pt x="65911" y="829234"/>
                  <a:pt x="63795" y="850605"/>
                  <a:pt x="63795" y="8718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44BB632A-730A-4548-9CBB-22695E106890}"/>
              </a:ext>
            </a:extLst>
          </p:cNvPr>
          <p:cNvCxnSpPr>
            <a:cxnSpLocks/>
          </p:cNvCxnSpPr>
          <p:nvPr/>
        </p:nvCxnSpPr>
        <p:spPr>
          <a:xfrm flipH="1">
            <a:off x="8569724" y="3689237"/>
            <a:ext cx="315" cy="496185"/>
          </a:xfrm>
          <a:prstGeom prst="line">
            <a:avLst/>
          </a:prstGeom>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A8E99D89-BC49-4A1A-950D-64A81DC61AFF}"/>
              </a:ext>
            </a:extLst>
          </p:cNvPr>
          <p:cNvSpPr txBox="1"/>
          <p:nvPr/>
        </p:nvSpPr>
        <p:spPr>
          <a:xfrm>
            <a:off x="8479617" y="3230847"/>
            <a:ext cx="786083" cy="369332"/>
          </a:xfrm>
          <a:prstGeom prst="rect">
            <a:avLst/>
          </a:prstGeom>
          <a:noFill/>
        </p:spPr>
        <p:txBody>
          <a:bodyPr wrap="square" rtlCol="0">
            <a:spAutoFit/>
          </a:bodyPr>
          <a:lstStyle/>
          <a:p>
            <a:r>
              <a:rPr lang="en-IN" dirty="0"/>
              <a:t>Pin</a:t>
            </a:r>
            <a:endParaRPr lang="en-US" dirty="0"/>
          </a:p>
        </p:txBody>
      </p:sp>
      <p:sp>
        <p:nvSpPr>
          <p:cNvPr id="38" name="TextBox 37">
            <a:extLst>
              <a:ext uri="{FF2B5EF4-FFF2-40B4-BE49-F238E27FC236}">
                <a16:creationId xmlns:a16="http://schemas.microsoft.com/office/drawing/2014/main" id="{E5195AE8-4D2E-4C37-95C8-CDBFB33BFDE2}"/>
              </a:ext>
            </a:extLst>
          </p:cNvPr>
          <p:cNvSpPr txBox="1"/>
          <p:nvPr/>
        </p:nvSpPr>
        <p:spPr>
          <a:xfrm>
            <a:off x="8073214" y="4227956"/>
            <a:ext cx="590708" cy="369332"/>
          </a:xfrm>
          <a:prstGeom prst="rect">
            <a:avLst/>
          </a:prstGeom>
          <a:noFill/>
        </p:spPr>
        <p:txBody>
          <a:bodyPr wrap="square" rtlCol="0">
            <a:spAutoFit/>
          </a:bodyPr>
          <a:lstStyle/>
          <a:p>
            <a:r>
              <a:rPr lang="en-IN" dirty="0"/>
              <a:t>Ri</a:t>
            </a:r>
            <a:endParaRPr lang="en-US" dirty="0"/>
          </a:p>
        </p:txBody>
      </p:sp>
      <p:sp>
        <p:nvSpPr>
          <p:cNvPr id="39" name="TextBox 38">
            <a:extLst>
              <a:ext uri="{FF2B5EF4-FFF2-40B4-BE49-F238E27FC236}">
                <a16:creationId xmlns:a16="http://schemas.microsoft.com/office/drawing/2014/main" id="{0149989E-E915-4985-B685-080C6DC265FF}"/>
              </a:ext>
            </a:extLst>
          </p:cNvPr>
          <p:cNvSpPr txBox="1"/>
          <p:nvPr/>
        </p:nvSpPr>
        <p:spPr>
          <a:xfrm>
            <a:off x="7687600" y="5192152"/>
            <a:ext cx="778765" cy="369332"/>
          </a:xfrm>
          <a:prstGeom prst="rect">
            <a:avLst/>
          </a:prstGeom>
          <a:noFill/>
        </p:spPr>
        <p:txBody>
          <a:bodyPr wrap="square" rtlCol="0">
            <a:spAutoFit/>
          </a:bodyPr>
          <a:lstStyle/>
          <a:p>
            <a:r>
              <a:rPr lang="en-IN" dirty="0">
                <a:latin typeface="Gill Sans" panose="020B0604020202020204" charset="0"/>
                <a:cs typeface="Gill Sans" panose="020B0604020202020204" charset="0"/>
              </a:rPr>
              <a:t>GND</a:t>
            </a:r>
            <a:endParaRPr lang="en-US" dirty="0">
              <a:latin typeface="Gill Sans" panose="020B0604020202020204" charset="0"/>
              <a:cs typeface="Gill Sans" panose="020B0604020202020204" charset="0"/>
            </a:endParaRPr>
          </a:p>
        </p:txBody>
      </p:sp>
      <p:sp>
        <p:nvSpPr>
          <p:cNvPr id="40" name="TextBox 39">
            <a:extLst>
              <a:ext uri="{FF2B5EF4-FFF2-40B4-BE49-F238E27FC236}">
                <a16:creationId xmlns:a16="http://schemas.microsoft.com/office/drawing/2014/main" id="{3086F87A-8426-4F8D-9462-F55AD91C0DDF}"/>
              </a:ext>
            </a:extLst>
          </p:cNvPr>
          <p:cNvSpPr txBox="1"/>
          <p:nvPr/>
        </p:nvSpPr>
        <p:spPr>
          <a:xfrm>
            <a:off x="6164734" y="5508330"/>
            <a:ext cx="4243587" cy="369332"/>
          </a:xfrm>
          <a:prstGeom prst="rect">
            <a:avLst/>
          </a:prstGeom>
          <a:noFill/>
        </p:spPr>
        <p:txBody>
          <a:bodyPr wrap="square" rtlCol="0">
            <a:spAutoFit/>
          </a:bodyPr>
          <a:lstStyle/>
          <a:p>
            <a:pPr algn="ctr"/>
            <a:r>
              <a:rPr lang="en-IN" b="1" dirty="0">
                <a:latin typeface="Gill Sans" panose="020B0604020202020204" charset="0"/>
                <a:cs typeface="Gill Sans" panose="020B0604020202020204" charset="0"/>
              </a:rPr>
              <a:t>Input Buffer with Pull-down Register</a:t>
            </a:r>
            <a:endParaRPr lang="en-US" b="1" dirty="0">
              <a:latin typeface="Gill Sans" panose="020B0604020202020204" charset="0"/>
              <a:cs typeface="Gill Sans" panose="020B0604020202020204" charset="0"/>
            </a:endParaRPr>
          </a:p>
        </p:txBody>
      </p:sp>
      <p:cxnSp>
        <p:nvCxnSpPr>
          <p:cNvPr id="41" name="Straight Connector 40">
            <a:extLst>
              <a:ext uri="{FF2B5EF4-FFF2-40B4-BE49-F238E27FC236}">
                <a16:creationId xmlns:a16="http://schemas.microsoft.com/office/drawing/2014/main" id="{F5A900B8-5110-4D67-948C-0555C13810DE}"/>
              </a:ext>
            </a:extLst>
          </p:cNvPr>
          <p:cNvCxnSpPr/>
          <p:nvPr/>
        </p:nvCxnSpPr>
        <p:spPr>
          <a:xfrm>
            <a:off x="7922632" y="4984056"/>
            <a:ext cx="2720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18B2887-86A6-4C42-94DD-7AF39B49CFCA}"/>
              </a:ext>
            </a:extLst>
          </p:cNvPr>
          <p:cNvCxnSpPr>
            <a:cxnSpLocks/>
          </p:cNvCxnSpPr>
          <p:nvPr/>
        </p:nvCxnSpPr>
        <p:spPr>
          <a:xfrm>
            <a:off x="7993513" y="5088015"/>
            <a:ext cx="1349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E7A0C5F-4509-413A-85FF-B33E8E37512F}"/>
              </a:ext>
            </a:extLst>
          </p:cNvPr>
          <p:cNvCxnSpPr>
            <a:cxnSpLocks/>
          </p:cNvCxnSpPr>
          <p:nvPr/>
        </p:nvCxnSpPr>
        <p:spPr>
          <a:xfrm>
            <a:off x="8016110" y="5177800"/>
            <a:ext cx="88747"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Arrow: Right 43">
            <a:extLst>
              <a:ext uri="{FF2B5EF4-FFF2-40B4-BE49-F238E27FC236}">
                <a16:creationId xmlns:a16="http://schemas.microsoft.com/office/drawing/2014/main" id="{D81D1A72-CBF5-4280-999B-4FADF154AACC}"/>
              </a:ext>
            </a:extLst>
          </p:cNvPr>
          <p:cNvSpPr/>
          <p:nvPr/>
        </p:nvSpPr>
        <p:spPr>
          <a:xfrm rot="10800000">
            <a:off x="2419378" y="4946836"/>
            <a:ext cx="438587" cy="609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585583DD-3606-415E-8A41-7F19A70F7F2E}"/>
              </a:ext>
            </a:extLst>
          </p:cNvPr>
          <p:cNvSpPr/>
          <p:nvPr/>
        </p:nvSpPr>
        <p:spPr>
          <a:xfrm rot="10800000">
            <a:off x="7765058" y="3405149"/>
            <a:ext cx="582887" cy="609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519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A9595-8947-4A18-A0EA-17BEA5EF6C15}"/>
              </a:ext>
            </a:extLst>
          </p:cNvPr>
          <p:cNvSpPr txBox="1"/>
          <p:nvPr/>
        </p:nvSpPr>
        <p:spPr>
          <a:xfrm>
            <a:off x="0" y="198463"/>
            <a:ext cx="12192000" cy="1405641"/>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GPIO Output Mode with </a:t>
            </a:r>
          </a:p>
          <a:p>
            <a:pPr algn="ctr"/>
            <a:r>
              <a:rPr lang="en-IN" sz="4267" b="1" dirty="0">
                <a:latin typeface="Helvetica Neue" panose="020B0604020202020204" charset="0"/>
                <a:cs typeface="Helvetica Neue" panose="020B0604020202020204" charset="0"/>
              </a:rPr>
              <a:t>Open-Drain State</a:t>
            </a:r>
            <a:endParaRPr lang="en-US" sz="4267" b="1" dirty="0">
              <a:latin typeface="Helvetica Neue" panose="020B0604020202020204" charset="0"/>
              <a:cs typeface="Helvetica Neue" panose="020B0604020202020204" charset="0"/>
            </a:endParaRPr>
          </a:p>
        </p:txBody>
      </p:sp>
      <p:sp>
        <p:nvSpPr>
          <p:cNvPr id="3" name="TextBox 2">
            <a:extLst>
              <a:ext uri="{FF2B5EF4-FFF2-40B4-BE49-F238E27FC236}">
                <a16:creationId xmlns:a16="http://schemas.microsoft.com/office/drawing/2014/main" id="{45E36C08-5673-4905-8A55-4D6B331849DA}"/>
              </a:ext>
            </a:extLst>
          </p:cNvPr>
          <p:cNvSpPr txBox="1"/>
          <p:nvPr/>
        </p:nvSpPr>
        <p:spPr>
          <a:xfrm>
            <a:off x="1077432" y="1644503"/>
            <a:ext cx="6280299" cy="2554545"/>
          </a:xfrm>
          <a:prstGeom prst="rect">
            <a:avLst/>
          </a:prstGeom>
          <a:noFill/>
        </p:spPr>
        <p:txBody>
          <a:bodyPr wrap="square" rtlCol="0">
            <a:spAutoFit/>
          </a:bodyPr>
          <a:lstStyle/>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In open-drain state PMOS transistor will be turned off.</a:t>
            </a:r>
          </a:p>
          <a:p>
            <a:pPr marL="457189" indent="-457189">
              <a:buFont typeface="Arial" panose="020B0604020202020204" pitchFamily="34" charset="0"/>
              <a:buChar char="•"/>
            </a:pPr>
            <a:endParaRPr lang="en-IN" sz="3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So, output state can be either </a:t>
            </a:r>
            <a:r>
              <a:rPr lang="en-IN" sz="3200" b="1" i="1" dirty="0">
                <a:latin typeface="Gill Sans" panose="020B0604020202020204" charset="0"/>
                <a:cs typeface="Gill Sans" panose="020B0604020202020204" charset="0"/>
              </a:rPr>
              <a:t>GND or floating</a:t>
            </a:r>
            <a:r>
              <a:rPr lang="en-IN" sz="3200" dirty="0">
                <a:latin typeface="Gill Sans" panose="020B0604020202020204" charset="0"/>
                <a:cs typeface="Gill Sans" panose="020B0604020202020204" charset="0"/>
              </a:rPr>
              <a:t> </a:t>
            </a:r>
            <a:endParaRPr lang="en-US" sz="3200" dirty="0">
              <a:latin typeface="Gill Sans" panose="020B0604020202020204" charset="0"/>
              <a:cs typeface="Gill Sans" panose="020B0604020202020204" charset="0"/>
            </a:endParaRPr>
          </a:p>
        </p:txBody>
      </p:sp>
      <p:cxnSp>
        <p:nvCxnSpPr>
          <p:cNvPr id="48" name="Straight Connector 47">
            <a:extLst>
              <a:ext uri="{FF2B5EF4-FFF2-40B4-BE49-F238E27FC236}">
                <a16:creationId xmlns:a16="http://schemas.microsoft.com/office/drawing/2014/main" id="{D75DB70C-91AA-40F6-A606-1CE52562377A}"/>
              </a:ext>
            </a:extLst>
          </p:cNvPr>
          <p:cNvCxnSpPr>
            <a:cxnSpLocks/>
          </p:cNvCxnSpPr>
          <p:nvPr/>
        </p:nvCxnSpPr>
        <p:spPr>
          <a:xfrm>
            <a:off x="6839373" y="3974725"/>
            <a:ext cx="10287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C15B2289-C307-42D3-9D9F-7E9A2F74C6D9}"/>
              </a:ext>
            </a:extLst>
          </p:cNvPr>
          <p:cNvCxnSpPr>
            <a:cxnSpLocks/>
          </p:cNvCxnSpPr>
          <p:nvPr/>
        </p:nvCxnSpPr>
        <p:spPr>
          <a:xfrm flipH="1">
            <a:off x="7855506" y="3099988"/>
            <a:ext cx="12596" cy="872051"/>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33D3CB7-07EA-4AB4-AB1C-9EF8E6B1EFEA}"/>
              </a:ext>
            </a:extLst>
          </p:cNvPr>
          <p:cNvCxnSpPr>
            <a:cxnSpLocks/>
          </p:cNvCxnSpPr>
          <p:nvPr/>
        </p:nvCxnSpPr>
        <p:spPr>
          <a:xfrm>
            <a:off x="7868105" y="3099987"/>
            <a:ext cx="774996"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11FFAD1-0FD9-41B7-ADDC-C4B45F627897}"/>
              </a:ext>
            </a:extLst>
          </p:cNvPr>
          <p:cNvCxnSpPr>
            <a:cxnSpLocks/>
          </p:cNvCxnSpPr>
          <p:nvPr/>
        </p:nvCxnSpPr>
        <p:spPr>
          <a:xfrm>
            <a:off x="7841329" y="4831121"/>
            <a:ext cx="774996" cy="0"/>
          </a:xfrm>
          <a:prstGeom prst="line">
            <a:avLst/>
          </a:prstGeom>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D962F896-BCDA-4363-9046-5EC117751283}"/>
              </a:ext>
            </a:extLst>
          </p:cNvPr>
          <p:cNvSpPr/>
          <p:nvPr/>
        </p:nvSpPr>
        <p:spPr>
          <a:xfrm>
            <a:off x="8630502" y="2986579"/>
            <a:ext cx="81279" cy="2268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53" name="Straight Connector 52">
            <a:extLst>
              <a:ext uri="{FF2B5EF4-FFF2-40B4-BE49-F238E27FC236}">
                <a16:creationId xmlns:a16="http://schemas.microsoft.com/office/drawing/2014/main" id="{3F5FC1ED-453E-4CBE-A2FA-86ACC160EBF6}"/>
              </a:ext>
            </a:extLst>
          </p:cNvPr>
          <p:cNvCxnSpPr>
            <a:cxnSpLocks/>
          </p:cNvCxnSpPr>
          <p:nvPr/>
        </p:nvCxnSpPr>
        <p:spPr>
          <a:xfrm>
            <a:off x="8711779" y="2816454"/>
            <a:ext cx="0" cy="554457"/>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A96E12A-A454-48FE-AB6B-5F474C77981A}"/>
              </a:ext>
            </a:extLst>
          </p:cNvPr>
          <p:cNvCxnSpPr>
            <a:cxnSpLocks/>
          </p:cNvCxnSpPr>
          <p:nvPr/>
        </p:nvCxnSpPr>
        <p:spPr>
          <a:xfrm>
            <a:off x="8628289" y="4541318"/>
            <a:ext cx="0" cy="516631"/>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08F2AE50-741A-4314-A431-4DAD312D0852}"/>
              </a:ext>
            </a:extLst>
          </p:cNvPr>
          <p:cNvCxnSpPr>
            <a:cxnSpLocks/>
          </p:cNvCxnSpPr>
          <p:nvPr/>
        </p:nvCxnSpPr>
        <p:spPr>
          <a:xfrm>
            <a:off x="8982712" y="2627427"/>
            <a:ext cx="0" cy="837999"/>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B71C782-1D3B-40F1-964A-D3B7F75521E3}"/>
              </a:ext>
            </a:extLst>
          </p:cNvPr>
          <p:cNvCxnSpPr>
            <a:cxnSpLocks/>
          </p:cNvCxnSpPr>
          <p:nvPr/>
        </p:nvCxnSpPr>
        <p:spPr>
          <a:xfrm>
            <a:off x="8899223" y="4390071"/>
            <a:ext cx="0" cy="825391"/>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F5B55A6C-104B-4AA1-AB0A-1058578B4134}"/>
              </a:ext>
            </a:extLst>
          </p:cNvPr>
          <p:cNvCxnSpPr>
            <a:cxnSpLocks/>
          </p:cNvCxnSpPr>
          <p:nvPr/>
        </p:nvCxnSpPr>
        <p:spPr>
          <a:xfrm>
            <a:off x="8982714" y="2803841"/>
            <a:ext cx="66220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F4AA9BB6-2D67-45A7-91BD-0EFCBA5AB853}"/>
              </a:ext>
            </a:extLst>
          </p:cNvPr>
          <p:cNvCxnSpPr>
            <a:cxnSpLocks/>
          </p:cNvCxnSpPr>
          <p:nvPr/>
        </p:nvCxnSpPr>
        <p:spPr>
          <a:xfrm>
            <a:off x="8989010" y="3334685"/>
            <a:ext cx="655913"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3388E0F2-A06D-4933-A51F-9A86E6F506DD}"/>
              </a:ext>
            </a:extLst>
          </p:cNvPr>
          <p:cNvCxnSpPr>
            <a:cxnSpLocks/>
          </p:cNvCxnSpPr>
          <p:nvPr/>
        </p:nvCxnSpPr>
        <p:spPr>
          <a:xfrm>
            <a:off x="8899225" y="4516080"/>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24CB7AF-20D4-413C-8B58-D5BA7AAF4697}"/>
              </a:ext>
            </a:extLst>
          </p:cNvPr>
          <p:cNvCxnSpPr>
            <a:cxnSpLocks/>
          </p:cNvCxnSpPr>
          <p:nvPr/>
        </p:nvCxnSpPr>
        <p:spPr>
          <a:xfrm>
            <a:off x="8867708" y="5032751"/>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322C4347-A995-4365-BDFB-80F97216EE89}"/>
              </a:ext>
            </a:extLst>
          </p:cNvPr>
          <p:cNvCxnSpPr>
            <a:cxnSpLocks/>
          </p:cNvCxnSpPr>
          <p:nvPr/>
        </p:nvCxnSpPr>
        <p:spPr>
          <a:xfrm>
            <a:off x="9644921" y="1965847"/>
            <a:ext cx="0" cy="850607"/>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FBDDCC09-5FBF-49F8-B3FA-980683527F71}"/>
              </a:ext>
            </a:extLst>
          </p:cNvPr>
          <p:cNvCxnSpPr>
            <a:cxnSpLocks/>
          </p:cNvCxnSpPr>
          <p:nvPr/>
        </p:nvCxnSpPr>
        <p:spPr>
          <a:xfrm flipH="1">
            <a:off x="9632327" y="3924049"/>
            <a:ext cx="12595" cy="608204"/>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2F22D68C-178B-4E49-B5FC-40743CCF9840}"/>
              </a:ext>
            </a:extLst>
          </p:cNvPr>
          <p:cNvCxnSpPr>
            <a:cxnSpLocks/>
          </p:cNvCxnSpPr>
          <p:nvPr/>
        </p:nvCxnSpPr>
        <p:spPr>
          <a:xfrm>
            <a:off x="9624439" y="5007563"/>
            <a:ext cx="0" cy="850607"/>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E6A35E6-739F-463C-AD8B-65C35A3718A1}"/>
              </a:ext>
            </a:extLst>
          </p:cNvPr>
          <p:cNvCxnSpPr>
            <a:cxnSpLocks/>
          </p:cNvCxnSpPr>
          <p:nvPr/>
        </p:nvCxnSpPr>
        <p:spPr>
          <a:xfrm flipV="1">
            <a:off x="9309407" y="5858171"/>
            <a:ext cx="567071" cy="25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DF0D83B-5D5A-47AE-A213-029113FEA81C}"/>
              </a:ext>
            </a:extLst>
          </p:cNvPr>
          <p:cNvCxnSpPr>
            <a:cxnSpLocks/>
          </p:cNvCxnSpPr>
          <p:nvPr/>
        </p:nvCxnSpPr>
        <p:spPr>
          <a:xfrm>
            <a:off x="9485812" y="5990496"/>
            <a:ext cx="2709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E6B2AAB-E89F-4A0A-9E71-3D7387368830}"/>
              </a:ext>
            </a:extLst>
          </p:cNvPr>
          <p:cNvCxnSpPr>
            <a:cxnSpLocks/>
          </p:cNvCxnSpPr>
          <p:nvPr/>
        </p:nvCxnSpPr>
        <p:spPr>
          <a:xfrm>
            <a:off x="9536239" y="6135393"/>
            <a:ext cx="182719"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F98CCB9-A44D-4DD9-B4A9-D12CB16912D4}"/>
              </a:ext>
            </a:extLst>
          </p:cNvPr>
          <p:cNvSpPr/>
          <p:nvPr/>
        </p:nvSpPr>
        <p:spPr>
          <a:xfrm>
            <a:off x="10434089" y="3841756"/>
            <a:ext cx="472553" cy="2375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68" name="Straight Connector 67">
            <a:extLst>
              <a:ext uri="{FF2B5EF4-FFF2-40B4-BE49-F238E27FC236}">
                <a16:creationId xmlns:a16="http://schemas.microsoft.com/office/drawing/2014/main" id="{3ECE5D80-0ED5-4233-849F-81940B2DC8C6}"/>
              </a:ext>
            </a:extLst>
          </p:cNvPr>
          <p:cNvCxnSpPr>
            <a:cxnSpLocks/>
          </p:cNvCxnSpPr>
          <p:nvPr/>
        </p:nvCxnSpPr>
        <p:spPr>
          <a:xfrm flipV="1">
            <a:off x="9632316" y="3938227"/>
            <a:ext cx="825400" cy="8152"/>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DB55FCF-9CD0-4BBB-8504-FB80839F03E3}"/>
              </a:ext>
            </a:extLst>
          </p:cNvPr>
          <p:cNvCxnSpPr>
            <a:cxnSpLocks/>
          </p:cNvCxnSpPr>
          <p:nvPr/>
        </p:nvCxnSpPr>
        <p:spPr>
          <a:xfrm>
            <a:off x="10900346" y="3962114"/>
            <a:ext cx="970316" cy="12612"/>
          </a:xfrm>
          <a:prstGeom prst="line">
            <a:avLst/>
          </a:prstGeom>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0EE98DB7-F28C-4128-A2DE-74A688C9EFF8}"/>
              </a:ext>
            </a:extLst>
          </p:cNvPr>
          <p:cNvSpPr/>
          <p:nvPr/>
        </p:nvSpPr>
        <p:spPr>
          <a:xfrm>
            <a:off x="11856485" y="3912644"/>
            <a:ext cx="201623" cy="1187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71" name="TextBox 70">
            <a:extLst>
              <a:ext uri="{FF2B5EF4-FFF2-40B4-BE49-F238E27FC236}">
                <a16:creationId xmlns:a16="http://schemas.microsoft.com/office/drawing/2014/main" id="{1BF76CC7-86B4-4138-B8C3-870F5518EAD9}"/>
              </a:ext>
            </a:extLst>
          </p:cNvPr>
          <p:cNvSpPr txBox="1"/>
          <p:nvPr/>
        </p:nvSpPr>
        <p:spPr>
          <a:xfrm>
            <a:off x="9654363" y="3482751"/>
            <a:ext cx="869499"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Drain</a:t>
            </a:r>
            <a:endParaRPr lang="en-US" sz="1423" b="1" dirty="0">
              <a:latin typeface="Gill Sans" panose="020B0604020202020204" charset="0"/>
              <a:cs typeface="Gill Sans" panose="020B0604020202020204" charset="0"/>
            </a:endParaRPr>
          </a:p>
        </p:txBody>
      </p:sp>
      <p:sp>
        <p:nvSpPr>
          <p:cNvPr id="72" name="TextBox 71">
            <a:extLst>
              <a:ext uri="{FF2B5EF4-FFF2-40B4-BE49-F238E27FC236}">
                <a16:creationId xmlns:a16="http://schemas.microsoft.com/office/drawing/2014/main" id="{858FFEDB-0079-4CC4-9942-C406272CE60B}"/>
              </a:ext>
            </a:extLst>
          </p:cNvPr>
          <p:cNvSpPr txBox="1"/>
          <p:nvPr/>
        </p:nvSpPr>
        <p:spPr>
          <a:xfrm>
            <a:off x="8899223" y="4582911"/>
            <a:ext cx="869499"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NMOS</a:t>
            </a:r>
            <a:endParaRPr lang="en-US" sz="1423" b="1" dirty="0">
              <a:latin typeface="Gill Sans" panose="020B0604020202020204" charset="0"/>
              <a:cs typeface="Gill Sans" panose="020B0604020202020204" charset="0"/>
            </a:endParaRPr>
          </a:p>
        </p:txBody>
      </p:sp>
      <p:sp>
        <p:nvSpPr>
          <p:cNvPr id="73" name="TextBox 72">
            <a:extLst>
              <a:ext uri="{FF2B5EF4-FFF2-40B4-BE49-F238E27FC236}">
                <a16:creationId xmlns:a16="http://schemas.microsoft.com/office/drawing/2014/main" id="{CCBEC365-D132-458D-B0EF-5D349D461BFD}"/>
              </a:ext>
            </a:extLst>
          </p:cNvPr>
          <p:cNvSpPr txBox="1"/>
          <p:nvPr/>
        </p:nvSpPr>
        <p:spPr>
          <a:xfrm>
            <a:off x="9536555" y="2226450"/>
            <a:ext cx="1121535" cy="365806"/>
          </a:xfrm>
          <a:prstGeom prst="rect">
            <a:avLst/>
          </a:prstGeom>
          <a:noFill/>
        </p:spPr>
        <p:txBody>
          <a:bodyPr wrap="square" rtlCol="0">
            <a:spAutoFit/>
          </a:bodyPr>
          <a:lstStyle/>
          <a:p>
            <a:r>
              <a:rPr lang="en-IN" sz="1777" b="1" dirty="0">
                <a:latin typeface="Gill Sans" panose="020B0604020202020204" charset="0"/>
                <a:cs typeface="Gill Sans" panose="020B0604020202020204" charset="0"/>
              </a:rPr>
              <a:t>Source</a:t>
            </a:r>
            <a:endParaRPr lang="en-US" sz="1777" b="1" dirty="0">
              <a:latin typeface="Gill Sans" panose="020B0604020202020204" charset="0"/>
              <a:cs typeface="Gill Sans" panose="020B0604020202020204" charset="0"/>
            </a:endParaRPr>
          </a:p>
        </p:txBody>
      </p:sp>
      <p:sp>
        <p:nvSpPr>
          <p:cNvPr id="74" name="TextBox 73">
            <a:extLst>
              <a:ext uri="{FF2B5EF4-FFF2-40B4-BE49-F238E27FC236}">
                <a16:creationId xmlns:a16="http://schemas.microsoft.com/office/drawing/2014/main" id="{15D7ADFE-6256-4BD0-A694-14D265225B1D}"/>
              </a:ext>
            </a:extLst>
          </p:cNvPr>
          <p:cNvSpPr txBox="1"/>
          <p:nvPr/>
        </p:nvSpPr>
        <p:spPr>
          <a:xfrm>
            <a:off x="9588209" y="5405203"/>
            <a:ext cx="1354668"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Source</a:t>
            </a:r>
            <a:endParaRPr lang="en-US" sz="1867" b="1" dirty="0">
              <a:latin typeface="Gill Sans" panose="020B0604020202020204" charset="0"/>
              <a:cs typeface="Gill Sans" panose="020B0604020202020204" charset="0"/>
            </a:endParaRPr>
          </a:p>
        </p:txBody>
      </p:sp>
      <p:sp>
        <p:nvSpPr>
          <p:cNvPr id="75" name="TextBox 74">
            <a:extLst>
              <a:ext uri="{FF2B5EF4-FFF2-40B4-BE49-F238E27FC236}">
                <a16:creationId xmlns:a16="http://schemas.microsoft.com/office/drawing/2014/main" id="{58AAF907-FEB0-44D9-A49C-AA139F2DB40D}"/>
              </a:ext>
            </a:extLst>
          </p:cNvPr>
          <p:cNvSpPr txBox="1"/>
          <p:nvPr/>
        </p:nvSpPr>
        <p:spPr>
          <a:xfrm>
            <a:off x="9200709" y="2313692"/>
            <a:ext cx="598564"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T1</a:t>
            </a:r>
            <a:endParaRPr lang="en-US" sz="1423" b="1" dirty="0">
              <a:latin typeface="Gill Sans" panose="020B0604020202020204" charset="0"/>
              <a:cs typeface="Gill Sans" panose="020B0604020202020204" charset="0"/>
            </a:endParaRPr>
          </a:p>
        </p:txBody>
      </p:sp>
      <p:sp>
        <p:nvSpPr>
          <p:cNvPr id="76" name="TextBox 75">
            <a:extLst>
              <a:ext uri="{FF2B5EF4-FFF2-40B4-BE49-F238E27FC236}">
                <a16:creationId xmlns:a16="http://schemas.microsoft.com/office/drawing/2014/main" id="{E6EDDA70-12F2-4A89-95A0-3DF9505D9443}"/>
              </a:ext>
            </a:extLst>
          </p:cNvPr>
          <p:cNvSpPr txBox="1"/>
          <p:nvPr/>
        </p:nvSpPr>
        <p:spPr>
          <a:xfrm>
            <a:off x="10842060" y="3424872"/>
            <a:ext cx="869499"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77" name="TextBox 76">
            <a:extLst>
              <a:ext uri="{FF2B5EF4-FFF2-40B4-BE49-F238E27FC236}">
                <a16:creationId xmlns:a16="http://schemas.microsoft.com/office/drawing/2014/main" id="{FD875CF6-2C24-4E3B-B910-B3CBF0AE31F0}"/>
              </a:ext>
            </a:extLst>
          </p:cNvPr>
          <p:cNvSpPr txBox="1"/>
          <p:nvPr/>
        </p:nvSpPr>
        <p:spPr>
          <a:xfrm>
            <a:off x="8989009" y="2936156"/>
            <a:ext cx="869499"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PMOS</a:t>
            </a:r>
            <a:endParaRPr lang="en-US" sz="1423" b="1" dirty="0">
              <a:latin typeface="Gill Sans" panose="020B0604020202020204" charset="0"/>
              <a:cs typeface="Gill Sans" panose="020B0604020202020204" charset="0"/>
            </a:endParaRPr>
          </a:p>
        </p:txBody>
      </p:sp>
      <p:sp>
        <p:nvSpPr>
          <p:cNvPr id="78" name="TextBox 77">
            <a:extLst>
              <a:ext uri="{FF2B5EF4-FFF2-40B4-BE49-F238E27FC236}">
                <a16:creationId xmlns:a16="http://schemas.microsoft.com/office/drawing/2014/main" id="{2E9D6781-2807-47F2-A249-3E401C6856D9}"/>
              </a:ext>
            </a:extLst>
          </p:cNvPr>
          <p:cNvSpPr txBox="1"/>
          <p:nvPr/>
        </p:nvSpPr>
        <p:spPr>
          <a:xfrm>
            <a:off x="9103373" y="5057948"/>
            <a:ext cx="598564"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T2</a:t>
            </a:r>
            <a:endParaRPr lang="en-US" sz="1423" b="1" dirty="0">
              <a:latin typeface="Gill Sans" panose="020B0604020202020204" charset="0"/>
              <a:cs typeface="Gill Sans" panose="020B0604020202020204" charset="0"/>
            </a:endParaRPr>
          </a:p>
        </p:txBody>
      </p:sp>
      <p:sp>
        <p:nvSpPr>
          <p:cNvPr id="79" name="TextBox 78">
            <a:extLst>
              <a:ext uri="{FF2B5EF4-FFF2-40B4-BE49-F238E27FC236}">
                <a16:creationId xmlns:a16="http://schemas.microsoft.com/office/drawing/2014/main" id="{D186737C-CE4B-4114-A083-4A094D1D162B}"/>
              </a:ext>
            </a:extLst>
          </p:cNvPr>
          <p:cNvSpPr txBox="1"/>
          <p:nvPr/>
        </p:nvSpPr>
        <p:spPr>
          <a:xfrm>
            <a:off x="7789217" y="4716840"/>
            <a:ext cx="1028732"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gate</a:t>
            </a:r>
            <a:endParaRPr lang="en-US" sz="1867" b="1" dirty="0">
              <a:latin typeface="Gill Sans" panose="020B0604020202020204" charset="0"/>
              <a:cs typeface="Gill Sans" panose="020B0604020202020204" charset="0"/>
            </a:endParaRPr>
          </a:p>
        </p:txBody>
      </p:sp>
      <p:sp>
        <p:nvSpPr>
          <p:cNvPr id="80" name="TextBox 79">
            <a:extLst>
              <a:ext uri="{FF2B5EF4-FFF2-40B4-BE49-F238E27FC236}">
                <a16:creationId xmlns:a16="http://schemas.microsoft.com/office/drawing/2014/main" id="{CCA45306-CBBC-4945-83A3-5FF297D9F23F}"/>
              </a:ext>
            </a:extLst>
          </p:cNvPr>
          <p:cNvSpPr txBox="1"/>
          <p:nvPr/>
        </p:nvSpPr>
        <p:spPr>
          <a:xfrm>
            <a:off x="7790789" y="2624961"/>
            <a:ext cx="1028732"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gate</a:t>
            </a:r>
            <a:endParaRPr lang="en-US" sz="1867" b="1" dirty="0">
              <a:latin typeface="Gill Sans" panose="020B0604020202020204" charset="0"/>
              <a:cs typeface="Gill Sans" panose="020B0604020202020204" charset="0"/>
            </a:endParaRPr>
          </a:p>
        </p:txBody>
      </p:sp>
      <p:sp>
        <p:nvSpPr>
          <p:cNvPr id="81" name="Oval 80">
            <a:extLst>
              <a:ext uri="{FF2B5EF4-FFF2-40B4-BE49-F238E27FC236}">
                <a16:creationId xmlns:a16="http://schemas.microsoft.com/office/drawing/2014/main" id="{00C948E4-3E7E-4EA1-994E-9F7A6F9AE1BB}"/>
              </a:ext>
            </a:extLst>
          </p:cNvPr>
          <p:cNvSpPr/>
          <p:nvPr/>
        </p:nvSpPr>
        <p:spPr>
          <a:xfrm>
            <a:off x="9518893" y="1757922"/>
            <a:ext cx="216123" cy="2290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82" name="TextBox 81">
            <a:extLst>
              <a:ext uri="{FF2B5EF4-FFF2-40B4-BE49-F238E27FC236}">
                <a16:creationId xmlns:a16="http://schemas.microsoft.com/office/drawing/2014/main" id="{EABF0A9C-D8C2-4E88-95BC-AD2087767A19}"/>
              </a:ext>
            </a:extLst>
          </p:cNvPr>
          <p:cNvSpPr txBox="1"/>
          <p:nvPr/>
        </p:nvSpPr>
        <p:spPr>
          <a:xfrm>
            <a:off x="9108095" y="1382148"/>
            <a:ext cx="1217312" cy="365806"/>
          </a:xfrm>
          <a:prstGeom prst="rect">
            <a:avLst/>
          </a:prstGeom>
          <a:noFill/>
        </p:spPr>
        <p:txBody>
          <a:bodyPr wrap="square" rtlCol="0">
            <a:spAutoFit/>
          </a:bodyPr>
          <a:lstStyle/>
          <a:p>
            <a:r>
              <a:rPr lang="en-IN" sz="1777" b="1" dirty="0">
                <a:latin typeface="Gill Sans" panose="020B0604020202020204" charset="0"/>
                <a:cs typeface="Gill Sans" panose="020B0604020202020204" charset="0"/>
              </a:rPr>
              <a:t>+VCC</a:t>
            </a:r>
            <a:endParaRPr lang="en-US" sz="1777" b="1" dirty="0">
              <a:latin typeface="Gill Sans" panose="020B0604020202020204" charset="0"/>
              <a:cs typeface="Gill Sans" panose="020B0604020202020204" charset="0"/>
            </a:endParaRPr>
          </a:p>
        </p:txBody>
      </p:sp>
      <p:sp>
        <p:nvSpPr>
          <p:cNvPr id="83" name="TextBox 82">
            <a:extLst>
              <a:ext uri="{FF2B5EF4-FFF2-40B4-BE49-F238E27FC236}">
                <a16:creationId xmlns:a16="http://schemas.microsoft.com/office/drawing/2014/main" id="{BF5EF78F-9B0E-48E8-AEA7-AFB966C2073F}"/>
              </a:ext>
            </a:extLst>
          </p:cNvPr>
          <p:cNvSpPr txBox="1"/>
          <p:nvPr/>
        </p:nvSpPr>
        <p:spPr>
          <a:xfrm>
            <a:off x="9273158" y="6224311"/>
            <a:ext cx="945145"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GND</a:t>
            </a:r>
            <a:endParaRPr lang="en-US" sz="1867" b="1" dirty="0">
              <a:latin typeface="Gill Sans" panose="020B0604020202020204" charset="0"/>
              <a:cs typeface="Gill Sans" panose="020B0604020202020204" charset="0"/>
            </a:endParaRPr>
          </a:p>
        </p:txBody>
      </p:sp>
      <p:cxnSp>
        <p:nvCxnSpPr>
          <p:cNvPr id="85" name="Straight Connector 84">
            <a:extLst>
              <a:ext uri="{FF2B5EF4-FFF2-40B4-BE49-F238E27FC236}">
                <a16:creationId xmlns:a16="http://schemas.microsoft.com/office/drawing/2014/main" id="{3C49F493-1626-4623-84B1-EA228253D32A}"/>
              </a:ext>
            </a:extLst>
          </p:cNvPr>
          <p:cNvCxnSpPr>
            <a:cxnSpLocks/>
          </p:cNvCxnSpPr>
          <p:nvPr/>
        </p:nvCxnSpPr>
        <p:spPr>
          <a:xfrm flipH="1">
            <a:off x="7846053" y="3969511"/>
            <a:ext cx="12596" cy="872051"/>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FA3422B-1CEE-40E8-B26B-B1509EEE9605}"/>
              </a:ext>
            </a:extLst>
          </p:cNvPr>
          <p:cNvCxnSpPr>
            <a:cxnSpLocks/>
          </p:cNvCxnSpPr>
          <p:nvPr/>
        </p:nvCxnSpPr>
        <p:spPr>
          <a:xfrm flipH="1">
            <a:off x="9637055" y="3333355"/>
            <a:ext cx="12595" cy="608204"/>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507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A9595-8947-4A18-A0EA-17BEA5EF6C15}"/>
              </a:ext>
            </a:extLst>
          </p:cNvPr>
          <p:cNvSpPr txBox="1"/>
          <p:nvPr/>
        </p:nvSpPr>
        <p:spPr>
          <a:xfrm>
            <a:off x="0" y="144531"/>
            <a:ext cx="12192000" cy="1405641"/>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GPIO Output Mode with </a:t>
            </a:r>
          </a:p>
          <a:p>
            <a:pPr algn="ctr"/>
            <a:r>
              <a:rPr lang="en-IN" sz="4267" b="1" dirty="0">
                <a:latin typeface="Helvetica Neue" panose="020B0604020202020204" charset="0"/>
                <a:cs typeface="Helvetica Neue" panose="020B0604020202020204" charset="0"/>
              </a:rPr>
              <a:t>Open-Drain Pull-up</a:t>
            </a:r>
            <a:endParaRPr lang="en-US" sz="4267" b="1" dirty="0">
              <a:latin typeface="Helvetica Neue" panose="020B0604020202020204" charset="0"/>
              <a:cs typeface="Helvetica Neue" panose="020B0604020202020204" charset="0"/>
            </a:endParaRPr>
          </a:p>
        </p:txBody>
      </p:sp>
      <p:cxnSp>
        <p:nvCxnSpPr>
          <p:cNvPr id="51" name="Straight Connector 50">
            <a:extLst>
              <a:ext uri="{FF2B5EF4-FFF2-40B4-BE49-F238E27FC236}">
                <a16:creationId xmlns:a16="http://schemas.microsoft.com/office/drawing/2014/main" id="{011FFAD1-0FD9-41B7-ADDC-C4B45F627897}"/>
              </a:ext>
            </a:extLst>
          </p:cNvPr>
          <p:cNvCxnSpPr>
            <a:cxnSpLocks/>
          </p:cNvCxnSpPr>
          <p:nvPr/>
        </p:nvCxnSpPr>
        <p:spPr>
          <a:xfrm>
            <a:off x="979763" y="4207341"/>
            <a:ext cx="7749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A96E12A-A454-48FE-AB6B-5F474C77981A}"/>
              </a:ext>
            </a:extLst>
          </p:cNvPr>
          <p:cNvCxnSpPr>
            <a:cxnSpLocks/>
          </p:cNvCxnSpPr>
          <p:nvPr/>
        </p:nvCxnSpPr>
        <p:spPr>
          <a:xfrm>
            <a:off x="1766724" y="3917538"/>
            <a:ext cx="0" cy="516631"/>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B71C782-1D3B-40F1-964A-D3B7F75521E3}"/>
              </a:ext>
            </a:extLst>
          </p:cNvPr>
          <p:cNvCxnSpPr>
            <a:cxnSpLocks/>
          </p:cNvCxnSpPr>
          <p:nvPr/>
        </p:nvCxnSpPr>
        <p:spPr>
          <a:xfrm>
            <a:off x="2037657" y="3766291"/>
            <a:ext cx="0" cy="825391"/>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3388E0F2-A06D-4933-A51F-9A86E6F506DD}"/>
              </a:ext>
            </a:extLst>
          </p:cNvPr>
          <p:cNvCxnSpPr>
            <a:cxnSpLocks/>
          </p:cNvCxnSpPr>
          <p:nvPr/>
        </p:nvCxnSpPr>
        <p:spPr>
          <a:xfrm>
            <a:off x="2037660" y="3892300"/>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24CB7AF-20D4-413C-8B58-D5BA7AAF4697}"/>
              </a:ext>
            </a:extLst>
          </p:cNvPr>
          <p:cNvCxnSpPr>
            <a:cxnSpLocks/>
          </p:cNvCxnSpPr>
          <p:nvPr/>
        </p:nvCxnSpPr>
        <p:spPr>
          <a:xfrm>
            <a:off x="2006142" y="4408971"/>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FBDDCC09-5FBF-49F8-B3FA-980683527F71}"/>
              </a:ext>
            </a:extLst>
          </p:cNvPr>
          <p:cNvCxnSpPr>
            <a:cxnSpLocks/>
          </p:cNvCxnSpPr>
          <p:nvPr/>
        </p:nvCxnSpPr>
        <p:spPr>
          <a:xfrm flipH="1">
            <a:off x="2770761" y="3300269"/>
            <a:ext cx="12595" cy="608204"/>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2F22D68C-178B-4E49-B5FC-40743CCF9840}"/>
              </a:ext>
            </a:extLst>
          </p:cNvPr>
          <p:cNvCxnSpPr>
            <a:cxnSpLocks/>
          </p:cNvCxnSpPr>
          <p:nvPr/>
        </p:nvCxnSpPr>
        <p:spPr>
          <a:xfrm>
            <a:off x="2762873" y="4383783"/>
            <a:ext cx="0" cy="850607"/>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E6A35E6-739F-463C-AD8B-65C35A3718A1}"/>
              </a:ext>
            </a:extLst>
          </p:cNvPr>
          <p:cNvCxnSpPr>
            <a:cxnSpLocks/>
          </p:cNvCxnSpPr>
          <p:nvPr/>
        </p:nvCxnSpPr>
        <p:spPr>
          <a:xfrm flipV="1">
            <a:off x="2447842" y="5234391"/>
            <a:ext cx="567071" cy="25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DF0D83B-5D5A-47AE-A213-029113FEA81C}"/>
              </a:ext>
            </a:extLst>
          </p:cNvPr>
          <p:cNvCxnSpPr>
            <a:cxnSpLocks/>
          </p:cNvCxnSpPr>
          <p:nvPr/>
        </p:nvCxnSpPr>
        <p:spPr>
          <a:xfrm>
            <a:off x="2624247" y="5366716"/>
            <a:ext cx="2709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E6B2AAB-E89F-4A0A-9E71-3D7387368830}"/>
              </a:ext>
            </a:extLst>
          </p:cNvPr>
          <p:cNvCxnSpPr>
            <a:cxnSpLocks/>
          </p:cNvCxnSpPr>
          <p:nvPr/>
        </p:nvCxnSpPr>
        <p:spPr>
          <a:xfrm>
            <a:off x="2674674" y="5511613"/>
            <a:ext cx="182719"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F98CCB9-A44D-4DD9-B4A9-D12CB16912D4}"/>
              </a:ext>
            </a:extLst>
          </p:cNvPr>
          <p:cNvSpPr/>
          <p:nvPr/>
        </p:nvSpPr>
        <p:spPr>
          <a:xfrm>
            <a:off x="3572524" y="3217976"/>
            <a:ext cx="472553" cy="2375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68" name="Straight Connector 67">
            <a:extLst>
              <a:ext uri="{FF2B5EF4-FFF2-40B4-BE49-F238E27FC236}">
                <a16:creationId xmlns:a16="http://schemas.microsoft.com/office/drawing/2014/main" id="{3ECE5D80-0ED5-4233-849F-81940B2DC8C6}"/>
              </a:ext>
            </a:extLst>
          </p:cNvPr>
          <p:cNvCxnSpPr>
            <a:cxnSpLocks/>
          </p:cNvCxnSpPr>
          <p:nvPr/>
        </p:nvCxnSpPr>
        <p:spPr>
          <a:xfrm flipV="1">
            <a:off x="2770751" y="3314447"/>
            <a:ext cx="825400" cy="8152"/>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DB55FCF-9CD0-4BBB-8504-FB80839F03E3}"/>
              </a:ext>
            </a:extLst>
          </p:cNvPr>
          <p:cNvCxnSpPr>
            <a:cxnSpLocks/>
          </p:cNvCxnSpPr>
          <p:nvPr/>
        </p:nvCxnSpPr>
        <p:spPr>
          <a:xfrm>
            <a:off x="4038781" y="3338334"/>
            <a:ext cx="970316" cy="12612"/>
          </a:xfrm>
          <a:prstGeom prst="line">
            <a:avLst/>
          </a:prstGeom>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0EE98DB7-F28C-4128-A2DE-74A688C9EFF8}"/>
              </a:ext>
            </a:extLst>
          </p:cNvPr>
          <p:cNvSpPr/>
          <p:nvPr/>
        </p:nvSpPr>
        <p:spPr>
          <a:xfrm>
            <a:off x="4994919" y="3288864"/>
            <a:ext cx="201623" cy="1187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72" name="TextBox 71">
            <a:extLst>
              <a:ext uri="{FF2B5EF4-FFF2-40B4-BE49-F238E27FC236}">
                <a16:creationId xmlns:a16="http://schemas.microsoft.com/office/drawing/2014/main" id="{858FFEDB-0079-4CC4-9942-C406272CE60B}"/>
              </a:ext>
            </a:extLst>
          </p:cNvPr>
          <p:cNvSpPr txBox="1"/>
          <p:nvPr/>
        </p:nvSpPr>
        <p:spPr>
          <a:xfrm>
            <a:off x="2037657" y="3959131"/>
            <a:ext cx="869499"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NMOS</a:t>
            </a:r>
            <a:endParaRPr lang="en-US" sz="1423" b="1" dirty="0">
              <a:latin typeface="Gill Sans" panose="020B0604020202020204" charset="0"/>
              <a:cs typeface="Gill Sans" panose="020B0604020202020204" charset="0"/>
            </a:endParaRPr>
          </a:p>
        </p:txBody>
      </p:sp>
      <p:sp>
        <p:nvSpPr>
          <p:cNvPr id="74" name="TextBox 73">
            <a:extLst>
              <a:ext uri="{FF2B5EF4-FFF2-40B4-BE49-F238E27FC236}">
                <a16:creationId xmlns:a16="http://schemas.microsoft.com/office/drawing/2014/main" id="{15D7ADFE-6256-4BD0-A694-14D265225B1D}"/>
              </a:ext>
            </a:extLst>
          </p:cNvPr>
          <p:cNvSpPr txBox="1"/>
          <p:nvPr/>
        </p:nvSpPr>
        <p:spPr>
          <a:xfrm>
            <a:off x="2726643" y="4781423"/>
            <a:ext cx="1354668"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Source</a:t>
            </a:r>
            <a:endParaRPr lang="en-US" sz="1867" b="1" dirty="0">
              <a:latin typeface="Gill Sans" panose="020B0604020202020204" charset="0"/>
              <a:cs typeface="Gill Sans" panose="020B0604020202020204" charset="0"/>
            </a:endParaRPr>
          </a:p>
        </p:txBody>
      </p:sp>
      <p:sp>
        <p:nvSpPr>
          <p:cNvPr id="76" name="TextBox 75">
            <a:extLst>
              <a:ext uri="{FF2B5EF4-FFF2-40B4-BE49-F238E27FC236}">
                <a16:creationId xmlns:a16="http://schemas.microsoft.com/office/drawing/2014/main" id="{E6EDDA70-12F2-4A89-95A0-3DF9505D9443}"/>
              </a:ext>
            </a:extLst>
          </p:cNvPr>
          <p:cNvSpPr txBox="1"/>
          <p:nvPr/>
        </p:nvSpPr>
        <p:spPr>
          <a:xfrm>
            <a:off x="3980495" y="2801092"/>
            <a:ext cx="869499"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78" name="TextBox 77">
            <a:extLst>
              <a:ext uri="{FF2B5EF4-FFF2-40B4-BE49-F238E27FC236}">
                <a16:creationId xmlns:a16="http://schemas.microsoft.com/office/drawing/2014/main" id="{2E9D6781-2807-47F2-A249-3E401C6856D9}"/>
              </a:ext>
            </a:extLst>
          </p:cNvPr>
          <p:cNvSpPr txBox="1"/>
          <p:nvPr/>
        </p:nvSpPr>
        <p:spPr>
          <a:xfrm>
            <a:off x="2241807" y="4434168"/>
            <a:ext cx="598564"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T2</a:t>
            </a:r>
            <a:endParaRPr lang="en-US" sz="1423" b="1" dirty="0">
              <a:latin typeface="Gill Sans" panose="020B0604020202020204" charset="0"/>
              <a:cs typeface="Gill Sans" panose="020B0604020202020204" charset="0"/>
            </a:endParaRPr>
          </a:p>
        </p:txBody>
      </p:sp>
      <p:sp>
        <p:nvSpPr>
          <p:cNvPr id="79" name="TextBox 78">
            <a:extLst>
              <a:ext uri="{FF2B5EF4-FFF2-40B4-BE49-F238E27FC236}">
                <a16:creationId xmlns:a16="http://schemas.microsoft.com/office/drawing/2014/main" id="{D186737C-CE4B-4114-A083-4A094D1D162B}"/>
              </a:ext>
            </a:extLst>
          </p:cNvPr>
          <p:cNvSpPr txBox="1"/>
          <p:nvPr/>
        </p:nvSpPr>
        <p:spPr>
          <a:xfrm>
            <a:off x="927651" y="4093060"/>
            <a:ext cx="1028732"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gate</a:t>
            </a:r>
            <a:endParaRPr lang="en-US" sz="1867" b="1" dirty="0">
              <a:latin typeface="Gill Sans" panose="020B0604020202020204" charset="0"/>
              <a:cs typeface="Gill Sans" panose="020B0604020202020204" charset="0"/>
            </a:endParaRPr>
          </a:p>
        </p:txBody>
      </p:sp>
      <p:sp>
        <p:nvSpPr>
          <p:cNvPr id="82" name="TextBox 81">
            <a:extLst>
              <a:ext uri="{FF2B5EF4-FFF2-40B4-BE49-F238E27FC236}">
                <a16:creationId xmlns:a16="http://schemas.microsoft.com/office/drawing/2014/main" id="{EABF0A9C-D8C2-4E88-95BC-AD2087767A19}"/>
              </a:ext>
            </a:extLst>
          </p:cNvPr>
          <p:cNvSpPr txBox="1"/>
          <p:nvPr/>
        </p:nvSpPr>
        <p:spPr>
          <a:xfrm>
            <a:off x="2246529" y="1467206"/>
            <a:ext cx="1217312" cy="365806"/>
          </a:xfrm>
          <a:prstGeom prst="rect">
            <a:avLst/>
          </a:prstGeom>
          <a:noFill/>
        </p:spPr>
        <p:txBody>
          <a:bodyPr wrap="square" rtlCol="0">
            <a:spAutoFit/>
          </a:bodyPr>
          <a:lstStyle/>
          <a:p>
            <a:r>
              <a:rPr lang="en-IN" sz="1777" b="1" dirty="0">
                <a:latin typeface="Gill Sans" panose="020B0604020202020204" charset="0"/>
                <a:cs typeface="Gill Sans" panose="020B0604020202020204" charset="0"/>
              </a:rPr>
              <a:t>+VCC</a:t>
            </a:r>
            <a:endParaRPr lang="en-US" sz="1777" b="1" dirty="0">
              <a:latin typeface="Gill Sans" panose="020B0604020202020204" charset="0"/>
              <a:cs typeface="Gill Sans" panose="020B0604020202020204" charset="0"/>
            </a:endParaRPr>
          </a:p>
        </p:txBody>
      </p:sp>
      <p:sp>
        <p:nvSpPr>
          <p:cNvPr id="83" name="TextBox 82">
            <a:extLst>
              <a:ext uri="{FF2B5EF4-FFF2-40B4-BE49-F238E27FC236}">
                <a16:creationId xmlns:a16="http://schemas.microsoft.com/office/drawing/2014/main" id="{BF5EF78F-9B0E-48E8-AEA7-AFB966C2073F}"/>
              </a:ext>
            </a:extLst>
          </p:cNvPr>
          <p:cNvSpPr txBox="1"/>
          <p:nvPr/>
        </p:nvSpPr>
        <p:spPr>
          <a:xfrm>
            <a:off x="2411593" y="5600531"/>
            <a:ext cx="945145"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GND</a:t>
            </a:r>
            <a:endParaRPr lang="en-US" sz="1867" b="1" dirty="0">
              <a:latin typeface="Gill Sans" panose="020B0604020202020204" charset="0"/>
              <a:cs typeface="Gill Sans" panose="020B0604020202020204" charset="0"/>
            </a:endParaRPr>
          </a:p>
        </p:txBody>
      </p:sp>
      <p:sp>
        <p:nvSpPr>
          <p:cNvPr id="42" name="Freeform: Shape 41">
            <a:extLst>
              <a:ext uri="{FF2B5EF4-FFF2-40B4-BE49-F238E27FC236}">
                <a16:creationId xmlns:a16="http://schemas.microsoft.com/office/drawing/2014/main" id="{0F3097E0-1432-481C-B4B6-38AC8440E49D}"/>
              </a:ext>
            </a:extLst>
          </p:cNvPr>
          <p:cNvSpPr/>
          <p:nvPr/>
        </p:nvSpPr>
        <p:spPr>
          <a:xfrm rot="286289">
            <a:off x="2736268" y="1946340"/>
            <a:ext cx="155589" cy="1352715"/>
          </a:xfrm>
          <a:custGeom>
            <a:avLst/>
            <a:gdLst>
              <a:gd name="connsiteX0" fmla="*/ 0 w 95693"/>
              <a:gd name="connsiteY0" fmla="*/ 0 h 871870"/>
              <a:gd name="connsiteX1" fmla="*/ 10633 w 95693"/>
              <a:gd name="connsiteY1" fmla="*/ 244549 h 871870"/>
              <a:gd name="connsiteX2" fmla="*/ 21265 w 95693"/>
              <a:gd name="connsiteY2" fmla="*/ 340242 h 871870"/>
              <a:gd name="connsiteX3" fmla="*/ 53163 w 95693"/>
              <a:gd name="connsiteY3" fmla="*/ 361507 h 871870"/>
              <a:gd name="connsiteX4" fmla="*/ 95693 w 95693"/>
              <a:gd name="connsiteY4" fmla="*/ 393405 h 871870"/>
              <a:gd name="connsiteX5" fmla="*/ 53163 w 95693"/>
              <a:gd name="connsiteY5" fmla="*/ 435935 h 871870"/>
              <a:gd name="connsiteX6" fmla="*/ 21265 w 95693"/>
              <a:gd name="connsiteY6" fmla="*/ 446567 h 871870"/>
              <a:gd name="connsiteX7" fmla="*/ 31898 w 95693"/>
              <a:gd name="connsiteY7" fmla="*/ 478465 h 871870"/>
              <a:gd name="connsiteX8" fmla="*/ 85061 w 95693"/>
              <a:gd name="connsiteY8" fmla="*/ 520995 h 871870"/>
              <a:gd name="connsiteX9" fmla="*/ 74428 w 95693"/>
              <a:gd name="connsiteY9" fmla="*/ 584791 h 871870"/>
              <a:gd name="connsiteX10" fmla="*/ 42530 w 95693"/>
              <a:gd name="connsiteY10" fmla="*/ 595423 h 871870"/>
              <a:gd name="connsiteX11" fmla="*/ 31898 w 95693"/>
              <a:gd name="connsiteY11" fmla="*/ 659218 h 871870"/>
              <a:gd name="connsiteX12" fmla="*/ 53163 w 95693"/>
              <a:gd name="connsiteY12" fmla="*/ 765544 h 871870"/>
              <a:gd name="connsiteX13" fmla="*/ 63795 w 95693"/>
              <a:gd name="connsiteY13" fmla="*/ 808074 h 871870"/>
              <a:gd name="connsiteX14" fmla="*/ 63795 w 95693"/>
              <a:gd name="connsiteY14" fmla="*/ 871870 h 87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693" h="871870">
                <a:moveTo>
                  <a:pt x="0" y="0"/>
                </a:moveTo>
                <a:cubicBezTo>
                  <a:pt x="3544" y="81516"/>
                  <a:pt x="5543" y="163115"/>
                  <a:pt x="10633" y="244549"/>
                </a:cubicBezTo>
                <a:cubicBezTo>
                  <a:pt x="12635" y="276580"/>
                  <a:pt x="10297" y="310080"/>
                  <a:pt x="21265" y="340242"/>
                </a:cubicBezTo>
                <a:cubicBezTo>
                  <a:pt x="25632" y="352251"/>
                  <a:pt x="42764" y="354079"/>
                  <a:pt x="53163" y="361507"/>
                </a:cubicBezTo>
                <a:cubicBezTo>
                  <a:pt x="67583" y="371807"/>
                  <a:pt x="81516" y="382772"/>
                  <a:pt x="95693" y="393405"/>
                </a:cubicBezTo>
                <a:cubicBezTo>
                  <a:pt x="81516" y="407582"/>
                  <a:pt x="69477" y="424282"/>
                  <a:pt x="53163" y="435935"/>
                </a:cubicBezTo>
                <a:cubicBezTo>
                  <a:pt x="44043" y="442449"/>
                  <a:pt x="26277" y="436542"/>
                  <a:pt x="21265" y="446567"/>
                </a:cubicBezTo>
                <a:cubicBezTo>
                  <a:pt x="16253" y="456592"/>
                  <a:pt x="26886" y="468440"/>
                  <a:pt x="31898" y="478465"/>
                </a:cubicBezTo>
                <a:cubicBezTo>
                  <a:pt x="51136" y="516941"/>
                  <a:pt x="48270" y="508732"/>
                  <a:pt x="85061" y="520995"/>
                </a:cubicBezTo>
                <a:cubicBezTo>
                  <a:pt x="81517" y="542260"/>
                  <a:pt x="85124" y="566073"/>
                  <a:pt x="74428" y="584791"/>
                </a:cubicBezTo>
                <a:cubicBezTo>
                  <a:pt x="68867" y="594522"/>
                  <a:pt x="48091" y="585692"/>
                  <a:pt x="42530" y="595423"/>
                </a:cubicBezTo>
                <a:cubicBezTo>
                  <a:pt x="31834" y="614141"/>
                  <a:pt x="35442" y="637953"/>
                  <a:pt x="31898" y="659218"/>
                </a:cubicBezTo>
                <a:cubicBezTo>
                  <a:pt x="56594" y="758011"/>
                  <a:pt x="27092" y="635189"/>
                  <a:pt x="53163" y="765544"/>
                </a:cubicBezTo>
                <a:cubicBezTo>
                  <a:pt x="56029" y="779873"/>
                  <a:pt x="62341" y="793534"/>
                  <a:pt x="63795" y="808074"/>
                </a:cubicBezTo>
                <a:cubicBezTo>
                  <a:pt x="65911" y="829234"/>
                  <a:pt x="63795" y="850605"/>
                  <a:pt x="63795" y="8718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43" name="TextBox 42">
            <a:extLst>
              <a:ext uri="{FF2B5EF4-FFF2-40B4-BE49-F238E27FC236}">
                <a16:creationId xmlns:a16="http://schemas.microsoft.com/office/drawing/2014/main" id="{F6C9E862-1E5B-4D1A-A709-25F8AB205DE5}"/>
              </a:ext>
            </a:extLst>
          </p:cNvPr>
          <p:cNvSpPr txBox="1"/>
          <p:nvPr/>
        </p:nvSpPr>
        <p:spPr>
          <a:xfrm>
            <a:off x="2782706" y="2471486"/>
            <a:ext cx="590708" cy="461665"/>
          </a:xfrm>
          <a:prstGeom prst="rect">
            <a:avLst/>
          </a:prstGeom>
          <a:noFill/>
        </p:spPr>
        <p:txBody>
          <a:bodyPr wrap="square" rtlCol="0">
            <a:spAutoFit/>
          </a:bodyPr>
          <a:lstStyle/>
          <a:p>
            <a:r>
              <a:rPr lang="en-IN" sz="2400" dirty="0"/>
              <a:t>Ri</a:t>
            </a:r>
            <a:endParaRPr lang="en-US" sz="2400" dirty="0"/>
          </a:p>
        </p:txBody>
      </p:sp>
      <p:sp>
        <p:nvSpPr>
          <p:cNvPr id="4" name="Oval 3">
            <a:extLst>
              <a:ext uri="{FF2B5EF4-FFF2-40B4-BE49-F238E27FC236}">
                <a16:creationId xmlns:a16="http://schemas.microsoft.com/office/drawing/2014/main" id="{0B7F1CDA-88E0-4E54-A0E6-5EE4B10883BC}"/>
              </a:ext>
            </a:extLst>
          </p:cNvPr>
          <p:cNvSpPr/>
          <p:nvPr/>
        </p:nvSpPr>
        <p:spPr>
          <a:xfrm>
            <a:off x="2712466" y="1757916"/>
            <a:ext cx="130749" cy="207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45" name="Straight Connector 44">
            <a:extLst>
              <a:ext uri="{FF2B5EF4-FFF2-40B4-BE49-F238E27FC236}">
                <a16:creationId xmlns:a16="http://schemas.microsoft.com/office/drawing/2014/main" id="{239A1A28-C0F8-40BB-9F71-B34ED43D03DC}"/>
              </a:ext>
            </a:extLst>
          </p:cNvPr>
          <p:cNvCxnSpPr>
            <a:cxnSpLocks/>
          </p:cNvCxnSpPr>
          <p:nvPr/>
        </p:nvCxnSpPr>
        <p:spPr>
          <a:xfrm>
            <a:off x="6428374" y="4311292"/>
            <a:ext cx="7749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0A59962B-5304-4DD2-9648-2976397FCB6F}"/>
              </a:ext>
            </a:extLst>
          </p:cNvPr>
          <p:cNvCxnSpPr>
            <a:cxnSpLocks/>
          </p:cNvCxnSpPr>
          <p:nvPr/>
        </p:nvCxnSpPr>
        <p:spPr>
          <a:xfrm>
            <a:off x="7215335" y="4021489"/>
            <a:ext cx="0" cy="516631"/>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3E78F0B-2265-4EA4-AEB2-43D39775F7E8}"/>
              </a:ext>
            </a:extLst>
          </p:cNvPr>
          <p:cNvCxnSpPr>
            <a:cxnSpLocks/>
          </p:cNvCxnSpPr>
          <p:nvPr/>
        </p:nvCxnSpPr>
        <p:spPr>
          <a:xfrm>
            <a:off x="7486268" y="3870242"/>
            <a:ext cx="0" cy="825391"/>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63BAE691-B8D8-40DF-89A1-E3B282127ABD}"/>
              </a:ext>
            </a:extLst>
          </p:cNvPr>
          <p:cNvCxnSpPr>
            <a:cxnSpLocks/>
          </p:cNvCxnSpPr>
          <p:nvPr/>
        </p:nvCxnSpPr>
        <p:spPr>
          <a:xfrm>
            <a:off x="7486270" y="3996251"/>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0EBB86A8-BF39-4191-8767-0C0E779E9DB0}"/>
              </a:ext>
            </a:extLst>
          </p:cNvPr>
          <p:cNvCxnSpPr>
            <a:cxnSpLocks/>
          </p:cNvCxnSpPr>
          <p:nvPr/>
        </p:nvCxnSpPr>
        <p:spPr>
          <a:xfrm>
            <a:off x="7454753" y="4512921"/>
            <a:ext cx="7315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919FA5AD-E824-41B8-90F2-3750BE887920}"/>
              </a:ext>
            </a:extLst>
          </p:cNvPr>
          <p:cNvCxnSpPr>
            <a:cxnSpLocks/>
          </p:cNvCxnSpPr>
          <p:nvPr/>
        </p:nvCxnSpPr>
        <p:spPr>
          <a:xfrm flipH="1">
            <a:off x="8219372" y="3404219"/>
            <a:ext cx="12595" cy="608204"/>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9495631-174B-4478-819F-0EDD9C6D9930}"/>
              </a:ext>
            </a:extLst>
          </p:cNvPr>
          <p:cNvCxnSpPr>
            <a:cxnSpLocks/>
          </p:cNvCxnSpPr>
          <p:nvPr/>
        </p:nvCxnSpPr>
        <p:spPr>
          <a:xfrm>
            <a:off x="8211484" y="4487734"/>
            <a:ext cx="0" cy="850607"/>
          </a:xfrm>
          <a:prstGeom prst="line">
            <a:avLst/>
          </a:prstGeom>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A86ACDBF-6191-49DE-B4C3-CF1E083A487A}"/>
              </a:ext>
            </a:extLst>
          </p:cNvPr>
          <p:cNvCxnSpPr>
            <a:cxnSpLocks/>
          </p:cNvCxnSpPr>
          <p:nvPr/>
        </p:nvCxnSpPr>
        <p:spPr>
          <a:xfrm flipV="1">
            <a:off x="7896453" y="5338342"/>
            <a:ext cx="567071" cy="25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CB24A08-0F51-47F1-AE3E-E8C03E0890B8}"/>
              </a:ext>
            </a:extLst>
          </p:cNvPr>
          <p:cNvCxnSpPr>
            <a:cxnSpLocks/>
          </p:cNvCxnSpPr>
          <p:nvPr/>
        </p:nvCxnSpPr>
        <p:spPr>
          <a:xfrm>
            <a:off x="8072858" y="5470667"/>
            <a:ext cx="2709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FE81BD2-9444-4DE8-8666-39532F9D1CCF}"/>
              </a:ext>
            </a:extLst>
          </p:cNvPr>
          <p:cNvCxnSpPr>
            <a:cxnSpLocks/>
          </p:cNvCxnSpPr>
          <p:nvPr/>
        </p:nvCxnSpPr>
        <p:spPr>
          <a:xfrm>
            <a:off x="8123285" y="5615564"/>
            <a:ext cx="182719"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7EA2E75C-F726-445D-81B3-1D73303BABA0}"/>
              </a:ext>
            </a:extLst>
          </p:cNvPr>
          <p:cNvSpPr/>
          <p:nvPr/>
        </p:nvSpPr>
        <p:spPr>
          <a:xfrm>
            <a:off x="9021134" y="3321926"/>
            <a:ext cx="472553" cy="2375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93" name="Straight Connector 92">
            <a:extLst>
              <a:ext uri="{FF2B5EF4-FFF2-40B4-BE49-F238E27FC236}">
                <a16:creationId xmlns:a16="http://schemas.microsoft.com/office/drawing/2014/main" id="{7D917F85-CBE2-4325-920F-86FD0D36F83D}"/>
              </a:ext>
            </a:extLst>
          </p:cNvPr>
          <p:cNvCxnSpPr>
            <a:cxnSpLocks/>
          </p:cNvCxnSpPr>
          <p:nvPr/>
        </p:nvCxnSpPr>
        <p:spPr>
          <a:xfrm flipV="1">
            <a:off x="8219361" y="3418397"/>
            <a:ext cx="825400" cy="8152"/>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C83D94E5-6ECB-42F8-B2FC-F957EE22FAF2}"/>
              </a:ext>
            </a:extLst>
          </p:cNvPr>
          <p:cNvCxnSpPr>
            <a:cxnSpLocks/>
          </p:cNvCxnSpPr>
          <p:nvPr/>
        </p:nvCxnSpPr>
        <p:spPr>
          <a:xfrm>
            <a:off x="9487391" y="3442285"/>
            <a:ext cx="970316" cy="12612"/>
          </a:xfrm>
          <a:prstGeom prst="line">
            <a:avLst/>
          </a:prstGeom>
          <a:ln/>
        </p:spPr>
        <p:style>
          <a:lnRef idx="2">
            <a:schemeClr val="accent1"/>
          </a:lnRef>
          <a:fillRef idx="0">
            <a:schemeClr val="accent1"/>
          </a:fillRef>
          <a:effectRef idx="1">
            <a:schemeClr val="accent1"/>
          </a:effectRef>
          <a:fontRef idx="minor">
            <a:schemeClr val="tx1"/>
          </a:fontRef>
        </p:style>
      </p:cxnSp>
      <p:sp>
        <p:nvSpPr>
          <p:cNvPr id="96" name="Oval 95">
            <a:extLst>
              <a:ext uri="{FF2B5EF4-FFF2-40B4-BE49-F238E27FC236}">
                <a16:creationId xmlns:a16="http://schemas.microsoft.com/office/drawing/2014/main" id="{B61870A9-EC5C-4189-86B2-AB99C678A6D2}"/>
              </a:ext>
            </a:extLst>
          </p:cNvPr>
          <p:cNvSpPr/>
          <p:nvPr/>
        </p:nvSpPr>
        <p:spPr>
          <a:xfrm>
            <a:off x="10443530" y="3392814"/>
            <a:ext cx="201623" cy="1187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97" name="TextBox 96">
            <a:extLst>
              <a:ext uri="{FF2B5EF4-FFF2-40B4-BE49-F238E27FC236}">
                <a16:creationId xmlns:a16="http://schemas.microsoft.com/office/drawing/2014/main" id="{3ED8DC9C-08B3-4FF3-95CE-EE094871A9C9}"/>
              </a:ext>
            </a:extLst>
          </p:cNvPr>
          <p:cNvSpPr txBox="1"/>
          <p:nvPr/>
        </p:nvSpPr>
        <p:spPr>
          <a:xfrm>
            <a:off x="7486268" y="4063082"/>
            <a:ext cx="869499"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NMOS</a:t>
            </a:r>
            <a:endParaRPr lang="en-US" sz="1423" b="1" dirty="0">
              <a:latin typeface="Gill Sans" panose="020B0604020202020204" charset="0"/>
              <a:cs typeface="Gill Sans" panose="020B0604020202020204" charset="0"/>
            </a:endParaRPr>
          </a:p>
        </p:txBody>
      </p:sp>
      <p:sp>
        <p:nvSpPr>
          <p:cNvPr id="98" name="TextBox 97">
            <a:extLst>
              <a:ext uri="{FF2B5EF4-FFF2-40B4-BE49-F238E27FC236}">
                <a16:creationId xmlns:a16="http://schemas.microsoft.com/office/drawing/2014/main" id="{787DB778-2368-4368-81BD-5534FBDE3A1B}"/>
              </a:ext>
            </a:extLst>
          </p:cNvPr>
          <p:cNvSpPr txBox="1"/>
          <p:nvPr/>
        </p:nvSpPr>
        <p:spPr>
          <a:xfrm>
            <a:off x="8175254" y="4885373"/>
            <a:ext cx="1354668"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Source</a:t>
            </a:r>
            <a:endParaRPr lang="en-US" sz="1867" b="1" dirty="0">
              <a:latin typeface="Gill Sans" panose="020B0604020202020204" charset="0"/>
              <a:cs typeface="Gill Sans" panose="020B0604020202020204" charset="0"/>
            </a:endParaRPr>
          </a:p>
        </p:txBody>
      </p:sp>
      <p:sp>
        <p:nvSpPr>
          <p:cNvPr id="99" name="TextBox 98">
            <a:extLst>
              <a:ext uri="{FF2B5EF4-FFF2-40B4-BE49-F238E27FC236}">
                <a16:creationId xmlns:a16="http://schemas.microsoft.com/office/drawing/2014/main" id="{6DDB481E-F24D-421A-BC24-31EB33A80340}"/>
              </a:ext>
            </a:extLst>
          </p:cNvPr>
          <p:cNvSpPr txBox="1"/>
          <p:nvPr/>
        </p:nvSpPr>
        <p:spPr>
          <a:xfrm>
            <a:off x="9429105" y="2905043"/>
            <a:ext cx="869499"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100" name="TextBox 99">
            <a:extLst>
              <a:ext uri="{FF2B5EF4-FFF2-40B4-BE49-F238E27FC236}">
                <a16:creationId xmlns:a16="http://schemas.microsoft.com/office/drawing/2014/main" id="{CE00A835-1918-450B-A28E-8E01F666AB16}"/>
              </a:ext>
            </a:extLst>
          </p:cNvPr>
          <p:cNvSpPr txBox="1"/>
          <p:nvPr/>
        </p:nvSpPr>
        <p:spPr>
          <a:xfrm>
            <a:off x="7690418" y="4538119"/>
            <a:ext cx="598564" cy="311304"/>
          </a:xfrm>
          <a:prstGeom prst="rect">
            <a:avLst/>
          </a:prstGeom>
          <a:noFill/>
        </p:spPr>
        <p:txBody>
          <a:bodyPr wrap="square" rtlCol="0">
            <a:spAutoFit/>
          </a:bodyPr>
          <a:lstStyle/>
          <a:p>
            <a:r>
              <a:rPr lang="en-IN" sz="1423" b="1" dirty="0">
                <a:latin typeface="Gill Sans" panose="020B0604020202020204" charset="0"/>
                <a:cs typeface="Gill Sans" panose="020B0604020202020204" charset="0"/>
              </a:rPr>
              <a:t>T2</a:t>
            </a:r>
            <a:endParaRPr lang="en-US" sz="1423" b="1" dirty="0">
              <a:latin typeface="Gill Sans" panose="020B0604020202020204" charset="0"/>
              <a:cs typeface="Gill Sans" panose="020B0604020202020204" charset="0"/>
            </a:endParaRPr>
          </a:p>
        </p:txBody>
      </p:sp>
      <p:sp>
        <p:nvSpPr>
          <p:cNvPr id="101" name="TextBox 100">
            <a:extLst>
              <a:ext uri="{FF2B5EF4-FFF2-40B4-BE49-F238E27FC236}">
                <a16:creationId xmlns:a16="http://schemas.microsoft.com/office/drawing/2014/main" id="{BCEA82BB-4936-4B24-B485-A026088FADC5}"/>
              </a:ext>
            </a:extLst>
          </p:cNvPr>
          <p:cNvSpPr txBox="1"/>
          <p:nvPr/>
        </p:nvSpPr>
        <p:spPr>
          <a:xfrm>
            <a:off x="6376262" y="4197011"/>
            <a:ext cx="1028732"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gate</a:t>
            </a:r>
            <a:endParaRPr lang="en-US" sz="1867" b="1" dirty="0">
              <a:latin typeface="Gill Sans" panose="020B0604020202020204" charset="0"/>
              <a:cs typeface="Gill Sans" panose="020B0604020202020204" charset="0"/>
            </a:endParaRPr>
          </a:p>
        </p:txBody>
      </p:sp>
      <p:sp>
        <p:nvSpPr>
          <p:cNvPr id="102" name="TextBox 101">
            <a:extLst>
              <a:ext uri="{FF2B5EF4-FFF2-40B4-BE49-F238E27FC236}">
                <a16:creationId xmlns:a16="http://schemas.microsoft.com/office/drawing/2014/main" id="{074FFC36-3154-460A-88FE-C75E642EF27B}"/>
              </a:ext>
            </a:extLst>
          </p:cNvPr>
          <p:cNvSpPr txBox="1"/>
          <p:nvPr/>
        </p:nvSpPr>
        <p:spPr>
          <a:xfrm>
            <a:off x="9949248" y="1556979"/>
            <a:ext cx="1217312" cy="365806"/>
          </a:xfrm>
          <a:prstGeom prst="rect">
            <a:avLst/>
          </a:prstGeom>
          <a:noFill/>
        </p:spPr>
        <p:txBody>
          <a:bodyPr wrap="square" rtlCol="0">
            <a:spAutoFit/>
          </a:bodyPr>
          <a:lstStyle/>
          <a:p>
            <a:r>
              <a:rPr lang="en-IN" sz="1777" b="1" dirty="0">
                <a:latin typeface="Gill Sans" panose="020B0604020202020204" charset="0"/>
                <a:cs typeface="Gill Sans" panose="020B0604020202020204" charset="0"/>
              </a:rPr>
              <a:t>+VCC</a:t>
            </a:r>
            <a:endParaRPr lang="en-US" sz="1777" b="1" dirty="0">
              <a:latin typeface="Gill Sans" panose="020B0604020202020204" charset="0"/>
              <a:cs typeface="Gill Sans" panose="020B0604020202020204" charset="0"/>
            </a:endParaRPr>
          </a:p>
        </p:txBody>
      </p:sp>
      <p:sp>
        <p:nvSpPr>
          <p:cNvPr id="103" name="TextBox 102">
            <a:extLst>
              <a:ext uri="{FF2B5EF4-FFF2-40B4-BE49-F238E27FC236}">
                <a16:creationId xmlns:a16="http://schemas.microsoft.com/office/drawing/2014/main" id="{3CFAC4FD-C6C0-446D-894F-C774B2C6FF10}"/>
              </a:ext>
            </a:extLst>
          </p:cNvPr>
          <p:cNvSpPr txBox="1"/>
          <p:nvPr/>
        </p:nvSpPr>
        <p:spPr>
          <a:xfrm>
            <a:off x="7860204" y="5704481"/>
            <a:ext cx="945145" cy="379656"/>
          </a:xfrm>
          <a:prstGeom prst="rect">
            <a:avLst/>
          </a:prstGeom>
          <a:noFill/>
        </p:spPr>
        <p:txBody>
          <a:bodyPr wrap="square" rtlCol="0">
            <a:spAutoFit/>
          </a:bodyPr>
          <a:lstStyle/>
          <a:p>
            <a:r>
              <a:rPr lang="en-IN" sz="1867" b="1" dirty="0">
                <a:latin typeface="Gill Sans" panose="020B0604020202020204" charset="0"/>
                <a:cs typeface="Gill Sans" panose="020B0604020202020204" charset="0"/>
              </a:rPr>
              <a:t>GND</a:t>
            </a:r>
            <a:endParaRPr lang="en-US" sz="1867" b="1" dirty="0">
              <a:latin typeface="Gill Sans" panose="020B0604020202020204" charset="0"/>
              <a:cs typeface="Gill Sans" panose="020B0604020202020204" charset="0"/>
            </a:endParaRPr>
          </a:p>
        </p:txBody>
      </p:sp>
      <p:sp>
        <p:nvSpPr>
          <p:cNvPr id="104" name="Freeform: Shape 103">
            <a:extLst>
              <a:ext uri="{FF2B5EF4-FFF2-40B4-BE49-F238E27FC236}">
                <a16:creationId xmlns:a16="http://schemas.microsoft.com/office/drawing/2014/main" id="{B1ADD027-4724-4AA0-AACE-AFEB191B1C2B}"/>
              </a:ext>
            </a:extLst>
          </p:cNvPr>
          <p:cNvSpPr/>
          <p:nvPr/>
        </p:nvSpPr>
        <p:spPr>
          <a:xfrm rot="286289">
            <a:off x="10453175" y="2050291"/>
            <a:ext cx="155589" cy="1352715"/>
          </a:xfrm>
          <a:custGeom>
            <a:avLst/>
            <a:gdLst>
              <a:gd name="connsiteX0" fmla="*/ 0 w 95693"/>
              <a:gd name="connsiteY0" fmla="*/ 0 h 871870"/>
              <a:gd name="connsiteX1" fmla="*/ 10633 w 95693"/>
              <a:gd name="connsiteY1" fmla="*/ 244549 h 871870"/>
              <a:gd name="connsiteX2" fmla="*/ 21265 w 95693"/>
              <a:gd name="connsiteY2" fmla="*/ 340242 h 871870"/>
              <a:gd name="connsiteX3" fmla="*/ 53163 w 95693"/>
              <a:gd name="connsiteY3" fmla="*/ 361507 h 871870"/>
              <a:gd name="connsiteX4" fmla="*/ 95693 w 95693"/>
              <a:gd name="connsiteY4" fmla="*/ 393405 h 871870"/>
              <a:gd name="connsiteX5" fmla="*/ 53163 w 95693"/>
              <a:gd name="connsiteY5" fmla="*/ 435935 h 871870"/>
              <a:gd name="connsiteX6" fmla="*/ 21265 w 95693"/>
              <a:gd name="connsiteY6" fmla="*/ 446567 h 871870"/>
              <a:gd name="connsiteX7" fmla="*/ 31898 w 95693"/>
              <a:gd name="connsiteY7" fmla="*/ 478465 h 871870"/>
              <a:gd name="connsiteX8" fmla="*/ 85061 w 95693"/>
              <a:gd name="connsiteY8" fmla="*/ 520995 h 871870"/>
              <a:gd name="connsiteX9" fmla="*/ 74428 w 95693"/>
              <a:gd name="connsiteY9" fmla="*/ 584791 h 871870"/>
              <a:gd name="connsiteX10" fmla="*/ 42530 w 95693"/>
              <a:gd name="connsiteY10" fmla="*/ 595423 h 871870"/>
              <a:gd name="connsiteX11" fmla="*/ 31898 w 95693"/>
              <a:gd name="connsiteY11" fmla="*/ 659218 h 871870"/>
              <a:gd name="connsiteX12" fmla="*/ 53163 w 95693"/>
              <a:gd name="connsiteY12" fmla="*/ 765544 h 871870"/>
              <a:gd name="connsiteX13" fmla="*/ 63795 w 95693"/>
              <a:gd name="connsiteY13" fmla="*/ 808074 h 871870"/>
              <a:gd name="connsiteX14" fmla="*/ 63795 w 95693"/>
              <a:gd name="connsiteY14" fmla="*/ 871870 h 87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693" h="871870">
                <a:moveTo>
                  <a:pt x="0" y="0"/>
                </a:moveTo>
                <a:cubicBezTo>
                  <a:pt x="3544" y="81516"/>
                  <a:pt x="5543" y="163115"/>
                  <a:pt x="10633" y="244549"/>
                </a:cubicBezTo>
                <a:cubicBezTo>
                  <a:pt x="12635" y="276580"/>
                  <a:pt x="10297" y="310080"/>
                  <a:pt x="21265" y="340242"/>
                </a:cubicBezTo>
                <a:cubicBezTo>
                  <a:pt x="25632" y="352251"/>
                  <a:pt x="42764" y="354079"/>
                  <a:pt x="53163" y="361507"/>
                </a:cubicBezTo>
                <a:cubicBezTo>
                  <a:pt x="67583" y="371807"/>
                  <a:pt x="81516" y="382772"/>
                  <a:pt x="95693" y="393405"/>
                </a:cubicBezTo>
                <a:cubicBezTo>
                  <a:pt x="81516" y="407582"/>
                  <a:pt x="69477" y="424282"/>
                  <a:pt x="53163" y="435935"/>
                </a:cubicBezTo>
                <a:cubicBezTo>
                  <a:pt x="44043" y="442449"/>
                  <a:pt x="26277" y="436542"/>
                  <a:pt x="21265" y="446567"/>
                </a:cubicBezTo>
                <a:cubicBezTo>
                  <a:pt x="16253" y="456592"/>
                  <a:pt x="26886" y="468440"/>
                  <a:pt x="31898" y="478465"/>
                </a:cubicBezTo>
                <a:cubicBezTo>
                  <a:pt x="51136" y="516941"/>
                  <a:pt x="48270" y="508732"/>
                  <a:pt x="85061" y="520995"/>
                </a:cubicBezTo>
                <a:cubicBezTo>
                  <a:pt x="81517" y="542260"/>
                  <a:pt x="85124" y="566073"/>
                  <a:pt x="74428" y="584791"/>
                </a:cubicBezTo>
                <a:cubicBezTo>
                  <a:pt x="68867" y="594522"/>
                  <a:pt x="48091" y="585692"/>
                  <a:pt x="42530" y="595423"/>
                </a:cubicBezTo>
                <a:cubicBezTo>
                  <a:pt x="31834" y="614141"/>
                  <a:pt x="35442" y="637953"/>
                  <a:pt x="31898" y="659218"/>
                </a:cubicBezTo>
                <a:cubicBezTo>
                  <a:pt x="56594" y="758011"/>
                  <a:pt x="27092" y="635189"/>
                  <a:pt x="53163" y="765544"/>
                </a:cubicBezTo>
                <a:cubicBezTo>
                  <a:pt x="56029" y="779873"/>
                  <a:pt x="62341" y="793534"/>
                  <a:pt x="63795" y="808074"/>
                </a:cubicBezTo>
                <a:cubicBezTo>
                  <a:pt x="65911" y="829234"/>
                  <a:pt x="63795" y="850605"/>
                  <a:pt x="63795" y="8718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105" name="TextBox 104">
            <a:extLst>
              <a:ext uri="{FF2B5EF4-FFF2-40B4-BE49-F238E27FC236}">
                <a16:creationId xmlns:a16="http://schemas.microsoft.com/office/drawing/2014/main" id="{007AB72A-8EE3-48B5-9954-F8ABD4CBC78C}"/>
              </a:ext>
            </a:extLst>
          </p:cNvPr>
          <p:cNvSpPr txBox="1"/>
          <p:nvPr/>
        </p:nvSpPr>
        <p:spPr>
          <a:xfrm>
            <a:off x="10598833" y="2575437"/>
            <a:ext cx="590708" cy="461665"/>
          </a:xfrm>
          <a:prstGeom prst="rect">
            <a:avLst/>
          </a:prstGeom>
          <a:noFill/>
        </p:spPr>
        <p:txBody>
          <a:bodyPr wrap="square" rtlCol="0">
            <a:spAutoFit/>
          </a:bodyPr>
          <a:lstStyle/>
          <a:p>
            <a:r>
              <a:rPr lang="en-IN" sz="2400" dirty="0"/>
              <a:t>Re</a:t>
            </a:r>
            <a:endParaRPr lang="en-US" sz="2400" dirty="0"/>
          </a:p>
        </p:txBody>
      </p:sp>
      <p:sp>
        <p:nvSpPr>
          <p:cNvPr id="106" name="Oval 105">
            <a:extLst>
              <a:ext uri="{FF2B5EF4-FFF2-40B4-BE49-F238E27FC236}">
                <a16:creationId xmlns:a16="http://schemas.microsoft.com/office/drawing/2014/main" id="{E6397319-0643-455D-B221-EC7E10F479DF}"/>
              </a:ext>
            </a:extLst>
          </p:cNvPr>
          <p:cNvSpPr/>
          <p:nvPr/>
        </p:nvSpPr>
        <p:spPr>
          <a:xfrm>
            <a:off x="10429372" y="1861866"/>
            <a:ext cx="130749" cy="207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5" name="TextBox 4">
            <a:extLst>
              <a:ext uri="{FF2B5EF4-FFF2-40B4-BE49-F238E27FC236}">
                <a16:creationId xmlns:a16="http://schemas.microsoft.com/office/drawing/2014/main" id="{8C2DBD4E-F6B6-47A2-B5EA-5C99CAFB6F93}"/>
              </a:ext>
            </a:extLst>
          </p:cNvPr>
          <p:cNvSpPr txBox="1"/>
          <p:nvPr/>
        </p:nvSpPr>
        <p:spPr>
          <a:xfrm>
            <a:off x="606825" y="5952198"/>
            <a:ext cx="4932585" cy="461665"/>
          </a:xfrm>
          <a:prstGeom prst="rect">
            <a:avLst/>
          </a:prstGeom>
          <a:noFill/>
        </p:spPr>
        <p:txBody>
          <a:bodyPr wrap="square" rtlCol="0">
            <a:spAutoFit/>
          </a:bodyPr>
          <a:lstStyle/>
          <a:p>
            <a:r>
              <a:rPr lang="en-IN" sz="2400" b="1" dirty="0">
                <a:latin typeface="Gill Sans" panose="020B0604020202020204" charset="0"/>
                <a:cs typeface="Gill Sans" panose="020B0604020202020204" charset="0"/>
              </a:rPr>
              <a:t>Open-drain with internal pull-up</a:t>
            </a:r>
            <a:endParaRPr lang="en-US" sz="2400" b="1" dirty="0">
              <a:latin typeface="Gill Sans" panose="020B0604020202020204" charset="0"/>
              <a:cs typeface="Gill Sans" panose="020B0604020202020204" charset="0"/>
            </a:endParaRPr>
          </a:p>
        </p:txBody>
      </p:sp>
      <p:sp>
        <p:nvSpPr>
          <p:cNvPr id="107" name="TextBox 106">
            <a:extLst>
              <a:ext uri="{FF2B5EF4-FFF2-40B4-BE49-F238E27FC236}">
                <a16:creationId xmlns:a16="http://schemas.microsoft.com/office/drawing/2014/main" id="{E6282BD6-8307-4030-B442-C78FB59DB023}"/>
              </a:ext>
            </a:extLst>
          </p:cNvPr>
          <p:cNvSpPr txBox="1"/>
          <p:nvPr/>
        </p:nvSpPr>
        <p:spPr>
          <a:xfrm>
            <a:off x="6560561" y="6013625"/>
            <a:ext cx="5024607" cy="461665"/>
          </a:xfrm>
          <a:prstGeom prst="rect">
            <a:avLst/>
          </a:prstGeom>
          <a:noFill/>
        </p:spPr>
        <p:txBody>
          <a:bodyPr wrap="square" rtlCol="0">
            <a:spAutoFit/>
          </a:bodyPr>
          <a:lstStyle/>
          <a:p>
            <a:r>
              <a:rPr lang="en-IN" sz="2400" b="1" dirty="0">
                <a:latin typeface="Gill Sans" panose="020B0604020202020204" charset="0"/>
                <a:cs typeface="Gill Sans" panose="020B0604020202020204" charset="0"/>
              </a:rPr>
              <a:t>Open-drain with external pull-up</a:t>
            </a:r>
            <a:endParaRPr lang="en-US" sz="2400" b="1"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3240446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63C9323-606F-4CD8-8FE4-AA422D2F743F}"/>
              </a:ext>
            </a:extLst>
          </p:cNvPr>
          <p:cNvSpPr txBox="1"/>
          <p:nvPr/>
        </p:nvSpPr>
        <p:spPr>
          <a:xfrm>
            <a:off x="708834" y="340239"/>
            <a:ext cx="10547497" cy="1405641"/>
          </a:xfrm>
          <a:prstGeom prst="rect">
            <a:avLst/>
          </a:prstGeom>
          <a:noFill/>
        </p:spPr>
        <p:txBody>
          <a:bodyPr wrap="square" rtlCol="0">
            <a:spAutoFit/>
          </a:bodyPr>
          <a:lstStyle/>
          <a:p>
            <a:pPr algn="ctr"/>
            <a:r>
              <a:rPr lang="en-IN" sz="4267" b="1" dirty="0">
                <a:latin typeface="Helvetica Neue" panose="020B0604020202020204" charset="0"/>
                <a:cs typeface="Helvetica Neue" panose="020B0604020202020204" charset="0"/>
              </a:rPr>
              <a:t>GPIO Output Mode with Push-pull Configurations</a:t>
            </a:r>
            <a:endParaRPr lang="en-US" sz="4267" b="1" dirty="0">
              <a:latin typeface="Helvetica Neue" panose="020B0604020202020204" charset="0"/>
              <a:cs typeface="Helvetica Neue" panose="020B0604020202020204" charset="0"/>
            </a:endParaRPr>
          </a:p>
        </p:txBody>
      </p:sp>
      <p:sp>
        <p:nvSpPr>
          <p:cNvPr id="12" name="TextBox 11">
            <a:extLst>
              <a:ext uri="{FF2B5EF4-FFF2-40B4-BE49-F238E27FC236}">
                <a16:creationId xmlns:a16="http://schemas.microsoft.com/office/drawing/2014/main" id="{88928CE0-3035-497C-9B64-870100B7C37E}"/>
              </a:ext>
            </a:extLst>
          </p:cNvPr>
          <p:cNvSpPr txBox="1"/>
          <p:nvPr/>
        </p:nvSpPr>
        <p:spPr>
          <a:xfrm>
            <a:off x="6923002" y="5831369"/>
            <a:ext cx="4737847" cy="502766"/>
          </a:xfrm>
          <a:prstGeom prst="rect">
            <a:avLst/>
          </a:prstGeom>
          <a:noFill/>
        </p:spPr>
        <p:txBody>
          <a:bodyPr wrap="square" rtlCol="0">
            <a:spAutoFit/>
          </a:bodyPr>
          <a:lstStyle/>
          <a:p>
            <a:pPr algn="ctr"/>
            <a:r>
              <a:rPr lang="en-IN" sz="2667" b="1" dirty="0">
                <a:latin typeface="Gill Sans" panose="020B0604020202020204" charset="0"/>
                <a:cs typeface="Gill Sans" panose="020B0604020202020204" charset="0"/>
              </a:rPr>
              <a:t>Output Buffer</a:t>
            </a:r>
            <a:endParaRPr lang="en-US" sz="2667" b="1" dirty="0">
              <a:latin typeface="Gill Sans" panose="020B0604020202020204" charset="0"/>
              <a:cs typeface="Gill Sans" panose="020B0604020202020204" charset="0"/>
            </a:endParaRPr>
          </a:p>
        </p:txBody>
      </p:sp>
      <p:sp>
        <p:nvSpPr>
          <p:cNvPr id="2" name="TextBox 1">
            <a:extLst>
              <a:ext uri="{FF2B5EF4-FFF2-40B4-BE49-F238E27FC236}">
                <a16:creationId xmlns:a16="http://schemas.microsoft.com/office/drawing/2014/main" id="{51C96A8B-82AD-4B8A-BC13-82B1B11C9EA0}"/>
              </a:ext>
            </a:extLst>
          </p:cNvPr>
          <p:cNvSpPr txBox="1"/>
          <p:nvPr/>
        </p:nvSpPr>
        <p:spPr>
          <a:xfrm>
            <a:off x="425305" y="1776530"/>
            <a:ext cx="6262527" cy="4729436"/>
          </a:xfrm>
          <a:prstGeom prst="rect">
            <a:avLst/>
          </a:prstGeom>
          <a:noFill/>
        </p:spPr>
        <p:txBody>
          <a:bodyPr wrap="square" rtlCol="0">
            <a:spAutoFit/>
          </a:bodyPr>
          <a:lstStyle/>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By default GPIO output mode is in push-pull configurations</a:t>
            </a:r>
          </a:p>
          <a:p>
            <a:pPr marL="457189" indent="-457189">
              <a:buFont typeface="Arial" panose="020B0604020202020204" pitchFamily="34" charset="0"/>
              <a:buChar char="•"/>
            </a:pPr>
            <a:endParaRPr lang="en-IN" sz="24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Here, no need of any internal/external pull-up/pull-down registers.</a:t>
            </a:r>
          </a:p>
          <a:p>
            <a:pPr marL="457189" indent="-457189">
              <a:buFont typeface="Arial" panose="020B0604020202020204" pitchFamily="34" charset="0"/>
              <a:buChar char="•"/>
            </a:pPr>
            <a:endParaRPr lang="en-IN" sz="2133" dirty="0">
              <a:latin typeface="Gill Sans" panose="020B0604020202020204" charset="0"/>
              <a:cs typeface="Gill Sans" panose="020B0604020202020204" charset="0"/>
            </a:endParaRPr>
          </a:p>
          <a:p>
            <a:pPr marL="457189" indent="-457189">
              <a:buFont typeface="Arial" panose="020B0604020202020204" pitchFamily="34" charset="0"/>
              <a:buChar char="•"/>
            </a:pPr>
            <a:r>
              <a:rPr lang="en-IN" sz="3200" dirty="0">
                <a:latin typeface="Gill Sans" panose="020B0604020202020204" charset="0"/>
                <a:cs typeface="Gill Sans" panose="020B0604020202020204" charset="0"/>
              </a:rPr>
              <a:t>Output will be pulled active low/high using these transistors</a:t>
            </a:r>
            <a:endParaRPr lang="en-US" sz="3200" dirty="0">
              <a:latin typeface="Gill Sans" panose="020B0604020202020204" charset="0"/>
              <a:cs typeface="Gill Sans" panose="020B0604020202020204" charset="0"/>
            </a:endParaRPr>
          </a:p>
        </p:txBody>
      </p:sp>
      <p:sp>
        <p:nvSpPr>
          <p:cNvPr id="6" name="Isosceles Triangle 5">
            <a:extLst>
              <a:ext uri="{FF2B5EF4-FFF2-40B4-BE49-F238E27FC236}">
                <a16:creationId xmlns:a16="http://schemas.microsoft.com/office/drawing/2014/main" id="{271D473E-3FEB-4C80-91F9-892A5739D156}"/>
              </a:ext>
            </a:extLst>
          </p:cNvPr>
          <p:cNvSpPr/>
          <p:nvPr/>
        </p:nvSpPr>
        <p:spPr>
          <a:xfrm rot="5562177">
            <a:off x="7193473" y="3539567"/>
            <a:ext cx="269357" cy="3118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7" name="Straight Connector 6">
            <a:extLst>
              <a:ext uri="{FF2B5EF4-FFF2-40B4-BE49-F238E27FC236}">
                <a16:creationId xmlns:a16="http://schemas.microsoft.com/office/drawing/2014/main" id="{AF2ABEBF-62E8-4937-A8D9-F43C246A7655}"/>
              </a:ext>
            </a:extLst>
          </p:cNvPr>
          <p:cNvCxnSpPr>
            <a:cxnSpLocks/>
            <a:endCxn id="6" idx="3"/>
          </p:cNvCxnSpPr>
          <p:nvPr/>
        </p:nvCxnSpPr>
        <p:spPr>
          <a:xfrm>
            <a:off x="6697287" y="3670859"/>
            <a:ext cx="475095" cy="17300"/>
          </a:xfrm>
          <a:prstGeom prst="line">
            <a:avLst/>
          </a:prstGeom>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4ECDDF72-0FEC-477D-B0B5-64B10CD61857}"/>
              </a:ext>
            </a:extLst>
          </p:cNvPr>
          <p:cNvSpPr/>
          <p:nvPr/>
        </p:nvSpPr>
        <p:spPr>
          <a:xfrm>
            <a:off x="7476098" y="3610338"/>
            <a:ext cx="150849" cy="1781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10" name="Straight Connector 9">
            <a:extLst>
              <a:ext uri="{FF2B5EF4-FFF2-40B4-BE49-F238E27FC236}">
                <a16:creationId xmlns:a16="http://schemas.microsoft.com/office/drawing/2014/main" id="{B1D5E49D-79C5-4518-AEB6-ABCDF98EB60C}"/>
              </a:ext>
            </a:extLst>
          </p:cNvPr>
          <p:cNvCxnSpPr>
            <a:cxnSpLocks/>
          </p:cNvCxnSpPr>
          <p:nvPr/>
        </p:nvCxnSpPr>
        <p:spPr>
          <a:xfrm>
            <a:off x="7626947" y="3699433"/>
            <a:ext cx="7715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D7FFCBA-53C6-4B1E-BD4C-508B9216CD6A}"/>
              </a:ext>
            </a:extLst>
          </p:cNvPr>
          <p:cNvCxnSpPr>
            <a:cxnSpLocks/>
          </p:cNvCxnSpPr>
          <p:nvPr/>
        </p:nvCxnSpPr>
        <p:spPr>
          <a:xfrm>
            <a:off x="8398494" y="3043380"/>
            <a:ext cx="0" cy="136464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BE7CE50-6B70-47C4-AA48-92086D94129F}"/>
              </a:ext>
            </a:extLst>
          </p:cNvPr>
          <p:cNvCxnSpPr>
            <a:cxnSpLocks/>
          </p:cNvCxnSpPr>
          <p:nvPr/>
        </p:nvCxnSpPr>
        <p:spPr>
          <a:xfrm>
            <a:off x="8398496" y="3043379"/>
            <a:ext cx="58124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F7A2C38-AEF2-4319-9EAC-D7968E74D6C8}"/>
              </a:ext>
            </a:extLst>
          </p:cNvPr>
          <p:cNvCxnSpPr>
            <a:cxnSpLocks/>
          </p:cNvCxnSpPr>
          <p:nvPr/>
        </p:nvCxnSpPr>
        <p:spPr>
          <a:xfrm>
            <a:off x="8389047" y="4394895"/>
            <a:ext cx="581247"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871F35F6-84C4-49C1-AC43-BC96CE521F44}"/>
              </a:ext>
            </a:extLst>
          </p:cNvPr>
          <p:cNvSpPr/>
          <p:nvPr/>
        </p:nvSpPr>
        <p:spPr>
          <a:xfrm>
            <a:off x="8970294" y="2958323"/>
            <a:ext cx="60959" cy="17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17" name="Straight Connector 16">
            <a:extLst>
              <a:ext uri="{FF2B5EF4-FFF2-40B4-BE49-F238E27FC236}">
                <a16:creationId xmlns:a16="http://schemas.microsoft.com/office/drawing/2014/main" id="{F4A6028D-B062-4522-B6FD-276B195ACB13}"/>
              </a:ext>
            </a:extLst>
          </p:cNvPr>
          <p:cNvCxnSpPr>
            <a:cxnSpLocks/>
          </p:cNvCxnSpPr>
          <p:nvPr/>
        </p:nvCxnSpPr>
        <p:spPr>
          <a:xfrm>
            <a:off x="9031252" y="2830729"/>
            <a:ext cx="0" cy="415843"/>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89D219C-F4C8-4184-A563-D95CF5299103}"/>
              </a:ext>
            </a:extLst>
          </p:cNvPr>
          <p:cNvCxnSpPr>
            <a:cxnSpLocks/>
          </p:cNvCxnSpPr>
          <p:nvPr/>
        </p:nvCxnSpPr>
        <p:spPr>
          <a:xfrm>
            <a:off x="8979268" y="4177542"/>
            <a:ext cx="0" cy="387473"/>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96A449A-E31C-4172-9A7C-97E013A3561E}"/>
              </a:ext>
            </a:extLst>
          </p:cNvPr>
          <p:cNvCxnSpPr>
            <a:cxnSpLocks/>
          </p:cNvCxnSpPr>
          <p:nvPr/>
        </p:nvCxnSpPr>
        <p:spPr>
          <a:xfrm>
            <a:off x="9234452" y="2688959"/>
            <a:ext cx="0" cy="6284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405BE94-AF53-4EAC-8190-F03EF9B7FA83}"/>
              </a:ext>
            </a:extLst>
          </p:cNvPr>
          <p:cNvCxnSpPr>
            <a:cxnSpLocks/>
          </p:cNvCxnSpPr>
          <p:nvPr/>
        </p:nvCxnSpPr>
        <p:spPr>
          <a:xfrm>
            <a:off x="9182468" y="4064107"/>
            <a:ext cx="0" cy="619043"/>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2A3908-7589-43F9-B1EF-51CC5C8E41C3}"/>
              </a:ext>
            </a:extLst>
          </p:cNvPr>
          <p:cNvCxnSpPr>
            <a:cxnSpLocks/>
          </p:cNvCxnSpPr>
          <p:nvPr/>
        </p:nvCxnSpPr>
        <p:spPr>
          <a:xfrm>
            <a:off x="9234453" y="2821270"/>
            <a:ext cx="4966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480F6D8-1EC0-481A-A916-EE3E7392CA09}"/>
              </a:ext>
            </a:extLst>
          </p:cNvPr>
          <p:cNvCxnSpPr>
            <a:cxnSpLocks/>
          </p:cNvCxnSpPr>
          <p:nvPr/>
        </p:nvCxnSpPr>
        <p:spPr>
          <a:xfrm>
            <a:off x="9239175" y="3208770"/>
            <a:ext cx="49193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D22AB31-8E4A-4D00-956E-8295BDDF39A4}"/>
              </a:ext>
            </a:extLst>
          </p:cNvPr>
          <p:cNvCxnSpPr>
            <a:cxnSpLocks/>
          </p:cNvCxnSpPr>
          <p:nvPr/>
        </p:nvCxnSpPr>
        <p:spPr>
          <a:xfrm>
            <a:off x="9182469" y="4158614"/>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4A1BD83-C397-4BB8-8857-0C8E72E0E351}"/>
              </a:ext>
            </a:extLst>
          </p:cNvPr>
          <p:cNvCxnSpPr>
            <a:cxnSpLocks/>
          </p:cNvCxnSpPr>
          <p:nvPr/>
        </p:nvCxnSpPr>
        <p:spPr>
          <a:xfrm>
            <a:off x="9158831" y="4546117"/>
            <a:ext cx="548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6FDC311-3F35-410B-90E2-30415DB381FE}"/>
              </a:ext>
            </a:extLst>
          </p:cNvPr>
          <p:cNvCxnSpPr>
            <a:cxnSpLocks/>
          </p:cNvCxnSpPr>
          <p:nvPr/>
        </p:nvCxnSpPr>
        <p:spPr>
          <a:xfrm>
            <a:off x="9731109" y="2192774"/>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6A578A8-5571-4FC5-946C-F55E9762E430}"/>
              </a:ext>
            </a:extLst>
          </p:cNvPr>
          <p:cNvCxnSpPr>
            <a:cxnSpLocks/>
          </p:cNvCxnSpPr>
          <p:nvPr/>
        </p:nvCxnSpPr>
        <p:spPr>
          <a:xfrm>
            <a:off x="9721654" y="3208770"/>
            <a:ext cx="0" cy="930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D984B71-8041-473B-9268-305D6AC7DD61}"/>
              </a:ext>
            </a:extLst>
          </p:cNvPr>
          <p:cNvCxnSpPr>
            <a:cxnSpLocks/>
          </p:cNvCxnSpPr>
          <p:nvPr/>
        </p:nvCxnSpPr>
        <p:spPr>
          <a:xfrm>
            <a:off x="9726380" y="4527226"/>
            <a:ext cx="0" cy="6379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AB15D17-5ABB-4DC2-A45B-1B0F169186E8}"/>
              </a:ext>
            </a:extLst>
          </p:cNvPr>
          <p:cNvCxnSpPr>
            <a:cxnSpLocks/>
          </p:cNvCxnSpPr>
          <p:nvPr/>
        </p:nvCxnSpPr>
        <p:spPr>
          <a:xfrm flipV="1">
            <a:off x="9490106" y="5165182"/>
            <a:ext cx="425303" cy="18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9111EF-1BF4-4236-9D04-F4BB6F4FFF82}"/>
              </a:ext>
            </a:extLst>
          </p:cNvPr>
          <p:cNvCxnSpPr>
            <a:cxnSpLocks/>
          </p:cNvCxnSpPr>
          <p:nvPr/>
        </p:nvCxnSpPr>
        <p:spPr>
          <a:xfrm>
            <a:off x="9622410" y="5264426"/>
            <a:ext cx="203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EE36C36-C342-4958-9400-E0EEF028CFAC}"/>
              </a:ext>
            </a:extLst>
          </p:cNvPr>
          <p:cNvCxnSpPr>
            <a:cxnSpLocks/>
          </p:cNvCxnSpPr>
          <p:nvPr/>
        </p:nvCxnSpPr>
        <p:spPr>
          <a:xfrm>
            <a:off x="9660230" y="5373099"/>
            <a:ext cx="13703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AB7CBF9-957A-4F98-A0E8-7AB286256313}"/>
              </a:ext>
            </a:extLst>
          </p:cNvPr>
          <p:cNvSpPr/>
          <p:nvPr/>
        </p:nvSpPr>
        <p:spPr>
          <a:xfrm>
            <a:off x="10737659" y="3610338"/>
            <a:ext cx="354415" cy="178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cxnSp>
        <p:nvCxnSpPr>
          <p:cNvPr id="32" name="Straight Connector 31">
            <a:extLst>
              <a:ext uri="{FF2B5EF4-FFF2-40B4-BE49-F238E27FC236}">
                <a16:creationId xmlns:a16="http://schemas.microsoft.com/office/drawing/2014/main" id="{74A1A96D-5854-451C-A378-28053341EF01}"/>
              </a:ext>
            </a:extLst>
          </p:cNvPr>
          <p:cNvCxnSpPr>
            <a:cxnSpLocks/>
            <a:endCxn id="31" idx="1"/>
          </p:cNvCxnSpPr>
          <p:nvPr/>
        </p:nvCxnSpPr>
        <p:spPr>
          <a:xfrm>
            <a:off x="9721655" y="3699433"/>
            <a:ext cx="1016004"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94B9300-78C5-491F-BB94-9C69B6F289E3}"/>
              </a:ext>
            </a:extLst>
          </p:cNvPr>
          <p:cNvCxnSpPr>
            <a:cxnSpLocks/>
          </p:cNvCxnSpPr>
          <p:nvPr/>
        </p:nvCxnSpPr>
        <p:spPr>
          <a:xfrm>
            <a:off x="11087354" y="3689974"/>
            <a:ext cx="727737" cy="9459"/>
          </a:xfrm>
          <a:prstGeom prst="line">
            <a:avLst/>
          </a:prstGeom>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B0F9F941-F487-4EED-B8BD-E158A677240C}"/>
              </a:ext>
            </a:extLst>
          </p:cNvPr>
          <p:cNvSpPr/>
          <p:nvPr/>
        </p:nvSpPr>
        <p:spPr>
          <a:xfrm>
            <a:off x="11815090" y="3652871"/>
            <a:ext cx="151217" cy="890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35" name="TextBox 34">
            <a:extLst>
              <a:ext uri="{FF2B5EF4-FFF2-40B4-BE49-F238E27FC236}">
                <a16:creationId xmlns:a16="http://schemas.microsoft.com/office/drawing/2014/main" id="{E08995CC-6BDA-498D-8D1B-C29B4EE55528}"/>
              </a:ext>
            </a:extLst>
          </p:cNvPr>
          <p:cNvSpPr txBox="1"/>
          <p:nvPr/>
        </p:nvSpPr>
        <p:spPr>
          <a:xfrm>
            <a:off x="10014643" y="3436775"/>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Drain</a:t>
            </a:r>
            <a:endParaRPr lang="en-US" sz="1200" b="1" dirty="0">
              <a:latin typeface="Gill Sans" panose="020B0604020202020204" charset="0"/>
              <a:cs typeface="Gill Sans" panose="020B0604020202020204" charset="0"/>
            </a:endParaRPr>
          </a:p>
        </p:txBody>
      </p:sp>
      <p:sp>
        <p:nvSpPr>
          <p:cNvPr id="36" name="TextBox 35">
            <a:extLst>
              <a:ext uri="{FF2B5EF4-FFF2-40B4-BE49-F238E27FC236}">
                <a16:creationId xmlns:a16="http://schemas.microsoft.com/office/drawing/2014/main" id="{C9D6DBE2-BC1A-46D5-BC1E-2799595B7A5A}"/>
              </a:ext>
            </a:extLst>
          </p:cNvPr>
          <p:cNvSpPr txBox="1"/>
          <p:nvPr/>
        </p:nvSpPr>
        <p:spPr>
          <a:xfrm>
            <a:off x="9182468" y="4208737"/>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NMOS</a:t>
            </a:r>
            <a:endParaRPr lang="en-US" sz="1200" b="1" dirty="0">
              <a:latin typeface="Gill Sans" panose="020B0604020202020204" charset="0"/>
              <a:cs typeface="Gill Sans" panose="020B0604020202020204" charset="0"/>
            </a:endParaRPr>
          </a:p>
        </p:txBody>
      </p:sp>
      <p:sp>
        <p:nvSpPr>
          <p:cNvPr id="37" name="TextBox 36">
            <a:extLst>
              <a:ext uri="{FF2B5EF4-FFF2-40B4-BE49-F238E27FC236}">
                <a16:creationId xmlns:a16="http://schemas.microsoft.com/office/drawing/2014/main" id="{EF3F8A59-781F-40ED-BEAD-68654C016CFC}"/>
              </a:ext>
            </a:extLst>
          </p:cNvPr>
          <p:cNvSpPr txBox="1"/>
          <p:nvPr/>
        </p:nvSpPr>
        <p:spPr>
          <a:xfrm>
            <a:off x="9734242" y="2388226"/>
            <a:ext cx="1119286"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Source</a:t>
            </a:r>
            <a:endParaRPr lang="en-US" sz="1600" b="1" dirty="0">
              <a:latin typeface="Gill Sans" panose="020B0604020202020204" charset="0"/>
              <a:cs typeface="Gill Sans" panose="020B0604020202020204" charset="0"/>
            </a:endParaRPr>
          </a:p>
        </p:txBody>
      </p:sp>
      <p:sp>
        <p:nvSpPr>
          <p:cNvPr id="38" name="TextBox 37">
            <a:extLst>
              <a:ext uri="{FF2B5EF4-FFF2-40B4-BE49-F238E27FC236}">
                <a16:creationId xmlns:a16="http://schemas.microsoft.com/office/drawing/2014/main" id="{9E3A30AF-415C-4F9B-B6F0-F60A65B910AA}"/>
              </a:ext>
            </a:extLst>
          </p:cNvPr>
          <p:cNvSpPr txBox="1"/>
          <p:nvPr/>
        </p:nvSpPr>
        <p:spPr>
          <a:xfrm>
            <a:off x="9688574" y="4772291"/>
            <a:ext cx="1016001"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Source</a:t>
            </a:r>
            <a:endParaRPr lang="en-US" b="1" dirty="0">
              <a:latin typeface="Gill Sans" panose="020B0604020202020204" charset="0"/>
              <a:cs typeface="Gill Sans" panose="020B0604020202020204" charset="0"/>
            </a:endParaRPr>
          </a:p>
        </p:txBody>
      </p:sp>
      <p:sp>
        <p:nvSpPr>
          <p:cNvPr id="39" name="TextBox 38">
            <a:extLst>
              <a:ext uri="{FF2B5EF4-FFF2-40B4-BE49-F238E27FC236}">
                <a16:creationId xmlns:a16="http://schemas.microsoft.com/office/drawing/2014/main" id="{B86842A0-F033-4AF9-A578-2919B9D2BF2C}"/>
              </a:ext>
            </a:extLst>
          </p:cNvPr>
          <p:cNvSpPr txBox="1"/>
          <p:nvPr/>
        </p:nvSpPr>
        <p:spPr>
          <a:xfrm>
            <a:off x="9397949" y="2453658"/>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T1</a:t>
            </a:r>
            <a:endParaRPr lang="en-US" sz="1200" b="1" dirty="0">
              <a:latin typeface="Gill Sans" panose="020B0604020202020204" charset="0"/>
              <a:cs typeface="Gill Sans" panose="020B0604020202020204" charset="0"/>
            </a:endParaRPr>
          </a:p>
        </p:txBody>
      </p:sp>
      <p:sp>
        <p:nvSpPr>
          <p:cNvPr id="40" name="TextBox 39">
            <a:extLst>
              <a:ext uri="{FF2B5EF4-FFF2-40B4-BE49-F238E27FC236}">
                <a16:creationId xmlns:a16="http://schemas.microsoft.com/office/drawing/2014/main" id="{4C6EFAA0-FE4D-45E0-85F4-31A22AF72319}"/>
              </a:ext>
            </a:extLst>
          </p:cNvPr>
          <p:cNvSpPr txBox="1"/>
          <p:nvPr/>
        </p:nvSpPr>
        <p:spPr>
          <a:xfrm>
            <a:off x="10671495" y="3287043"/>
            <a:ext cx="65212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Pin</a:t>
            </a:r>
            <a:endParaRPr lang="en-US" sz="1600" b="1" dirty="0">
              <a:latin typeface="Gill Sans" panose="020B0604020202020204" charset="0"/>
              <a:cs typeface="Gill Sans" panose="020B0604020202020204" charset="0"/>
            </a:endParaRPr>
          </a:p>
        </p:txBody>
      </p:sp>
      <p:sp>
        <p:nvSpPr>
          <p:cNvPr id="41" name="TextBox 40">
            <a:extLst>
              <a:ext uri="{FF2B5EF4-FFF2-40B4-BE49-F238E27FC236}">
                <a16:creationId xmlns:a16="http://schemas.microsoft.com/office/drawing/2014/main" id="{618B6FDB-8FD1-4381-A569-0C91777591CC}"/>
              </a:ext>
            </a:extLst>
          </p:cNvPr>
          <p:cNvSpPr txBox="1"/>
          <p:nvPr/>
        </p:nvSpPr>
        <p:spPr>
          <a:xfrm>
            <a:off x="9239175" y="2920506"/>
            <a:ext cx="652124"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PMOS</a:t>
            </a:r>
            <a:endParaRPr lang="en-US" sz="1200" b="1" dirty="0">
              <a:latin typeface="Gill Sans" panose="020B0604020202020204" charset="0"/>
              <a:cs typeface="Gill Sans" panose="020B0604020202020204" charset="0"/>
            </a:endParaRPr>
          </a:p>
        </p:txBody>
      </p:sp>
      <p:sp>
        <p:nvSpPr>
          <p:cNvPr id="42" name="TextBox 41">
            <a:extLst>
              <a:ext uri="{FF2B5EF4-FFF2-40B4-BE49-F238E27FC236}">
                <a16:creationId xmlns:a16="http://schemas.microsoft.com/office/drawing/2014/main" id="{C218DE97-BC49-488E-BEE3-B95B5364684B}"/>
              </a:ext>
            </a:extLst>
          </p:cNvPr>
          <p:cNvSpPr txBox="1"/>
          <p:nvPr/>
        </p:nvSpPr>
        <p:spPr>
          <a:xfrm>
            <a:off x="9335580" y="4565015"/>
            <a:ext cx="448923" cy="276999"/>
          </a:xfrm>
          <a:prstGeom prst="rect">
            <a:avLst/>
          </a:prstGeom>
          <a:noFill/>
        </p:spPr>
        <p:txBody>
          <a:bodyPr wrap="square" rtlCol="0">
            <a:spAutoFit/>
          </a:bodyPr>
          <a:lstStyle/>
          <a:p>
            <a:r>
              <a:rPr lang="en-IN" sz="1200" b="1" dirty="0">
                <a:latin typeface="Gill Sans" panose="020B0604020202020204" charset="0"/>
                <a:cs typeface="Gill Sans" panose="020B0604020202020204" charset="0"/>
              </a:rPr>
              <a:t>T2</a:t>
            </a:r>
            <a:endParaRPr lang="en-US" sz="1200" b="1" dirty="0">
              <a:latin typeface="Gill Sans" panose="020B0604020202020204" charset="0"/>
              <a:cs typeface="Gill Sans" panose="020B0604020202020204" charset="0"/>
            </a:endParaRPr>
          </a:p>
        </p:txBody>
      </p:sp>
      <p:sp>
        <p:nvSpPr>
          <p:cNvPr id="43" name="TextBox 42">
            <a:extLst>
              <a:ext uri="{FF2B5EF4-FFF2-40B4-BE49-F238E27FC236}">
                <a16:creationId xmlns:a16="http://schemas.microsoft.com/office/drawing/2014/main" id="{145992DB-B99D-4F2A-96AD-9564C5DB5D0C}"/>
              </a:ext>
            </a:extLst>
          </p:cNvPr>
          <p:cNvSpPr txBox="1"/>
          <p:nvPr/>
        </p:nvSpPr>
        <p:spPr>
          <a:xfrm>
            <a:off x="8349963" y="4309184"/>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44" name="TextBox 43">
            <a:extLst>
              <a:ext uri="{FF2B5EF4-FFF2-40B4-BE49-F238E27FC236}">
                <a16:creationId xmlns:a16="http://schemas.microsoft.com/office/drawing/2014/main" id="{05C0ACE6-AF60-4B08-9297-B116755F360B}"/>
              </a:ext>
            </a:extLst>
          </p:cNvPr>
          <p:cNvSpPr txBox="1"/>
          <p:nvPr/>
        </p:nvSpPr>
        <p:spPr>
          <a:xfrm>
            <a:off x="8340509" y="2740275"/>
            <a:ext cx="77154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gate</a:t>
            </a:r>
            <a:endParaRPr lang="en-US" b="1" dirty="0">
              <a:latin typeface="Gill Sans" panose="020B0604020202020204" charset="0"/>
              <a:cs typeface="Gill Sans" panose="020B0604020202020204" charset="0"/>
            </a:endParaRPr>
          </a:p>
        </p:txBody>
      </p:sp>
      <p:sp>
        <p:nvSpPr>
          <p:cNvPr id="45" name="Oval 44">
            <a:extLst>
              <a:ext uri="{FF2B5EF4-FFF2-40B4-BE49-F238E27FC236}">
                <a16:creationId xmlns:a16="http://schemas.microsoft.com/office/drawing/2014/main" id="{82ECEC3C-CEA8-4048-A9E3-C5914AF26462}"/>
              </a:ext>
            </a:extLst>
          </p:cNvPr>
          <p:cNvSpPr/>
          <p:nvPr/>
        </p:nvSpPr>
        <p:spPr>
          <a:xfrm>
            <a:off x="9636588" y="2036830"/>
            <a:ext cx="162092" cy="1718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tx1"/>
              </a:solidFill>
            </a:endParaRPr>
          </a:p>
        </p:txBody>
      </p:sp>
      <p:sp>
        <p:nvSpPr>
          <p:cNvPr id="46" name="TextBox 45">
            <a:extLst>
              <a:ext uri="{FF2B5EF4-FFF2-40B4-BE49-F238E27FC236}">
                <a16:creationId xmlns:a16="http://schemas.microsoft.com/office/drawing/2014/main" id="{39A84DB9-A8A9-43BD-B879-D809C15A2A33}"/>
              </a:ext>
            </a:extLst>
          </p:cNvPr>
          <p:cNvSpPr txBox="1"/>
          <p:nvPr/>
        </p:nvSpPr>
        <p:spPr>
          <a:xfrm>
            <a:off x="9328489" y="1755000"/>
            <a:ext cx="912984" cy="338554"/>
          </a:xfrm>
          <a:prstGeom prst="rect">
            <a:avLst/>
          </a:prstGeom>
          <a:noFill/>
        </p:spPr>
        <p:txBody>
          <a:bodyPr wrap="square" rtlCol="0">
            <a:spAutoFit/>
          </a:bodyPr>
          <a:lstStyle/>
          <a:p>
            <a:r>
              <a:rPr lang="en-IN" sz="1600" b="1" dirty="0">
                <a:latin typeface="Gill Sans" panose="020B0604020202020204" charset="0"/>
                <a:cs typeface="Gill Sans" panose="020B0604020202020204" charset="0"/>
              </a:rPr>
              <a:t>+VCC</a:t>
            </a:r>
            <a:endParaRPr lang="en-US" sz="1600" b="1" dirty="0">
              <a:latin typeface="Gill Sans" panose="020B0604020202020204" charset="0"/>
              <a:cs typeface="Gill Sans" panose="020B0604020202020204" charset="0"/>
            </a:endParaRPr>
          </a:p>
        </p:txBody>
      </p:sp>
      <p:sp>
        <p:nvSpPr>
          <p:cNvPr id="47" name="TextBox 46">
            <a:extLst>
              <a:ext uri="{FF2B5EF4-FFF2-40B4-BE49-F238E27FC236}">
                <a16:creationId xmlns:a16="http://schemas.microsoft.com/office/drawing/2014/main" id="{CD599DC8-25CE-41C4-B16C-6E2ADF041F36}"/>
              </a:ext>
            </a:extLst>
          </p:cNvPr>
          <p:cNvSpPr txBox="1"/>
          <p:nvPr/>
        </p:nvSpPr>
        <p:spPr>
          <a:xfrm>
            <a:off x="9452286" y="5386622"/>
            <a:ext cx="708859" cy="369332"/>
          </a:xfrm>
          <a:prstGeom prst="rect">
            <a:avLst/>
          </a:prstGeom>
          <a:noFill/>
        </p:spPr>
        <p:txBody>
          <a:bodyPr wrap="square" rtlCol="0">
            <a:spAutoFit/>
          </a:bodyPr>
          <a:lstStyle/>
          <a:p>
            <a:r>
              <a:rPr lang="en-IN" b="1" dirty="0">
                <a:latin typeface="Gill Sans" panose="020B0604020202020204" charset="0"/>
                <a:cs typeface="Gill Sans" panose="020B0604020202020204" charset="0"/>
              </a:rPr>
              <a:t>GND</a:t>
            </a:r>
            <a:endParaRPr lang="en-US" b="1"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818291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2775173"/>
            <a:ext cx="10515600" cy="2144152"/>
          </a:xfrm>
        </p:spPr>
        <p:txBody>
          <a:bodyPr/>
          <a:lstStyle/>
          <a:p>
            <a:pPr algn="ctr"/>
            <a:r>
              <a:rPr lang="en-US" sz="4800" b="1" dirty="0">
                <a:solidFill>
                  <a:schemeClr val="dk1"/>
                </a:solidFill>
                <a:latin typeface="Helvetica Neue" panose="020B0604020202020204" charset="0"/>
                <a:cs typeface="Gill Sans"/>
              </a:rPr>
              <a:t>Understand the SPI protocol</a:t>
            </a:r>
            <a:br>
              <a:rPr lang="en-US" sz="4800" dirty="0">
                <a:solidFill>
                  <a:schemeClr val="dk2"/>
                </a:solidFill>
                <a:latin typeface="Gill Sans"/>
                <a:cs typeface="Gill Sans"/>
              </a:rPr>
            </a:br>
            <a:endParaRPr lang="en-US" sz="4800" b="1" dirty="0">
              <a:solidFill>
                <a:schemeClr val="dk1"/>
              </a:solidFill>
              <a:latin typeface="Helvetica Neue" panose="020B0604020202020204" charset="0"/>
              <a:cs typeface="Gill Sans"/>
              <a:sym typeface="Gill Sans"/>
            </a:endParaRPr>
          </a:p>
        </p:txBody>
      </p:sp>
    </p:spTree>
    <p:extLst>
      <p:ext uri="{BB962C8B-B14F-4D97-AF65-F5344CB8AC3E}">
        <p14:creationId xmlns:p14="http://schemas.microsoft.com/office/powerpoint/2010/main" val="129400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d825073dbc_0_0"/>
          <p:cNvSpPr txBox="1">
            <a:spLocks noGrp="1"/>
          </p:cNvSpPr>
          <p:nvPr>
            <p:ph type="title"/>
          </p:nvPr>
        </p:nvSpPr>
        <p:spPr>
          <a:xfrm>
            <a:off x="738296" y="511397"/>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Gill Sans" panose="020B0604020202020204" charset="0"/>
                <a:cs typeface="Gill Sans" panose="020B0604020202020204" charset="0"/>
              </a:rPr>
              <a:t>SPI Protocol</a:t>
            </a:r>
            <a:endParaRPr sz="4267" b="1" dirty="0">
              <a:latin typeface="Gill Sans" panose="020B0604020202020204" charset="0"/>
              <a:cs typeface="Gill Sans" panose="020B0604020202020204" charset="0"/>
            </a:endParaRPr>
          </a:p>
        </p:txBody>
      </p:sp>
      <p:sp>
        <p:nvSpPr>
          <p:cNvPr id="390" name="Google Shape;390;gd825073dbc_0_0"/>
          <p:cNvSpPr txBox="1">
            <a:spLocks noGrp="1"/>
          </p:cNvSpPr>
          <p:nvPr>
            <p:ph type="body" idx="1"/>
          </p:nvPr>
        </p:nvSpPr>
        <p:spPr>
          <a:xfrm>
            <a:off x="838200" y="1306533"/>
            <a:ext cx="10515600" cy="1434416"/>
          </a:xfrm>
          <a:prstGeom prst="rect">
            <a:avLst/>
          </a:prstGeom>
        </p:spPr>
        <p:txBody>
          <a:bodyPr spcFirstLastPara="1" vert="horz" wrap="square" lIns="91433" tIns="45700" rIns="91433" bIns="45700" rtlCol="0" anchor="t" anchorCtr="0">
            <a:noAutofit/>
          </a:bodyPr>
          <a:lstStyle/>
          <a:p>
            <a:pPr marL="558786" indent="-457189">
              <a:spcBef>
                <a:spcPts val="0"/>
              </a:spcBef>
              <a:buClr>
                <a:schemeClr val="dk1"/>
              </a:buClr>
              <a:buSzPts val="2400"/>
            </a:pPr>
            <a:r>
              <a:rPr lang="en-IN" sz="3200" dirty="0">
                <a:latin typeface="Gill Sans" panose="020B0604020202020204" charset="0"/>
                <a:cs typeface="Gill Sans" panose="020B0604020202020204" charset="0"/>
              </a:rPr>
              <a:t>SPI stands for (</a:t>
            </a:r>
            <a:r>
              <a:rPr lang="en-IN" sz="3200" b="1" dirty="0">
                <a:latin typeface="Gill Sans" panose="020B0604020202020204" charset="0"/>
                <a:cs typeface="Gill Sans" panose="020B0604020202020204" charset="0"/>
              </a:rPr>
              <a:t>S</a:t>
            </a:r>
            <a:r>
              <a:rPr lang="en-IN" sz="3200" dirty="0">
                <a:latin typeface="Gill Sans" panose="020B0604020202020204" charset="0"/>
                <a:cs typeface="Gill Sans" panose="020B0604020202020204" charset="0"/>
              </a:rPr>
              <a:t>erial </a:t>
            </a:r>
            <a:r>
              <a:rPr lang="en-IN" sz="3200" b="1" dirty="0">
                <a:latin typeface="Gill Sans" panose="020B0604020202020204" charset="0"/>
                <a:cs typeface="Gill Sans" panose="020B0604020202020204" charset="0"/>
              </a:rPr>
              <a:t>P</a:t>
            </a:r>
            <a:r>
              <a:rPr lang="en-IN" sz="3200" dirty="0">
                <a:latin typeface="Gill Sans" panose="020B0604020202020204" charset="0"/>
                <a:cs typeface="Gill Sans" panose="020B0604020202020204" charset="0"/>
              </a:rPr>
              <a:t>eripheral </a:t>
            </a:r>
            <a:r>
              <a:rPr lang="en-IN" sz="3200" b="1" dirty="0">
                <a:latin typeface="Gill Sans" panose="020B0604020202020204" charset="0"/>
                <a:cs typeface="Gill Sans" panose="020B0604020202020204" charset="0"/>
              </a:rPr>
              <a:t>I</a:t>
            </a:r>
            <a:r>
              <a:rPr lang="en-IN" sz="3200" dirty="0">
                <a:latin typeface="Gill Sans" panose="020B0604020202020204" charset="0"/>
                <a:cs typeface="Gill Sans" panose="020B0604020202020204" charset="0"/>
              </a:rPr>
              <a:t>nterface)</a:t>
            </a:r>
          </a:p>
          <a:p>
            <a:pPr marL="101597" indent="0">
              <a:spcBef>
                <a:spcPts val="0"/>
              </a:spcBef>
              <a:buClr>
                <a:schemeClr val="dk1"/>
              </a:buClr>
              <a:buSzPts val="2400"/>
              <a:buNone/>
            </a:pPr>
            <a:endParaRPr lang="en-IN" sz="667" dirty="0">
              <a:latin typeface="Gill Sans" panose="020B0604020202020204" charset="0"/>
              <a:cs typeface="Gill Sans" panose="020B0604020202020204" charset="0"/>
            </a:endParaRPr>
          </a:p>
          <a:p>
            <a:pPr marL="558786" indent="-457189">
              <a:spcBef>
                <a:spcPts val="0"/>
              </a:spcBef>
              <a:buClr>
                <a:schemeClr val="dk1"/>
              </a:buClr>
              <a:buSzPts val="2400"/>
            </a:pPr>
            <a:r>
              <a:rPr lang="en-IN" sz="3200" dirty="0">
                <a:latin typeface="Gill Sans" panose="020B0604020202020204" charset="0"/>
                <a:cs typeface="Gill Sans" panose="020B0604020202020204" charset="0"/>
              </a:rPr>
              <a:t>SPI bus allows communication between one master and one or multiple slave devices.</a:t>
            </a:r>
            <a:endParaRPr dirty="0">
              <a:latin typeface="Gill Sans" panose="020B0604020202020204" charset="0"/>
              <a:cs typeface="Gill Sans" panose="020B0604020202020204" charset="0"/>
            </a:endParaRPr>
          </a:p>
        </p:txBody>
      </p:sp>
      <p:sp>
        <p:nvSpPr>
          <p:cNvPr id="391" name="Google Shape;391;gd825073dbc_0_0"/>
          <p:cNvSpPr/>
          <p:nvPr/>
        </p:nvSpPr>
        <p:spPr>
          <a:xfrm>
            <a:off x="4894457" y="3074328"/>
            <a:ext cx="2321200" cy="3158000"/>
          </a:xfrm>
          <a:prstGeom prst="rect">
            <a:avLst/>
          </a:prstGeom>
          <a:noFill/>
          <a:ln w="25400" cap="flat" cmpd="sng">
            <a:solidFill>
              <a:schemeClr val="accent6"/>
            </a:solidFill>
            <a:prstDash val="dash"/>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392" name="Google Shape;392;gd825073dbc_0_0"/>
          <p:cNvSpPr/>
          <p:nvPr/>
        </p:nvSpPr>
        <p:spPr>
          <a:xfrm>
            <a:off x="1602611" y="3590141"/>
            <a:ext cx="3024400" cy="2644800"/>
          </a:xfrm>
          <a:prstGeom prst="roundRect">
            <a:avLst>
              <a:gd name="adj" fmla="val 16667"/>
            </a:avLst>
          </a:prstGeom>
          <a:solidFill>
            <a:srgbClr val="00B0F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667" b="1">
                <a:latin typeface="Gill Sans" panose="020B0604020202020204" charset="0"/>
                <a:ea typeface="Gill Sans"/>
                <a:cs typeface="Gill Sans" panose="020B0604020202020204" charset="0"/>
                <a:sym typeface="Gill Sans"/>
              </a:rPr>
              <a:t>Master</a:t>
            </a:r>
            <a:endParaRPr sz="2667" b="1">
              <a:latin typeface="Gill Sans" panose="020B0604020202020204" charset="0"/>
              <a:ea typeface="Gill Sans"/>
              <a:cs typeface="Gill Sans" panose="020B0604020202020204" charset="0"/>
              <a:sym typeface="Gill Sans"/>
            </a:endParaRPr>
          </a:p>
          <a:p>
            <a:pPr algn="ctr"/>
            <a:r>
              <a:rPr lang="en-IN" sz="2667" b="1">
                <a:latin typeface="Gill Sans" panose="020B0604020202020204" charset="0"/>
                <a:ea typeface="Gill Sans"/>
                <a:cs typeface="Gill Sans" panose="020B0604020202020204" charset="0"/>
                <a:sym typeface="Gill Sans"/>
              </a:rPr>
              <a:t>MCU</a:t>
            </a:r>
            <a:endParaRPr sz="2667" b="1">
              <a:latin typeface="Gill Sans" panose="020B0604020202020204" charset="0"/>
              <a:ea typeface="Gill Sans"/>
              <a:cs typeface="Gill Sans" panose="020B0604020202020204" charset="0"/>
              <a:sym typeface="Gill Sans"/>
            </a:endParaRPr>
          </a:p>
        </p:txBody>
      </p:sp>
      <p:sp>
        <p:nvSpPr>
          <p:cNvPr id="393" name="Google Shape;393;gd825073dbc_0_0"/>
          <p:cNvSpPr txBox="1"/>
          <p:nvPr/>
        </p:nvSpPr>
        <p:spPr>
          <a:xfrm>
            <a:off x="3923784" y="3876184"/>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394" name="Google Shape;394;gd825073dbc_0_0"/>
          <p:cNvSpPr txBox="1"/>
          <p:nvPr/>
        </p:nvSpPr>
        <p:spPr>
          <a:xfrm>
            <a:off x="3893301" y="4394344"/>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395" name="Google Shape;395;gd825073dbc_0_0"/>
          <p:cNvSpPr txBox="1"/>
          <p:nvPr/>
        </p:nvSpPr>
        <p:spPr>
          <a:xfrm>
            <a:off x="3923784" y="4912504"/>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396" name="Google Shape;396;gd825073dbc_0_0"/>
          <p:cNvSpPr txBox="1"/>
          <p:nvPr/>
        </p:nvSpPr>
        <p:spPr>
          <a:xfrm>
            <a:off x="3902676" y="5501003"/>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gpio1</a:t>
            </a:r>
            <a:endParaRPr sz="1600" b="1">
              <a:latin typeface="Gill Sans" panose="020B0604020202020204" charset="0"/>
              <a:ea typeface="Gill Sans"/>
              <a:cs typeface="Gill Sans" panose="020B0604020202020204" charset="0"/>
              <a:sym typeface="Gill Sans"/>
            </a:endParaRPr>
          </a:p>
        </p:txBody>
      </p:sp>
      <p:sp>
        <p:nvSpPr>
          <p:cNvPr id="397" name="Google Shape;397;gd825073dbc_0_0"/>
          <p:cNvSpPr/>
          <p:nvPr/>
        </p:nvSpPr>
        <p:spPr>
          <a:xfrm>
            <a:off x="7564969" y="3587793"/>
            <a:ext cx="3024400" cy="2644800"/>
          </a:xfrm>
          <a:prstGeom prst="roundRect">
            <a:avLst>
              <a:gd name="adj" fmla="val 16667"/>
            </a:avLst>
          </a:prstGeom>
          <a:solidFill>
            <a:srgbClr val="548135"/>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endParaRPr sz="3600">
              <a:latin typeface="Gill Sans" panose="020B0604020202020204" charset="0"/>
              <a:cs typeface="Gill Sans" panose="020B0604020202020204" charset="0"/>
              <a:sym typeface="Arial"/>
            </a:endParaRPr>
          </a:p>
        </p:txBody>
      </p:sp>
      <p:sp>
        <p:nvSpPr>
          <p:cNvPr id="398" name="Google Shape;398;gd825073dbc_0_0"/>
          <p:cNvSpPr txBox="1"/>
          <p:nvPr/>
        </p:nvSpPr>
        <p:spPr>
          <a:xfrm>
            <a:off x="7677515" y="3873836"/>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399" name="Google Shape;399;gd825073dbc_0_0"/>
          <p:cNvSpPr txBox="1"/>
          <p:nvPr/>
        </p:nvSpPr>
        <p:spPr>
          <a:xfrm>
            <a:off x="7647033" y="4391996"/>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400" name="Google Shape;400;gd825073dbc_0_0"/>
          <p:cNvSpPr txBox="1"/>
          <p:nvPr/>
        </p:nvSpPr>
        <p:spPr>
          <a:xfrm>
            <a:off x="7677515" y="4910156"/>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401" name="Google Shape;401;gd825073dbc_0_0"/>
          <p:cNvSpPr txBox="1"/>
          <p:nvPr/>
        </p:nvSpPr>
        <p:spPr>
          <a:xfrm>
            <a:off x="7726748" y="5498655"/>
            <a:ext cx="530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SS</a:t>
            </a:r>
            <a:endParaRPr sz="1600" b="1">
              <a:latin typeface="Gill Sans" panose="020B0604020202020204" charset="0"/>
              <a:ea typeface="Gill Sans"/>
              <a:cs typeface="Gill Sans" panose="020B0604020202020204" charset="0"/>
              <a:sym typeface="Gill Sans"/>
            </a:endParaRPr>
          </a:p>
        </p:txBody>
      </p:sp>
      <p:cxnSp>
        <p:nvCxnSpPr>
          <p:cNvPr id="402" name="Google Shape;402;gd825073dbc_0_0"/>
          <p:cNvCxnSpPr/>
          <p:nvPr/>
        </p:nvCxnSpPr>
        <p:spPr>
          <a:xfrm rot="10800000">
            <a:off x="7834485" y="5572004"/>
            <a:ext cx="225200" cy="0"/>
          </a:xfrm>
          <a:prstGeom prst="straightConnector1">
            <a:avLst/>
          </a:prstGeom>
          <a:noFill/>
          <a:ln w="9525" cap="flat" cmpd="sng">
            <a:solidFill>
              <a:schemeClr val="dk1"/>
            </a:solidFill>
            <a:prstDash val="solid"/>
            <a:round/>
            <a:headEnd type="none" w="sm" len="sm"/>
            <a:tailEnd type="none" w="sm" len="sm"/>
          </a:ln>
        </p:spPr>
      </p:cxnSp>
      <p:sp>
        <p:nvSpPr>
          <p:cNvPr id="403" name="Google Shape;403;gd825073dbc_0_0"/>
          <p:cNvSpPr txBox="1"/>
          <p:nvPr/>
        </p:nvSpPr>
        <p:spPr>
          <a:xfrm>
            <a:off x="8549712" y="4213811"/>
            <a:ext cx="1760800" cy="1518374"/>
          </a:xfrm>
          <a:prstGeom prst="rect">
            <a:avLst/>
          </a:prstGeom>
          <a:noFill/>
          <a:ln>
            <a:noFill/>
          </a:ln>
        </p:spPr>
        <p:txBody>
          <a:bodyPr spcFirstLastPara="1" wrap="square" lIns="121900" tIns="60933" rIns="121900" bIns="60933" anchor="t" anchorCtr="0">
            <a:spAutoFit/>
          </a:bodyPr>
          <a:lstStyle/>
          <a:p>
            <a:pPr algn="ctr"/>
            <a:r>
              <a:rPr lang="en-IN" sz="2667" b="1">
                <a:latin typeface="Gill Sans" panose="020B0604020202020204" charset="0"/>
                <a:ea typeface="Gill Sans"/>
                <a:cs typeface="Gill Sans" panose="020B0604020202020204" charset="0"/>
                <a:sym typeface="Gill Sans"/>
              </a:rPr>
              <a:t>Slave</a:t>
            </a:r>
            <a:endParaRPr sz="1600" b="1">
              <a:latin typeface="Gill Sans" panose="020B0604020202020204" charset="0"/>
              <a:ea typeface="Gill Sans"/>
              <a:cs typeface="Gill Sans" panose="020B0604020202020204" charset="0"/>
              <a:sym typeface="Gill Sans"/>
            </a:endParaRPr>
          </a:p>
          <a:p>
            <a:pPr algn="ctr"/>
            <a:r>
              <a:rPr lang="en-IN" sz="1600" b="1">
                <a:latin typeface="Gill Sans" panose="020B0604020202020204" charset="0"/>
                <a:ea typeface="Gill Sans"/>
                <a:cs typeface="Gill Sans" panose="020B0604020202020204" charset="0"/>
                <a:sym typeface="Gill Sans"/>
              </a:rPr>
              <a:t> </a:t>
            </a:r>
            <a:r>
              <a:rPr lang="en-IN" sz="1600">
                <a:latin typeface="Gill Sans" panose="020B0604020202020204" charset="0"/>
                <a:ea typeface="Gill Sans"/>
                <a:cs typeface="Gill Sans" panose="020B0604020202020204" charset="0"/>
                <a:sym typeface="Gill Sans"/>
              </a:rPr>
              <a:t>(Sensors,  EEPROM, SD CARD, Display, Wifi, BT, etc)</a:t>
            </a:r>
            <a:endParaRPr sz="1600">
              <a:latin typeface="Gill Sans" panose="020B0604020202020204" charset="0"/>
              <a:ea typeface="Gill Sans"/>
              <a:cs typeface="Gill Sans" panose="020B0604020202020204" charset="0"/>
              <a:sym typeface="Gill Sans"/>
            </a:endParaRPr>
          </a:p>
        </p:txBody>
      </p:sp>
      <p:cxnSp>
        <p:nvCxnSpPr>
          <p:cNvPr id="404" name="Google Shape;404;gd825073dbc_0_0"/>
          <p:cNvCxnSpPr/>
          <p:nvPr/>
        </p:nvCxnSpPr>
        <p:spPr>
          <a:xfrm>
            <a:off x="4627164" y="4058503"/>
            <a:ext cx="2938000" cy="0"/>
          </a:xfrm>
          <a:prstGeom prst="straightConnector1">
            <a:avLst/>
          </a:prstGeom>
          <a:noFill/>
          <a:ln w="57150" cap="flat" cmpd="sng">
            <a:solidFill>
              <a:srgbClr val="C55A11"/>
            </a:solidFill>
            <a:prstDash val="solid"/>
            <a:round/>
            <a:headEnd type="none" w="sm" len="sm"/>
            <a:tailEnd type="triangle" w="med" len="med"/>
          </a:ln>
        </p:spPr>
      </p:cxnSp>
      <p:cxnSp>
        <p:nvCxnSpPr>
          <p:cNvPr id="405" name="Google Shape;405;gd825073dbc_0_0"/>
          <p:cNvCxnSpPr/>
          <p:nvPr/>
        </p:nvCxnSpPr>
        <p:spPr>
          <a:xfrm>
            <a:off x="4638885" y="4604800"/>
            <a:ext cx="2938000" cy="0"/>
          </a:xfrm>
          <a:prstGeom prst="straightConnector1">
            <a:avLst/>
          </a:prstGeom>
          <a:noFill/>
          <a:ln w="57150" cap="flat" cmpd="sng">
            <a:solidFill>
              <a:srgbClr val="C55A11"/>
            </a:solidFill>
            <a:prstDash val="solid"/>
            <a:round/>
            <a:headEnd type="none" w="sm" len="sm"/>
            <a:tailEnd type="triangle" w="med" len="med"/>
          </a:ln>
        </p:spPr>
      </p:cxnSp>
      <p:cxnSp>
        <p:nvCxnSpPr>
          <p:cNvPr id="406" name="Google Shape;406;gd825073dbc_0_0"/>
          <p:cNvCxnSpPr/>
          <p:nvPr/>
        </p:nvCxnSpPr>
        <p:spPr>
          <a:xfrm rot="10800000">
            <a:off x="4612972" y="5094823"/>
            <a:ext cx="2952000" cy="0"/>
          </a:xfrm>
          <a:prstGeom prst="straightConnector1">
            <a:avLst/>
          </a:prstGeom>
          <a:noFill/>
          <a:ln w="57150" cap="flat" cmpd="sng">
            <a:solidFill>
              <a:srgbClr val="C55A11"/>
            </a:solidFill>
            <a:prstDash val="solid"/>
            <a:round/>
            <a:headEnd type="none" w="sm" len="sm"/>
            <a:tailEnd type="triangle" w="med" len="med"/>
          </a:ln>
        </p:spPr>
      </p:cxnSp>
      <p:cxnSp>
        <p:nvCxnSpPr>
          <p:cNvPr id="407" name="Google Shape;407;gd825073dbc_0_0"/>
          <p:cNvCxnSpPr/>
          <p:nvPr/>
        </p:nvCxnSpPr>
        <p:spPr>
          <a:xfrm>
            <a:off x="4636539" y="5685665"/>
            <a:ext cx="2938000" cy="0"/>
          </a:xfrm>
          <a:prstGeom prst="straightConnector1">
            <a:avLst/>
          </a:prstGeom>
          <a:noFill/>
          <a:ln w="57150" cap="flat" cmpd="sng">
            <a:solidFill>
              <a:srgbClr val="C55A11"/>
            </a:solidFill>
            <a:prstDash val="solid"/>
            <a:round/>
            <a:headEnd type="none" w="sm" len="sm"/>
            <a:tailEnd type="triangle" w="med" len="med"/>
          </a:ln>
        </p:spPr>
      </p:cxnSp>
      <p:sp>
        <p:nvSpPr>
          <p:cNvPr id="408" name="Google Shape;408;gd825073dbc_0_0"/>
          <p:cNvSpPr txBox="1"/>
          <p:nvPr/>
        </p:nvSpPr>
        <p:spPr>
          <a:xfrm>
            <a:off x="5288345" y="3144661"/>
            <a:ext cx="1491200" cy="369277"/>
          </a:xfrm>
          <a:prstGeom prst="rect">
            <a:avLst/>
          </a:prstGeom>
          <a:noFill/>
          <a:ln>
            <a:noFill/>
          </a:ln>
        </p:spPr>
        <p:txBody>
          <a:bodyPr spcFirstLastPara="1" wrap="square" lIns="121900" tIns="60933" rIns="121900" bIns="60933" anchor="t" anchorCtr="0">
            <a:spAutoFit/>
          </a:bodyPr>
          <a:lstStyle/>
          <a:p>
            <a:pPr algn="ctr"/>
            <a:r>
              <a:rPr lang="en-IN" sz="1600" b="1" u="sng">
                <a:latin typeface="Gill Sans" panose="020B0604020202020204" charset="0"/>
                <a:ea typeface="Gill Sans"/>
                <a:cs typeface="Gill Sans" panose="020B0604020202020204" charset="0"/>
                <a:sym typeface="Gill Sans"/>
              </a:rPr>
              <a:t>SPI Bus</a:t>
            </a:r>
            <a:endParaRPr sz="1600" b="1" u="sng">
              <a:latin typeface="Gill Sans" panose="020B0604020202020204" charset="0"/>
              <a:ea typeface="Gill Sans"/>
              <a:cs typeface="Gill Sans" panose="020B0604020202020204" charset="0"/>
              <a:sym typeface="Gill Sans"/>
            </a:endParaRPr>
          </a:p>
        </p:txBody>
      </p:sp>
      <p:sp>
        <p:nvSpPr>
          <p:cNvPr id="409" name="Google Shape;409;gd825073dbc_0_0"/>
          <p:cNvSpPr txBox="1"/>
          <p:nvPr/>
        </p:nvSpPr>
        <p:spPr>
          <a:xfrm>
            <a:off x="5300069" y="3676891"/>
            <a:ext cx="149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Serial Clock</a:t>
            </a:r>
            <a:endParaRPr sz="1600" b="1">
              <a:latin typeface="Gill Sans" panose="020B0604020202020204" charset="0"/>
              <a:ea typeface="Gill Sans"/>
              <a:cs typeface="Gill Sans" panose="020B0604020202020204" charset="0"/>
              <a:sym typeface="Gill Sans"/>
            </a:endParaRPr>
          </a:p>
        </p:txBody>
      </p:sp>
      <p:sp>
        <p:nvSpPr>
          <p:cNvPr id="410" name="Google Shape;410;gd825073dbc_0_0"/>
          <p:cNvSpPr txBox="1"/>
          <p:nvPr/>
        </p:nvSpPr>
        <p:spPr>
          <a:xfrm>
            <a:off x="5016369" y="4293526"/>
            <a:ext cx="21828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Master Out Slave In</a:t>
            </a:r>
            <a:endParaRPr sz="1600" b="1">
              <a:latin typeface="Gill Sans" panose="020B0604020202020204" charset="0"/>
              <a:ea typeface="Gill Sans"/>
              <a:cs typeface="Gill Sans" panose="020B0604020202020204" charset="0"/>
              <a:sym typeface="Gill Sans"/>
            </a:endParaRPr>
          </a:p>
        </p:txBody>
      </p:sp>
      <p:sp>
        <p:nvSpPr>
          <p:cNvPr id="411" name="Google Shape;411;gd825073dbc_0_0"/>
          <p:cNvSpPr txBox="1"/>
          <p:nvPr/>
        </p:nvSpPr>
        <p:spPr>
          <a:xfrm>
            <a:off x="4946028" y="4771823"/>
            <a:ext cx="232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Master In Slave Out</a:t>
            </a:r>
            <a:endParaRPr sz="1600" b="1">
              <a:latin typeface="Gill Sans" panose="020B0604020202020204" charset="0"/>
              <a:ea typeface="Gill Sans"/>
              <a:cs typeface="Gill Sans" panose="020B0604020202020204" charset="0"/>
              <a:sym typeface="Gill Sans"/>
            </a:endParaRPr>
          </a:p>
        </p:txBody>
      </p:sp>
      <p:sp>
        <p:nvSpPr>
          <p:cNvPr id="412" name="Google Shape;412;gd825073dbc_0_0"/>
          <p:cNvSpPr txBox="1"/>
          <p:nvPr/>
        </p:nvSpPr>
        <p:spPr>
          <a:xfrm>
            <a:off x="5365721" y="5374399"/>
            <a:ext cx="149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Slave Select</a:t>
            </a:r>
            <a:endParaRPr sz="1600" b="1">
              <a:latin typeface="Gill Sans" panose="020B0604020202020204" charset="0"/>
              <a:ea typeface="Gill Sans"/>
              <a:cs typeface="Gill Sans" panose="020B0604020202020204" charset="0"/>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d825073dbc_0_58"/>
          <p:cNvSpPr txBox="1">
            <a:spLocks noGrp="1"/>
          </p:cNvSpPr>
          <p:nvPr>
            <p:ph type="body" idx="1"/>
          </p:nvPr>
        </p:nvSpPr>
        <p:spPr>
          <a:xfrm>
            <a:off x="497400" y="966272"/>
            <a:ext cx="11197200" cy="5891728"/>
          </a:xfrm>
          <a:prstGeom prst="rect">
            <a:avLst/>
          </a:prstGeom>
        </p:spPr>
        <p:txBody>
          <a:bodyPr spcFirstLastPara="1" vert="horz" wrap="square" lIns="91433" tIns="45700" rIns="91433" bIns="45700" rtlCol="0" anchor="t" anchorCtr="0">
            <a:noAutofit/>
          </a:bodyPr>
          <a:lstStyle/>
          <a:p>
            <a:pPr marL="101597" indent="0">
              <a:spcBef>
                <a:spcPts val="0"/>
              </a:spcBef>
              <a:buClr>
                <a:schemeClr val="dk1"/>
              </a:buClr>
              <a:buSzPts val="2400"/>
              <a:buNone/>
            </a:pPr>
            <a:r>
              <a:rPr lang="en-IN" sz="3200" dirty="0">
                <a:latin typeface="Gill Sans" panose="020B0604020202020204" charset="0"/>
                <a:cs typeface="Gill Sans" panose="020B0604020202020204" charset="0"/>
              </a:rPr>
              <a:t>There are 4 I/O pins dedicated to SPI communication with the external devices.</a:t>
            </a:r>
          </a:p>
          <a:p>
            <a:pPr marL="101597" indent="0">
              <a:spcBef>
                <a:spcPts val="0"/>
              </a:spcBef>
              <a:buClr>
                <a:schemeClr val="dk1"/>
              </a:buClr>
              <a:buSzPts val="2400"/>
              <a:buNone/>
            </a:pPr>
            <a:endParaRPr sz="800" u="sng" dirty="0">
              <a:latin typeface="Gill Sans" panose="020B0604020202020204" charset="0"/>
              <a:cs typeface="Gill Sans" panose="020B0604020202020204" charset="0"/>
            </a:endParaRPr>
          </a:p>
          <a:p>
            <a:pPr indent="-474121">
              <a:spcBef>
                <a:spcPts val="0"/>
              </a:spcBef>
              <a:buClr>
                <a:schemeClr val="dk1"/>
              </a:buClr>
              <a:buSzPts val="2000"/>
            </a:pPr>
            <a:r>
              <a:rPr lang="en-IN" sz="2933" b="1" dirty="0">
                <a:latin typeface="Gill Sans" panose="020B0604020202020204" charset="0"/>
                <a:cs typeface="Gill Sans" panose="020B0604020202020204" charset="0"/>
              </a:rPr>
              <a:t>MISO</a:t>
            </a:r>
            <a:r>
              <a:rPr lang="en-IN" sz="3067" dirty="0">
                <a:latin typeface="Gill Sans" panose="020B0604020202020204" charset="0"/>
                <a:cs typeface="Gill Sans" panose="020B0604020202020204" charset="0"/>
              </a:rPr>
              <a:t> </a:t>
            </a:r>
            <a:endParaRPr sz="3067" dirty="0">
              <a:latin typeface="Gill Sans" panose="020B0604020202020204" charset="0"/>
              <a:cs typeface="Gill Sans" panose="020B0604020202020204" charset="0"/>
            </a:endParaRPr>
          </a:p>
          <a:p>
            <a:pPr lvl="1" indent="-457189">
              <a:spcBef>
                <a:spcPts val="0"/>
              </a:spcBef>
              <a:buClr>
                <a:schemeClr val="dk1"/>
              </a:buClr>
              <a:buSzPts val="1800"/>
              <a:buFont typeface="Courier New" panose="02070309020205020404" pitchFamily="49" charset="0"/>
              <a:buChar char="o"/>
            </a:pPr>
            <a:r>
              <a:rPr lang="en-IN" sz="2667" dirty="0">
                <a:latin typeface="Gill Sans" panose="020B0604020202020204" charset="0"/>
                <a:cs typeface="Gill Sans" panose="020B0604020202020204" charset="0"/>
              </a:rPr>
              <a:t>It is used to receive data in master mode which is transmitted from slave mode.</a:t>
            </a:r>
          </a:p>
          <a:p>
            <a:pPr marL="761981" lvl="1" indent="0">
              <a:spcBef>
                <a:spcPts val="0"/>
              </a:spcBef>
              <a:buClr>
                <a:schemeClr val="dk1"/>
              </a:buClr>
              <a:buSzPts val="1800"/>
              <a:buNone/>
            </a:pPr>
            <a:endParaRPr sz="933" dirty="0">
              <a:latin typeface="Gill Sans" panose="020B0604020202020204" charset="0"/>
              <a:cs typeface="Gill Sans" panose="020B0604020202020204" charset="0"/>
            </a:endParaRPr>
          </a:p>
          <a:p>
            <a:pPr indent="-474121">
              <a:spcBef>
                <a:spcPts val="0"/>
              </a:spcBef>
              <a:buClr>
                <a:schemeClr val="dk1"/>
              </a:buClr>
              <a:buSzPts val="2000"/>
            </a:pPr>
            <a:r>
              <a:rPr lang="en-IN" sz="2933" b="1" dirty="0">
                <a:latin typeface="Gill Sans" panose="020B0604020202020204" charset="0"/>
                <a:cs typeface="Gill Sans" panose="020B0604020202020204" charset="0"/>
              </a:rPr>
              <a:t>MOSI</a:t>
            </a:r>
            <a:endParaRPr sz="2933" b="1" dirty="0">
              <a:latin typeface="Gill Sans" panose="020B0604020202020204" charset="0"/>
              <a:cs typeface="Gill Sans" panose="020B0604020202020204" charset="0"/>
            </a:endParaRPr>
          </a:p>
          <a:p>
            <a:pPr lvl="1" indent="-457189">
              <a:spcBef>
                <a:spcPts val="0"/>
              </a:spcBef>
              <a:buClr>
                <a:schemeClr val="dk1"/>
              </a:buClr>
              <a:buSzPts val="1800"/>
              <a:buFont typeface="Courier New" panose="02070309020205020404" pitchFamily="49" charset="0"/>
              <a:buChar char="o"/>
            </a:pPr>
            <a:r>
              <a:rPr lang="en-IN" sz="2667" dirty="0">
                <a:latin typeface="Gill Sans" panose="020B0604020202020204" charset="0"/>
                <a:cs typeface="Gill Sans" panose="020B0604020202020204" charset="0"/>
              </a:rPr>
              <a:t>It is used to receive data in slave mode which is transmitted from master mode.</a:t>
            </a:r>
          </a:p>
          <a:p>
            <a:pPr marL="761981" lvl="1" indent="0">
              <a:spcBef>
                <a:spcPts val="0"/>
              </a:spcBef>
              <a:buClr>
                <a:schemeClr val="dk1"/>
              </a:buClr>
              <a:buSzPts val="1800"/>
              <a:buNone/>
            </a:pPr>
            <a:endParaRPr sz="1200" dirty="0">
              <a:latin typeface="Gill Sans" panose="020B0604020202020204" charset="0"/>
              <a:cs typeface="Gill Sans" panose="020B0604020202020204" charset="0"/>
            </a:endParaRPr>
          </a:p>
          <a:p>
            <a:pPr indent="-474121">
              <a:spcBef>
                <a:spcPts val="0"/>
              </a:spcBef>
              <a:buClr>
                <a:schemeClr val="dk1"/>
              </a:buClr>
              <a:buSzPts val="2000"/>
            </a:pPr>
            <a:r>
              <a:rPr lang="en-IN" sz="2933" b="1" dirty="0">
                <a:latin typeface="Gill Sans" panose="020B0604020202020204" charset="0"/>
                <a:cs typeface="Gill Sans" panose="020B0604020202020204" charset="0"/>
              </a:rPr>
              <a:t>SCLK</a:t>
            </a:r>
            <a:endParaRPr sz="2933" b="1" dirty="0">
              <a:latin typeface="Gill Sans" panose="020B0604020202020204" charset="0"/>
              <a:cs typeface="Gill Sans" panose="020B0604020202020204" charset="0"/>
            </a:endParaRPr>
          </a:p>
          <a:p>
            <a:pPr lvl="1" indent="-457189">
              <a:spcBef>
                <a:spcPts val="0"/>
              </a:spcBef>
              <a:buClr>
                <a:schemeClr val="dk1"/>
              </a:buClr>
              <a:buSzPts val="1800"/>
              <a:buFont typeface="Courier New" panose="02070309020205020404" pitchFamily="49" charset="0"/>
              <a:buChar char="o"/>
            </a:pPr>
            <a:r>
              <a:rPr lang="en-IN" sz="2667" dirty="0">
                <a:latin typeface="Gill Sans" panose="020B0604020202020204" charset="0"/>
                <a:cs typeface="Gill Sans" panose="020B0604020202020204" charset="0"/>
              </a:rPr>
              <a:t>Input pin for SPI slaves and serial clock output pin for SPI master</a:t>
            </a:r>
          </a:p>
          <a:p>
            <a:pPr marL="761981" lvl="1" indent="0">
              <a:spcBef>
                <a:spcPts val="0"/>
              </a:spcBef>
              <a:buClr>
                <a:schemeClr val="dk1"/>
              </a:buClr>
              <a:buSzPts val="1800"/>
              <a:buNone/>
            </a:pPr>
            <a:endParaRPr sz="1400" dirty="0">
              <a:latin typeface="Gill Sans" panose="020B0604020202020204" charset="0"/>
              <a:cs typeface="Gill Sans" panose="020B0604020202020204" charset="0"/>
            </a:endParaRPr>
          </a:p>
          <a:p>
            <a:pPr indent="-474121">
              <a:spcBef>
                <a:spcPts val="0"/>
              </a:spcBef>
              <a:buClr>
                <a:schemeClr val="dk1"/>
              </a:buClr>
              <a:buSzPts val="2000"/>
            </a:pPr>
            <a:r>
              <a:rPr lang="en-IN" sz="2933" b="1" dirty="0">
                <a:latin typeface="Gill Sans" panose="020B0604020202020204" charset="0"/>
                <a:cs typeface="Gill Sans" panose="020B0604020202020204" charset="0"/>
              </a:rPr>
              <a:t>SS/NSS/CS (Slave Select/Chip Select)</a:t>
            </a:r>
            <a:endParaRPr sz="2933" b="1" dirty="0">
              <a:latin typeface="Gill Sans" panose="020B0604020202020204" charset="0"/>
              <a:cs typeface="Gill Sans" panose="020B0604020202020204" charset="0"/>
            </a:endParaRPr>
          </a:p>
          <a:p>
            <a:pPr lvl="1" indent="-457189">
              <a:spcBef>
                <a:spcPts val="0"/>
              </a:spcBef>
              <a:buClr>
                <a:schemeClr val="dk1"/>
              </a:buClr>
              <a:buSzPts val="1800"/>
              <a:buFont typeface="Courier New" panose="02070309020205020404" pitchFamily="49" charset="0"/>
              <a:buChar char="o"/>
            </a:pPr>
            <a:r>
              <a:rPr lang="en-IN" sz="2667" dirty="0">
                <a:latin typeface="Gill Sans" panose="020B0604020202020204" charset="0"/>
                <a:cs typeface="Gill Sans" panose="020B0604020202020204" charset="0"/>
              </a:rPr>
              <a:t>It is used to select a particular slave device for communication.</a:t>
            </a:r>
            <a:endParaRPr sz="2667" dirty="0">
              <a:latin typeface="Gill Sans" panose="020B0604020202020204" charset="0"/>
              <a:cs typeface="Gill Sans" panose="020B0604020202020204" charset="0"/>
            </a:endParaRPr>
          </a:p>
        </p:txBody>
      </p:sp>
      <p:sp>
        <p:nvSpPr>
          <p:cNvPr id="418" name="Google Shape;418;gd825073dbc_0_58"/>
          <p:cNvSpPr txBox="1">
            <a:spLocks noGrp="1"/>
          </p:cNvSpPr>
          <p:nvPr>
            <p:ph type="title"/>
          </p:nvPr>
        </p:nvSpPr>
        <p:spPr>
          <a:xfrm>
            <a:off x="936772" y="312911"/>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d825073dbc_0_64"/>
          <p:cNvSpPr txBox="1">
            <a:spLocks noGrp="1"/>
          </p:cNvSpPr>
          <p:nvPr>
            <p:ph type="body" idx="1"/>
          </p:nvPr>
        </p:nvSpPr>
        <p:spPr>
          <a:xfrm>
            <a:off x="838200" y="1448305"/>
            <a:ext cx="10515600" cy="1772000"/>
          </a:xfrm>
          <a:prstGeom prst="rect">
            <a:avLst/>
          </a:prstGeom>
        </p:spPr>
        <p:txBody>
          <a:bodyPr spcFirstLastPara="1" vert="horz" wrap="square" lIns="91433" tIns="45700" rIns="91433" bIns="45700" rtlCol="0" anchor="t" anchorCtr="0">
            <a:noAutofit/>
          </a:bodyPr>
          <a:lstStyle/>
          <a:p>
            <a:pPr marL="609585" indent="-507987">
              <a:spcBef>
                <a:spcPts val="0"/>
              </a:spcBef>
              <a:buClr>
                <a:schemeClr val="dk1"/>
              </a:buClr>
              <a:buSzPts val="2400"/>
              <a:buFont typeface="Gill Sans"/>
              <a:buChar char="●"/>
            </a:pPr>
            <a:r>
              <a:rPr lang="en-IN" sz="3200" dirty="0">
                <a:latin typeface="Gill Sans" panose="020B0604020202020204" charset="0"/>
                <a:cs typeface="Gill Sans" panose="020B0604020202020204" charset="0"/>
              </a:rPr>
              <a:t>Slave has to support for SPI communication.</a:t>
            </a:r>
            <a:endParaRPr sz="3200" dirty="0">
              <a:latin typeface="Gill Sans" panose="020B0604020202020204" charset="0"/>
              <a:cs typeface="Gill Sans" panose="020B0604020202020204" charset="0"/>
            </a:endParaRPr>
          </a:p>
          <a:p>
            <a:pPr marL="609585" indent="-507987">
              <a:spcBef>
                <a:spcPts val="0"/>
              </a:spcBef>
              <a:buClr>
                <a:schemeClr val="dk1"/>
              </a:buClr>
              <a:buSzPts val="2400"/>
              <a:buFont typeface="Gill Sans"/>
              <a:buChar char="●"/>
            </a:pPr>
            <a:r>
              <a:rPr lang="en-IN" sz="3200" dirty="0">
                <a:latin typeface="Gill Sans" panose="020B0604020202020204" charset="0"/>
                <a:cs typeface="Gill Sans" panose="020B0604020202020204" charset="0"/>
              </a:rPr>
              <a:t>Master uses one of its GPIO pin to pull the SS line to the ground to communicate with a particular slave device.</a:t>
            </a:r>
            <a:endParaRPr dirty="0">
              <a:latin typeface="Gill Sans" panose="020B0604020202020204" charset="0"/>
              <a:cs typeface="Gill Sans" panose="020B0604020202020204" charset="0"/>
            </a:endParaRPr>
          </a:p>
        </p:txBody>
      </p:sp>
      <p:sp>
        <p:nvSpPr>
          <p:cNvPr id="424" name="Google Shape;424;gd825073dbc_0_64"/>
          <p:cNvSpPr txBox="1">
            <a:spLocks noGrp="1"/>
          </p:cNvSpPr>
          <p:nvPr>
            <p:ph type="title"/>
          </p:nvPr>
        </p:nvSpPr>
        <p:spPr>
          <a:xfrm>
            <a:off x="738295" y="609952"/>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cxnSp>
        <p:nvCxnSpPr>
          <p:cNvPr id="425" name="Google Shape;425;gd825073dbc_0_64"/>
          <p:cNvCxnSpPr/>
          <p:nvPr/>
        </p:nvCxnSpPr>
        <p:spPr>
          <a:xfrm>
            <a:off x="6863783" y="5949168"/>
            <a:ext cx="0" cy="298800"/>
          </a:xfrm>
          <a:prstGeom prst="straightConnector1">
            <a:avLst/>
          </a:prstGeom>
          <a:noFill/>
          <a:ln w="28575" cap="flat" cmpd="sng">
            <a:solidFill>
              <a:schemeClr val="accent1"/>
            </a:solidFill>
            <a:prstDash val="solid"/>
            <a:round/>
            <a:headEnd type="none" w="sm" len="sm"/>
            <a:tailEnd type="none" w="sm" len="sm"/>
          </a:ln>
        </p:spPr>
      </p:cxnSp>
      <p:cxnSp>
        <p:nvCxnSpPr>
          <p:cNvPr id="426" name="Google Shape;426;gd825073dbc_0_64"/>
          <p:cNvCxnSpPr/>
          <p:nvPr/>
        </p:nvCxnSpPr>
        <p:spPr>
          <a:xfrm>
            <a:off x="6596497" y="6248047"/>
            <a:ext cx="532400" cy="0"/>
          </a:xfrm>
          <a:prstGeom prst="straightConnector1">
            <a:avLst/>
          </a:prstGeom>
          <a:noFill/>
          <a:ln w="28575" cap="flat" cmpd="sng">
            <a:solidFill>
              <a:srgbClr val="3E6EC2"/>
            </a:solidFill>
            <a:prstDash val="solid"/>
            <a:round/>
            <a:headEnd type="none" w="sm" len="sm"/>
            <a:tailEnd type="none" w="sm" len="sm"/>
          </a:ln>
        </p:spPr>
      </p:cxnSp>
      <p:cxnSp>
        <p:nvCxnSpPr>
          <p:cNvPr id="427" name="Google Shape;427;gd825073dbc_0_64"/>
          <p:cNvCxnSpPr/>
          <p:nvPr/>
        </p:nvCxnSpPr>
        <p:spPr>
          <a:xfrm>
            <a:off x="6664489" y="6330107"/>
            <a:ext cx="364400" cy="0"/>
          </a:xfrm>
          <a:prstGeom prst="straightConnector1">
            <a:avLst/>
          </a:prstGeom>
          <a:noFill/>
          <a:ln w="28575" cap="flat" cmpd="sng">
            <a:solidFill>
              <a:srgbClr val="3E6EC2"/>
            </a:solidFill>
            <a:prstDash val="solid"/>
            <a:round/>
            <a:headEnd type="none" w="sm" len="sm"/>
            <a:tailEnd type="none" w="sm" len="sm"/>
          </a:ln>
        </p:spPr>
      </p:cxnSp>
      <p:cxnSp>
        <p:nvCxnSpPr>
          <p:cNvPr id="428" name="Google Shape;428;gd825073dbc_0_64"/>
          <p:cNvCxnSpPr/>
          <p:nvPr/>
        </p:nvCxnSpPr>
        <p:spPr>
          <a:xfrm>
            <a:off x="6718416" y="6398099"/>
            <a:ext cx="268400" cy="0"/>
          </a:xfrm>
          <a:prstGeom prst="straightConnector1">
            <a:avLst/>
          </a:prstGeom>
          <a:noFill/>
          <a:ln w="28575" cap="flat" cmpd="sng">
            <a:solidFill>
              <a:srgbClr val="3E6EC2"/>
            </a:solidFill>
            <a:prstDash val="solid"/>
            <a:round/>
            <a:headEnd type="none" w="sm" len="sm"/>
            <a:tailEnd type="none" w="sm" len="sm"/>
          </a:ln>
        </p:spPr>
      </p:cxnSp>
      <p:sp>
        <p:nvSpPr>
          <p:cNvPr id="429" name="Google Shape;429;gd825073dbc_0_64"/>
          <p:cNvSpPr/>
          <p:nvPr/>
        </p:nvSpPr>
        <p:spPr>
          <a:xfrm>
            <a:off x="1602611" y="3838231"/>
            <a:ext cx="3024400" cy="2644800"/>
          </a:xfrm>
          <a:prstGeom prst="roundRect">
            <a:avLst>
              <a:gd name="adj" fmla="val 16667"/>
            </a:avLst>
          </a:prstGeom>
          <a:solidFill>
            <a:srgbClr val="00B0F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667" b="1">
                <a:latin typeface="Gill Sans" panose="020B0604020202020204" charset="0"/>
                <a:ea typeface="Gill Sans"/>
                <a:cs typeface="Gill Sans" panose="020B0604020202020204" charset="0"/>
                <a:sym typeface="Gill Sans"/>
              </a:rPr>
              <a:t>Master</a:t>
            </a:r>
            <a:endParaRPr sz="2667" b="1">
              <a:latin typeface="Gill Sans" panose="020B0604020202020204" charset="0"/>
              <a:ea typeface="Gill Sans"/>
              <a:cs typeface="Gill Sans" panose="020B0604020202020204" charset="0"/>
              <a:sym typeface="Gill Sans"/>
            </a:endParaRPr>
          </a:p>
          <a:p>
            <a:pPr algn="ctr"/>
            <a:r>
              <a:rPr lang="en-IN" sz="2667" b="1">
                <a:latin typeface="Gill Sans" panose="020B0604020202020204" charset="0"/>
                <a:ea typeface="Gill Sans"/>
                <a:cs typeface="Gill Sans" panose="020B0604020202020204" charset="0"/>
                <a:sym typeface="Gill Sans"/>
              </a:rPr>
              <a:t>MCU</a:t>
            </a:r>
            <a:endParaRPr sz="2667" b="1">
              <a:latin typeface="Gill Sans" panose="020B0604020202020204" charset="0"/>
              <a:ea typeface="Gill Sans"/>
              <a:cs typeface="Gill Sans" panose="020B0604020202020204" charset="0"/>
              <a:sym typeface="Gill Sans"/>
            </a:endParaRPr>
          </a:p>
        </p:txBody>
      </p:sp>
      <p:sp>
        <p:nvSpPr>
          <p:cNvPr id="430" name="Google Shape;430;gd825073dbc_0_64"/>
          <p:cNvSpPr txBox="1"/>
          <p:nvPr/>
        </p:nvSpPr>
        <p:spPr>
          <a:xfrm>
            <a:off x="3923784" y="4124273"/>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431" name="Google Shape;431;gd825073dbc_0_64"/>
          <p:cNvSpPr txBox="1"/>
          <p:nvPr/>
        </p:nvSpPr>
        <p:spPr>
          <a:xfrm>
            <a:off x="3893301" y="4642433"/>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432" name="Google Shape;432;gd825073dbc_0_64"/>
          <p:cNvSpPr txBox="1"/>
          <p:nvPr/>
        </p:nvSpPr>
        <p:spPr>
          <a:xfrm>
            <a:off x="3923784" y="5160593"/>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433" name="Google Shape;433;gd825073dbc_0_64"/>
          <p:cNvSpPr txBox="1"/>
          <p:nvPr/>
        </p:nvSpPr>
        <p:spPr>
          <a:xfrm>
            <a:off x="3902676" y="5749092"/>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gpio1</a:t>
            </a:r>
            <a:endParaRPr sz="1600" b="1">
              <a:latin typeface="Gill Sans" panose="020B0604020202020204" charset="0"/>
              <a:ea typeface="Gill Sans"/>
              <a:cs typeface="Gill Sans" panose="020B0604020202020204" charset="0"/>
              <a:sym typeface="Gill Sans"/>
            </a:endParaRPr>
          </a:p>
        </p:txBody>
      </p:sp>
      <p:sp>
        <p:nvSpPr>
          <p:cNvPr id="434" name="Google Shape;434;gd825073dbc_0_64"/>
          <p:cNvSpPr/>
          <p:nvPr/>
        </p:nvSpPr>
        <p:spPr>
          <a:xfrm>
            <a:off x="7564969" y="3835883"/>
            <a:ext cx="3024400" cy="2644800"/>
          </a:xfrm>
          <a:prstGeom prst="roundRect">
            <a:avLst>
              <a:gd name="adj" fmla="val 16667"/>
            </a:avLst>
          </a:prstGeom>
          <a:solidFill>
            <a:srgbClr val="548135"/>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endParaRPr sz="3600">
              <a:latin typeface="Gill Sans" panose="020B0604020202020204" charset="0"/>
              <a:cs typeface="Gill Sans" panose="020B0604020202020204" charset="0"/>
              <a:sym typeface="Arial"/>
            </a:endParaRPr>
          </a:p>
        </p:txBody>
      </p:sp>
      <p:sp>
        <p:nvSpPr>
          <p:cNvPr id="435" name="Google Shape;435;gd825073dbc_0_64"/>
          <p:cNvSpPr txBox="1"/>
          <p:nvPr/>
        </p:nvSpPr>
        <p:spPr>
          <a:xfrm>
            <a:off x="7677515" y="4121925"/>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436" name="Google Shape;436;gd825073dbc_0_64"/>
          <p:cNvSpPr txBox="1"/>
          <p:nvPr/>
        </p:nvSpPr>
        <p:spPr>
          <a:xfrm>
            <a:off x="7647033" y="4640085"/>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437" name="Google Shape;437;gd825073dbc_0_64"/>
          <p:cNvSpPr txBox="1"/>
          <p:nvPr/>
        </p:nvSpPr>
        <p:spPr>
          <a:xfrm>
            <a:off x="7677515" y="5158245"/>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438" name="Google Shape;438;gd825073dbc_0_64"/>
          <p:cNvSpPr txBox="1"/>
          <p:nvPr/>
        </p:nvSpPr>
        <p:spPr>
          <a:xfrm>
            <a:off x="7726748" y="5746744"/>
            <a:ext cx="530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SS</a:t>
            </a:r>
            <a:endParaRPr sz="1600" b="1">
              <a:latin typeface="Gill Sans" panose="020B0604020202020204" charset="0"/>
              <a:ea typeface="Gill Sans"/>
              <a:cs typeface="Gill Sans" panose="020B0604020202020204" charset="0"/>
              <a:sym typeface="Gill Sans"/>
            </a:endParaRPr>
          </a:p>
        </p:txBody>
      </p:sp>
      <p:cxnSp>
        <p:nvCxnSpPr>
          <p:cNvPr id="439" name="Google Shape;439;gd825073dbc_0_64"/>
          <p:cNvCxnSpPr/>
          <p:nvPr/>
        </p:nvCxnSpPr>
        <p:spPr>
          <a:xfrm rot="10800000">
            <a:off x="7834485" y="5820093"/>
            <a:ext cx="225200" cy="0"/>
          </a:xfrm>
          <a:prstGeom prst="straightConnector1">
            <a:avLst/>
          </a:prstGeom>
          <a:noFill/>
          <a:ln w="9525" cap="flat" cmpd="sng">
            <a:solidFill>
              <a:schemeClr val="dk1"/>
            </a:solidFill>
            <a:prstDash val="solid"/>
            <a:round/>
            <a:headEnd type="none" w="sm" len="sm"/>
            <a:tailEnd type="none" w="sm" len="sm"/>
          </a:ln>
        </p:spPr>
      </p:cxnSp>
      <p:sp>
        <p:nvSpPr>
          <p:cNvPr id="440" name="Google Shape;440;gd825073dbc_0_64"/>
          <p:cNvSpPr txBox="1"/>
          <p:nvPr/>
        </p:nvSpPr>
        <p:spPr>
          <a:xfrm>
            <a:off x="8549712" y="4461900"/>
            <a:ext cx="1760800" cy="1518374"/>
          </a:xfrm>
          <a:prstGeom prst="rect">
            <a:avLst/>
          </a:prstGeom>
          <a:noFill/>
          <a:ln>
            <a:noFill/>
          </a:ln>
        </p:spPr>
        <p:txBody>
          <a:bodyPr spcFirstLastPara="1" wrap="square" lIns="121900" tIns="60933" rIns="121900" bIns="60933" anchor="t" anchorCtr="0">
            <a:spAutoFit/>
          </a:bodyPr>
          <a:lstStyle/>
          <a:p>
            <a:pPr algn="ctr"/>
            <a:r>
              <a:rPr lang="en-IN" sz="2667" b="1">
                <a:latin typeface="Gill Sans" panose="020B0604020202020204" charset="0"/>
                <a:ea typeface="Gill Sans"/>
                <a:cs typeface="Gill Sans" panose="020B0604020202020204" charset="0"/>
                <a:sym typeface="Gill Sans"/>
              </a:rPr>
              <a:t>Slave</a:t>
            </a:r>
            <a:endParaRPr sz="1600" b="1">
              <a:latin typeface="Gill Sans" panose="020B0604020202020204" charset="0"/>
              <a:ea typeface="Gill Sans"/>
              <a:cs typeface="Gill Sans" panose="020B0604020202020204" charset="0"/>
              <a:sym typeface="Gill Sans"/>
            </a:endParaRPr>
          </a:p>
          <a:p>
            <a:pPr algn="ctr"/>
            <a:r>
              <a:rPr lang="en-IN" sz="1600" b="1">
                <a:latin typeface="Gill Sans" panose="020B0604020202020204" charset="0"/>
                <a:ea typeface="Gill Sans"/>
                <a:cs typeface="Gill Sans" panose="020B0604020202020204" charset="0"/>
                <a:sym typeface="Gill Sans"/>
              </a:rPr>
              <a:t> </a:t>
            </a:r>
            <a:r>
              <a:rPr lang="en-IN" sz="1600">
                <a:latin typeface="Gill Sans" panose="020B0604020202020204" charset="0"/>
                <a:ea typeface="Gill Sans"/>
                <a:cs typeface="Gill Sans" panose="020B0604020202020204" charset="0"/>
                <a:sym typeface="Gill Sans"/>
              </a:rPr>
              <a:t>(Sensors,  EEPROM, SDCARD, Display, Wifi, BT, etc)</a:t>
            </a:r>
            <a:endParaRPr sz="1600">
              <a:latin typeface="Gill Sans" panose="020B0604020202020204" charset="0"/>
              <a:ea typeface="Gill Sans"/>
              <a:cs typeface="Gill Sans" panose="020B0604020202020204" charset="0"/>
              <a:sym typeface="Gill Sans"/>
            </a:endParaRPr>
          </a:p>
        </p:txBody>
      </p:sp>
      <p:cxnSp>
        <p:nvCxnSpPr>
          <p:cNvPr id="441" name="Google Shape;441;gd825073dbc_0_64"/>
          <p:cNvCxnSpPr/>
          <p:nvPr/>
        </p:nvCxnSpPr>
        <p:spPr>
          <a:xfrm>
            <a:off x="4627164" y="4306592"/>
            <a:ext cx="2938000" cy="0"/>
          </a:xfrm>
          <a:prstGeom prst="straightConnector1">
            <a:avLst/>
          </a:prstGeom>
          <a:noFill/>
          <a:ln w="57150" cap="flat" cmpd="sng">
            <a:solidFill>
              <a:srgbClr val="C55A11"/>
            </a:solidFill>
            <a:prstDash val="solid"/>
            <a:round/>
            <a:headEnd type="none" w="sm" len="sm"/>
            <a:tailEnd type="triangle" w="med" len="med"/>
          </a:ln>
        </p:spPr>
      </p:cxnSp>
      <p:cxnSp>
        <p:nvCxnSpPr>
          <p:cNvPr id="442" name="Google Shape;442;gd825073dbc_0_64"/>
          <p:cNvCxnSpPr/>
          <p:nvPr/>
        </p:nvCxnSpPr>
        <p:spPr>
          <a:xfrm>
            <a:off x="4638885" y="4852889"/>
            <a:ext cx="2938000" cy="0"/>
          </a:xfrm>
          <a:prstGeom prst="straightConnector1">
            <a:avLst/>
          </a:prstGeom>
          <a:noFill/>
          <a:ln w="57150" cap="flat" cmpd="sng">
            <a:solidFill>
              <a:srgbClr val="C55A11"/>
            </a:solidFill>
            <a:prstDash val="solid"/>
            <a:round/>
            <a:headEnd type="none" w="sm" len="sm"/>
            <a:tailEnd type="triangle" w="med" len="med"/>
          </a:ln>
        </p:spPr>
      </p:cxnSp>
      <p:cxnSp>
        <p:nvCxnSpPr>
          <p:cNvPr id="443" name="Google Shape;443;gd825073dbc_0_64"/>
          <p:cNvCxnSpPr/>
          <p:nvPr/>
        </p:nvCxnSpPr>
        <p:spPr>
          <a:xfrm rot="10800000">
            <a:off x="4612972" y="5342912"/>
            <a:ext cx="2952000" cy="0"/>
          </a:xfrm>
          <a:prstGeom prst="straightConnector1">
            <a:avLst/>
          </a:prstGeom>
          <a:noFill/>
          <a:ln w="57150" cap="flat" cmpd="sng">
            <a:solidFill>
              <a:srgbClr val="C55A11"/>
            </a:solidFill>
            <a:prstDash val="solid"/>
            <a:round/>
            <a:headEnd type="none" w="sm" len="sm"/>
            <a:tailEnd type="triangle" w="med" len="med"/>
          </a:ln>
        </p:spPr>
      </p:cxnSp>
      <p:cxnSp>
        <p:nvCxnSpPr>
          <p:cNvPr id="444" name="Google Shape;444;gd825073dbc_0_64"/>
          <p:cNvCxnSpPr/>
          <p:nvPr/>
        </p:nvCxnSpPr>
        <p:spPr>
          <a:xfrm>
            <a:off x="4636539" y="5933755"/>
            <a:ext cx="2938000" cy="0"/>
          </a:xfrm>
          <a:prstGeom prst="straightConnector1">
            <a:avLst/>
          </a:prstGeom>
          <a:noFill/>
          <a:ln w="57150" cap="flat" cmpd="sng">
            <a:solidFill>
              <a:srgbClr val="C55A11"/>
            </a:solidFill>
            <a:prstDash val="solid"/>
            <a:round/>
            <a:headEnd type="none" w="sm" len="sm"/>
            <a:tailEnd type="triangle" w="med" len="med"/>
          </a:ln>
        </p:spPr>
      </p:cxnSp>
      <p:sp>
        <p:nvSpPr>
          <p:cNvPr id="445" name="Google Shape;445;gd825073dbc_0_64"/>
          <p:cNvSpPr txBox="1"/>
          <p:nvPr/>
        </p:nvSpPr>
        <p:spPr>
          <a:xfrm>
            <a:off x="5300069" y="3924981"/>
            <a:ext cx="149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Serial Clock</a:t>
            </a:r>
            <a:endParaRPr sz="1600" b="1">
              <a:latin typeface="Gill Sans" panose="020B0604020202020204" charset="0"/>
              <a:ea typeface="Gill Sans"/>
              <a:cs typeface="Gill Sans" panose="020B0604020202020204" charset="0"/>
              <a:sym typeface="Gill Sans"/>
            </a:endParaRPr>
          </a:p>
        </p:txBody>
      </p:sp>
      <p:sp>
        <p:nvSpPr>
          <p:cNvPr id="446" name="Google Shape;446;gd825073dbc_0_64"/>
          <p:cNvSpPr txBox="1"/>
          <p:nvPr/>
        </p:nvSpPr>
        <p:spPr>
          <a:xfrm>
            <a:off x="5016369" y="4541615"/>
            <a:ext cx="21828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Master Out Slave In</a:t>
            </a:r>
            <a:endParaRPr sz="1600" b="1">
              <a:latin typeface="Gill Sans" panose="020B0604020202020204" charset="0"/>
              <a:ea typeface="Gill Sans"/>
              <a:cs typeface="Gill Sans" panose="020B0604020202020204" charset="0"/>
              <a:sym typeface="Gill Sans"/>
            </a:endParaRPr>
          </a:p>
        </p:txBody>
      </p:sp>
      <p:sp>
        <p:nvSpPr>
          <p:cNvPr id="447" name="Google Shape;447;gd825073dbc_0_64"/>
          <p:cNvSpPr txBox="1"/>
          <p:nvPr/>
        </p:nvSpPr>
        <p:spPr>
          <a:xfrm>
            <a:off x="4946028" y="5019913"/>
            <a:ext cx="232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Master In Slave Out</a:t>
            </a:r>
            <a:endParaRPr sz="1600" b="1">
              <a:latin typeface="Gill Sans" panose="020B0604020202020204" charset="0"/>
              <a:ea typeface="Gill Sans"/>
              <a:cs typeface="Gill Sans" panose="020B0604020202020204" charset="0"/>
              <a:sym typeface="Gill Sans"/>
            </a:endParaRPr>
          </a:p>
        </p:txBody>
      </p:sp>
      <p:sp>
        <p:nvSpPr>
          <p:cNvPr id="448" name="Google Shape;448;gd825073dbc_0_64"/>
          <p:cNvSpPr txBox="1"/>
          <p:nvPr/>
        </p:nvSpPr>
        <p:spPr>
          <a:xfrm>
            <a:off x="5365721" y="5622489"/>
            <a:ext cx="149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Slave Select</a:t>
            </a:r>
            <a:endParaRPr sz="1600" b="1">
              <a:latin typeface="Gill Sans" panose="020B0604020202020204" charset="0"/>
              <a:ea typeface="Gill Sans"/>
              <a:cs typeface="Gill Sans" panose="020B0604020202020204" charset="0"/>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d825073dbc_0_100"/>
          <p:cNvSpPr txBox="1">
            <a:spLocks noGrp="1"/>
          </p:cNvSpPr>
          <p:nvPr>
            <p:ph type="body" idx="1"/>
          </p:nvPr>
        </p:nvSpPr>
        <p:spPr>
          <a:xfrm>
            <a:off x="838200" y="1292359"/>
            <a:ext cx="10515600" cy="2306800"/>
          </a:xfrm>
          <a:prstGeom prst="rect">
            <a:avLst/>
          </a:prstGeom>
        </p:spPr>
        <p:txBody>
          <a:bodyPr spcFirstLastPara="1" vert="horz" wrap="square" lIns="91433" tIns="45700" rIns="91433" bIns="45700" rtlCol="0" anchor="t" anchorCtr="0">
            <a:noAutofit/>
          </a:bodyPr>
          <a:lstStyle/>
          <a:p>
            <a:pPr marL="101597" indent="0">
              <a:spcBef>
                <a:spcPts val="0"/>
              </a:spcBef>
              <a:buClr>
                <a:schemeClr val="dk1"/>
              </a:buClr>
              <a:buSzPts val="2400"/>
              <a:buNone/>
            </a:pPr>
            <a:r>
              <a:rPr lang="en-IN" sz="3200" b="1" dirty="0">
                <a:latin typeface="Gill Sans" panose="020B0604020202020204" charset="0"/>
                <a:cs typeface="Gill Sans" panose="020B0604020202020204" charset="0"/>
              </a:rPr>
              <a:t>Minimal SPI communication</a:t>
            </a:r>
          </a:p>
          <a:p>
            <a:pPr marL="558786" indent="-457189">
              <a:spcBef>
                <a:spcPts val="0"/>
              </a:spcBef>
              <a:buClr>
                <a:schemeClr val="dk1"/>
              </a:buClr>
              <a:buSzPts val="2400"/>
            </a:pPr>
            <a:r>
              <a:rPr lang="en-IN" sz="2667" dirty="0">
                <a:latin typeface="Gill Sans" panose="020B0604020202020204" charset="0"/>
                <a:cs typeface="Gill Sans" panose="020B0604020202020204" charset="0"/>
              </a:rPr>
              <a:t>When there is only one master and one slave, there is a possibility of reducing the lines for communication in SPI based on the application design.</a:t>
            </a:r>
            <a:endParaRPr dirty="0">
              <a:latin typeface="Gill Sans" panose="020B0604020202020204" charset="0"/>
              <a:cs typeface="Gill Sans" panose="020B0604020202020204" charset="0"/>
            </a:endParaRPr>
          </a:p>
        </p:txBody>
      </p:sp>
      <p:sp>
        <p:nvSpPr>
          <p:cNvPr id="454" name="Google Shape;454;gd825073dbc_0_100"/>
          <p:cNvSpPr txBox="1">
            <a:spLocks noGrp="1"/>
          </p:cNvSpPr>
          <p:nvPr>
            <p:ph type="title"/>
          </p:nvPr>
        </p:nvSpPr>
        <p:spPr>
          <a:xfrm>
            <a:off x="709941" y="412159"/>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sp>
        <p:nvSpPr>
          <p:cNvPr id="455" name="Google Shape;455;gd825073dbc_0_100"/>
          <p:cNvSpPr/>
          <p:nvPr/>
        </p:nvSpPr>
        <p:spPr>
          <a:xfrm>
            <a:off x="1602623" y="3601497"/>
            <a:ext cx="3024400" cy="2644800"/>
          </a:xfrm>
          <a:prstGeom prst="roundRect">
            <a:avLst>
              <a:gd name="adj" fmla="val 16667"/>
            </a:avLst>
          </a:prstGeom>
          <a:solidFill>
            <a:srgbClr val="00B0F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667" b="1">
                <a:latin typeface="Gill Sans" panose="020B0604020202020204" charset="0"/>
                <a:ea typeface="Gill Sans"/>
                <a:cs typeface="Gill Sans" panose="020B0604020202020204" charset="0"/>
                <a:sym typeface="Gill Sans"/>
              </a:rPr>
              <a:t>Master</a:t>
            </a:r>
            <a:endParaRPr sz="2667" b="1">
              <a:latin typeface="Gill Sans" panose="020B0604020202020204" charset="0"/>
              <a:ea typeface="Gill Sans"/>
              <a:cs typeface="Gill Sans" panose="020B0604020202020204" charset="0"/>
              <a:sym typeface="Gill Sans"/>
            </a:endParaRPr>
          </a:p>
          <a:p>
            <a:pPr algn="ctr"/>
            <a:r>
              <a:rPr lang="en-IN" sz="2667" b="1">
                <a:latin typeface="Gill Sans" panose="020B0604020202020204" charset="0"/>
                <a:ea typeface="Gill Sans"/>
                <a:cs typeface="Gill Sans" panose="020B0604020202020204" charset="0"/>
                <a:sym typeface="Gill Sans"/>
              </a:rPr>
              <a:t>MCU</a:t>
            </a:r>
            <a:endParaRPr sz="2667" b="1">
              <a:latin typeface="Gill Sans" panose="020B0604020202020204" charset="0"/>
              <a:ea typeface="Gill Sans"/>
              <a:cs typeface="Gill Sans" panose="020B0604020202020204" charset="0"/>
              <a:sym typeface="Gill Sans"/>
            </a:endParaRPr>
          </a:p>
        </p:txBody>
      </p:sp>
      <p:sp>
        <p:nvSpPr>
          <p:cNvPr id="456" name="Google Shape;456;gd825073dbc_0_100"/>
          <p:cNvSpPr txBox="1"/>
          <p:nvPr/>
        </p:nvSpPr>
        <p:spPr>
          <a:xfrm>
            <a:off x="3923797" y="3887540"/>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457" name="Google Shape;457;gd825073dbc_0_100"/>
          <p:cNvSpPr txBox="1"/>
          <p:nvPr/>
        </p:nvSpPr>
        <p:spPr>
          <a:xfrm>
            <a:off x="3893315" y="4405700"/>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458" name="Google Shape;458;gd825073dbc_0_100"/>
          <p:cNvSpPr txBox="1"/>
          <p:nvPr/>
        </p:nvSpPr>
        <p:spPr>
          <a:xfrm>
            <a:off x="3923797" y="4923860"/>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459" name="Google Shape;459;gd825073dbc_0_100"/>
          <p:cNvSpPr txBox="1"/>
          <p:nvPr/>
        </p:nvSpPr>
        <p:spPr>
          <a:xfrm>
            <a:off x="3902691" y="5512359"/>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gpio1</a:t>
            </a:r>
            <a:endParaRPr sz="1600" b="1">
              <a:latin typeface="Gill Sans" panose="020B0604020202020204" charset="0"/>
              <a:ea typeface="Gill Sans"/>
              <a:cs typeface="Gill Sans" panose="020B0604020202020204" charset="0"/>
              <a:sym typeface="Gill Sans"/>
            </a:endParaRPr>
          </a:p>
        </p:txBody>
      </p:sp>
      <p:sp>
        <p:nvSpPr>
          <p:cNvPr id="460" name="Google Shape;460;gd825073dbc_0_100"/>
          <p:cNvSpPr/>
          <p:nvPr/>
        </p:nvSpPr>
        <p:spPr>
          <a:xfrm>
            <a:off x="7564984" y="3599149"/>
            <a:ext cx="3024400" cy="2644800"/>
          </a:xfrm>
          <a:prstGeom prst="roundRect">
            <a:avLst>
              <a:gd name="adj" fmla="val 16667"/>
            </a:avLst>
          </a:prstGeom>
          <a:solidFill>
            <a:srgbClr val="548135"/>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endParaRPr sz="3600">
              <a:latin typeface="Gill Sans" panose="020B0604020202020204" charset="0"/>
              <a:cs typeface="Gill Sans" panose="020B0604020202020204" charset="0"/>
              <a:sym typeface="Arial"/>
            </a:endParaRPr>
          </a:p>
        </p:txBody>
      </p:sp>
      <p:sp>
        <p:nvSpPr>
          <p:cNvPr id="461" name="Google Shape;461;gd825073dbc_0_100"/>
          <p:cNvSpPr txBox="1"/>
          <p:nvPr/>
        </p:nvSpPr>
        <p:spPr>
          <a:xfrm>
            <a:off x="7677528" y="3885192"/>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SCLK</a:t>
            </a:r>
            <a:endParaRPr sz="1600" b="1">
              <a:latin typeface="Gill Sans" panose="020B0604020202020204" charset="0"/>
              <a:ea typeface="Gill Sans"/>
              <a:cs typeface="Gill Sans" panose="020B0604020202020204" charset="0"/>
              <a:sym typeface="Gill Sans"/>
            </a:endParaRPr>
          </a:p>
        </p:txBody>
      </p:sp>
      <p:sp>
        <p:nvSpPr>
          <p:cNvPr id="462" name="Google Shape;462;gd825073dbc_0_100"/>
          <p:cNvSpPr txBox="1"/>
          <p:nvPr/>
        </p:nvSpPr>
        <p:spPr>
          <a:xfrm>
            <a:off x="7647045" y="4403352"/>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MOSI</a:t>
            </a:r>
            <a:endParaRPr sz="1600" b="1">
              <a:latin typeface="Gill Sans" panose="020B0604020202020204" charset="0"/>
              <a:ea typeface="Gill Sans"/>
              <a:cs typeface="Gill Sans" panose="020B0604020202020204" charset="0"/>
              <a:sym typeface="Gill Sans"/>
            </a:endParaRPr>
          </a:p>
        </p:txBody>
      </p:sp>
      <p:sp>
        <p:nvSpPr>
          <p:cNvPr id="463" name="Google Shape;463;gd825073dbc_0_100"/>
          <p:cNvSpPr txBox="1"/>
          <p:nvPr/>
        </p:nvSpPr>
        <p:spPr>
          <a:xfrm>
            <a:off x="7677528" y="4921512"/>
            <a:ext cx="872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MISO</a:t>
            </a:r>
            <a:endParaRPr sz="1600" b="1">
              <a:latin typeface="Gill Sans" panose="020B0604020202020204" charset="0"/>
              <a:ea typeface="Gill Sans"/>
              <a:cs typeface="Gill Sans" panose="020B0604020202020204" charset="0"/>
              <a:sym typeface="Gill Sans"/>
            </a:endParaRPr>
          </a:p>
        </p:txBody>
      </p:sp>
      <p:sp>
        <p:nvSpPr>
          <p:cNvPr id="464" name="Google Shape;464;gd825073dbc_0_100"/>
          <p:cNvSpPr txBox="1"/>
          <p:nvPr/>
        </p:nvSpPr>
        <p:spPr>
          <a:xfrm>
            <a:off x="7726761" y="5510011"/>
            <a:ext cx="530000" cy="369277"/>
          </a:xfrm>
          <a:prstGeom prst="rect">
            <a:avLst/>
          </a:prstGeom>
          <a:noFill/>
          <a:ln>
            <a:noFill/>
          </a:ln>
        </p:spPr>
        <p:txBody>
          <a:bodyPr spcFirstLastPara="1" wrap="square" lIns="121900" tIns="60933" rIns="121900" bIns="60933" anchor="t" anchorCtr="0">
            <a:spAutoFit/>
          </a:bodyPr>
          <a:lstStyle/>
          <a:p>
            <a:r>
              <a:rPr lang="en-IN" sz="1600" b="1">
                <a:latin typeface="Gill Sans" panose="020B0604020202020204" charset="0"/>
                <a:ea typeface="Gill Sans"/>
                <a:cs typeface="Gill Sans" panose="020B0604020202020204" charset="0"/>
                <a:sym typeface="Gill Sans"/>
              </a:rPr>
              <a:t>SS</a:t>
            </a:r>
            <a:endParaRPr sz="1600" b="1">
              <a:latin typeface="Gill Sans" panose="020B0604020202020204" charset="0"/>
              <a:ea typeface="Gill Sans"/>
              <a:cs typeface="Gill Sans" panose="020B0604020202020204" charset="0"/>
              <a:sym typeface="Gill Sans"/>
            </a:endParaRPr>
          </a:p>
        </p:txBody>
      </p:sp>
      <p:cxnSp>
        <p:nvCxnSpPr>
          <p:cNvPr id="465" name="Google Shape;465;gd825073dbc_0_100"/>
          <p:cNvCxnSpPr/>
          <p:nvPr/>
        </p:nvCxnSpPr>
        <p:spPr>
          <a:xfrm rot="10800000">
            <a:off x="7834497" y="5583360"/>
            <a:ext cx="225200" cy="0"/>
          </a:xfrm>
          <a:prstGeom prst="straightConnector1">
            <a:avLst/>
          </a:prstGeom>
          <a:noFill/>
          <a:ln w="9525" cap="flat" cmpd="sng">
            <a:solidFill>
              <a:schemeClr val="dk1"/>
            </a:solidFill>
            <a:prstDash val="solid"/>
            <a:round/>
            <a:headEnd type="none" w="sm" len="sm"/>
            <a:tailEnd type="none" w="sm" len="sm"/>
          </a:ln>
        </p:spPr>
      </p:cxnSp>
      <p:sp>
        <p:nvSpPr>
          <p:cNvPr id="466" name="Google Shape;466;gd825073dbc_0_100"/>
          <p:cNvSpPr txBox="1"/>
          <p:nvPr/>
        </p:nvSpPr>
        <p:spPr>
          <a:xfrm>
            <a:off x="8549725" y="4225167"/>
            <a:ext cx="1760800" cy="1518374"/>
          </a:xfrm>
          <a:prstGeom prst="rect">
            <a:avLst/>
          </a:prstGeom>
          <a:noFill/>
          <a:ln>
            <a:noFill/>
          </a:ln>
        </p:spPr>
        <p:txBody>
          <a:bodyPr spcFirstLastPara="1" wrap="square" lIns="121900" tIns="60933" rIns="121900" bIns="60933" anchor="t" anchorCtr="0">
            <a:spAutoFit/>
          </a:bodyPr>
          <a:lstStyle/>
          <a:p>
            <a:pPr algn="ctr"/>
            <a:r>
              <a:rPr lang="en-IN" sz="2667">
                <a:latin typeface="Gill Sans" panose="020B0604020202020204" charset="0"/>
                <a:ea typeface="Gill Sans"/>
                <a:cs typeface="Gill Sans" panose="020B0604020202020204" charset="0"/>
                <a:sym typeface="Gill Sans"/>
              </a:rPr>
              <a:t>Slave</a:t>
            </a:r>
            <a:endParaRPr sz="2667">
              <a:latin typeface="Gill Sans" panose="020B0604020202020204" charset="0"/>
              <a:ea typeface="Gill Sans"/>
              <a:cs typeface="Gill Sans" panose="020B0604020202020204" charset="0"/>
              <a:sym typeface="Gill Sans"/>
            </a:endParaRPr>
          </a:p>
          <a:p>
            <a:pPr algn="ctr"/>
            <a:r>
              <a:rPr lang="en-IN" sz="1400">
                <a:latin typeface="Gill Sans" panose="020B0604020202020204" charset="0"/>
                <a:cs typeface="Gill Sans" panose="020B0604020202020204" charset="0"/>
                <a:sym typeface="Arial"/>
              </a:rPr>
              <a:t> </a:t>
            </a:r>
            <a:r>
              <a:rPr lang="en-IN" sz="1600">
                <a:latin typeface="Gill Sans" panose="020B0604020202020204" charset="0"/>
                <a:ea typeface="Gill Sans"/>
                <a:cs typeface="Gill Sans" panose="020B0604020202020204" charset="0"/>
                <a:sym typeface="Gill Sans"/>
              </a:rPr>
              <a:t>(Sensors,  EEPROM, SDCARD, Display, Wifi, BT, etc)</a:t>
            </a:r>
            <a:endParaRPr sz="1600">
              <a:latin typeface="Gill Sans" panose="020B0604020202020204" charset="0"/>
              <a:ea typeface="Gill Sans"/>
              <a:cs typeface="Gill Sans" panose="020B0604020202020204" charset="0"/>
              <a:sym typeface="Gill Sans"/>
            </a:endParaRPr>
          </a:p>
        </p:txBody>
      </p:sp>
      <p:cxnSp>
        <p:nvCxnSpPr>
          <p:cNvPr id="467" name="Google Shape;467;gd825073dbc_0_100"/>
          <p:cNvCxnSpPr/>
          <p:nvPr/>
        </p:nvCxnSpPr>
        <p:spPr>
          <a:xfrm>
            <a:off x="4627179" y="4069859"/>
            <a:ext cx="2938000" cy="0"/>
          </a:xfrm>
          <a:prstGeom prst="straightConnector1">
            <a:avLst/>
          </a:prstGeom>
          <a:noFill/>
          <a:ln w="57150" cap="flat" cmpd="sng">
            <a:solidFill>
              <a:srgbClr val="5597D3"/>
            </a:solidFill>
            <a:prstDash val="solid"/>
            <a:round/>
            <a:headEnd type="none" w="sm" len="sm"/>
            <a:tailEnd type="triangle" w="med" len="med"/>
          </a:ln>
        </p:spPr>
      </p:cxnSp>
      <p:cxnSp>
        <p:nvCxnSpPr>
          <p:cNvPr id="468" name="Google Shape;468;gd825073dbc_0_100"/>
          <p:cNvCxnSpPr/>
          <p:nvPr/>
        </p:nvCxnSpPr>
        <p:spPr>
          <a:xfrm>
            <a:off x="4638900" y="4616156"/>
            <a:ext cx="2938000" cy="0"/>
          </a:xfrm>
          <a:prstGeom prst="straightConnector1">
            <a:avLst/>
          </a:prstGeom>
          <a:noFill/>
          <a:ln w="57150" cap="flat" cmpd="sng">
            <a:solidFill>
              <a:srgbClr val="5597D3"/>
            </a:solidFill>
            <a:prstDash val="solid"/>
            <a:round/>
            <a:headEnd type="none" w="sm" len="sm"/>
            <a:tailEnd type="triangle" w="med" len="med"/>
          </a:ln>
        </p:spPr>
      </p:cxnSp>
      <p:sp>
        <p:nvSpPr>
          <p:cNvPr id="469" name="Google Shape;469;gd825073dbc_0_100"/>
          <p:cNvSpPr txBox="1"/>
          <p:nvPr/>
        </p:nvSpPr>
        <p:spPr>
          <a:xfrm>
            <a:off x="5300081" y="3688247"/>
            <a:ext cx="14912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Serial Clock</a:t>
            </a:r>
            <a:endParaRPr sz="1600" b="1">
              <a:latin typeface="Gill Sans" panose="020B0604020202020204" charset="0"/>
              <a:ea typeface="Gill Sans"/>
              <a:cs typeface="Gill Sans" panose="020B0604020202020204" charset="0"/>
              <a:sym typeface="Gill Sans"/>
            </a:endParaRPr>
          </a:p>
        </p:txBody>
      </p:sp>
      <p:sp>
        <p:nvSpPr>
          <p:cNvPr id="470" name="Google Shape;470;gd825073dbc_0_100"/>
          <p:cNvSpPr txBox="1"/>
          <p:nvPr/>
        </p:nvSpPr>
        <p:spPr>
          <a:xfrm>
            <a:off x="5016384" y="4304882"/>
            <a:ext cx="2182800" cy="369277"/>
          </a:xfrm>
          <a:prstGeom prst="rect">
            <a:avLst/>
          </a:prstGeom>
          <a:noFill/>
          <a:ln>
            <a:noFill/>
          </a:ln>
        </p:spPr>
        <p:txBody>
          <a:bodyPr spcFirstLastPara="1" wrap="square" lIns="121900" tIns="60933" rIns="121900" bIns="60933" anchor="t" anchorCtr="0">
            <a:spAutoFit/>
          </a:bodyPr>
          <a:lstStyle/>
          <a:p>
            <a:pPr algn="ctr"/>
            <a:r>
              <a:rPr lang="en-IN" sz="1600" b="1">
                <a:latin typeface="Gill Sans" panose="020B0604020202020204" charset="0"/>
                <a:ea typeface="Gill Sans"/>
                <a:cs typeface="Gill Sans" panose="020B0604020202020204" charset="0"/>
                <a:sym typeface="Gill Sans"/>
              </a:rPr>
              <a:t>Master Out Slave In</a:t>
            </a:r>
            <a:endParaRPr sz="1600" b="1">
              <a:latin typeface="Gill Sans" panose="020B0604020202020204" charset="0"/>
              <a:ea typeface="Gill Sans"/>
              <a:cs typeface="Gill Sans" panose="020B0604020202020204" charset="0"/>
              <a:sym typeface="Gill Sans"/>
            </a:endParaRPr>
          </a:p>
        </p:txBody>
      </p:sp>
      <p:cxnSp>
        <p:nvCxnSpPr>
          <p:cNvPr id="471" name="Google Shape;471;gd825073dbc_0_100"/>
          <p:cNvCxnSpPr/>
          <p:nvPr/>
        </p:nvCxnSpPr>
        <p:spPr>
          <a:xfrm>
            <a:off x="6976481" y="5712883"/>
            <a:ext cx="0" cy="298800"/>
          </a:xfrm>
          <a:prstGeom prst="straightConnector1">
            <a:avLst/>
          </a:prstGeom>
          <a:noFill/>
          <a:ln w="28575" cap="flat" cmpd="sng">
            <a:solidFill>
              <a:schemeClr val="accent1"/>
            </a:solidFill>
            <a:prstDash val="solid"/>
            <a:round/>
            <a:headEnd type="none" w="sm" len="sm"/>
            <a:tailEnd type="none" w="sm" len="sm"/>
          </a:ln>
        </p:spPr>
      </p:cxnSp>
      <p:cxnSp>
        <p:nvCxnSpPr>
          <p:cNvPr id="472" name="Google Shape;472;gd825073dbc_0_100"/>
          <p:cNvCxnSpPr/>
          <p:nvPr/>
        </p:nvCxnSpPr>
        <p:spPr>
          <a:xfrm>
            <a:off x="6710367" y="6010271"/>
            <a:ext cx="532400" cy="0"/>
          </a:xfrm>
          <a:prstGeom prst="straightConnector1">
            <a:avLst/>
          </a:prstGeom>
          <a:noFill/>
          <a:ln w="28575" cap="flat" cmpd="sng">
            <a:solidFill>
              <a:srgbClr val="3E6EC2"/>
            </a:solidFill>
            <a:prstDash val="solid"/>
            <a:round/>
            <a:headEnd type="none" w="sm" len="sm"/>
            <a:tailEnd type="none" w="sm" len="sm"/>
          </a:ln>
        </p:spPr>
      </p:cxnSp>
      <p:cxnSp>
        <p:nvCxnSpPr>
          <p:cNvPr id="473" name="Google Shape;473;gd825073dbc_0_100"/>
          <p:cNvCxnSpPr/>
          <p:nvPr/>
        </p:nvCxnSpPr>
        <p:spPr>
          <a:xfrm>
            <a:off x="6777188" y="6093820"/>
            <a:ext cx="364400" cy="0"/>
          </a:xfrm>
          <a:prstGeom prst="straightConnector1">
            <a:avLst/>
          </a:prstGeom>
          <a:noFill/>
          <a:ln w="28575" cap="flat" cmpd="sng">
            <a:solidFill>
              <a:srgbClr val="3E6EC2"/>
            </a:solidFill>
            <a:prstDash val="solid"/>
            <a:round/>
            <a:headEnd type="none" w="sm" len="sm"/>
            <a:tailEnd type="none" w="sm" len="sm"/>
          </a:ln>
        </p:spPr>
      </p:cxnSp>
      <p:cxnSp>
        <p:nvCxnSpPr>
          <p:cNvPr id="474" name="Google Shape;474;gd825073dbc_0_100"/>
          <p:cNvCxnSpPr/>
          <p:nvPr/>
        </p:nvCxnSpPr>
        <p:spPr>
          <a:xfrm>
            <a:off x="6831115" y="6161812"/>
            <a:ext cx="268400" cy="0"/>
          </a:xfrm>
          <a:prstGeom prst="straightConnector1">
            <a:avLst/>
          </a:prstGeom>
          <a:noFill/>
          <a:ln w="28575" cap="flat" cmpd="sng">
            <a:solidFill>
              <a:srgbClr val="3E6EC2"/>
            </a:solidFill>
            <a:prstDash val="solid"/>
            <a:round/>
            <a:headEnd type="none" w="sm" len="sm"/>
            <a:tailEnd type="none" w="sm" len="sm"/>
          </a:ln>
        </p:spPr>
      </p:cxnSp>
      <p:cxnSp>
        <p:nvCxnSpPr>
          <p:cNvPr id="475" name="Google Shape;475;gd825073dbc_0_100"/>
          <p:cNvCxnSpPr/>
          <p:nvPr/>
        </p:nvCxnSpPr>
        <p:spPr>
          <a:xfrm>
            <a:off x="6976484" y="5712883"/>
            <a:ext cx="5860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d825073dbc_0_127"/>
          <p:cNvSpPr txBox="1">
            <a:spLocks noGrp="1"/>
          </p:cNvSpPr>
          <p:nvPr>
            <p:ph type="body" idx="1"/>
          </p:nvPr>
        </p:nvSpPr>
        <p:spPr>
          <a:xfrm>
            <a:off x="838200" y="1278184"/>
            <a:ext cx="10515600" cy="600000"/>
          </a:xfrm>
          <a:prstGeom prst="rect">
            <a:avLst/>
          </a:prstGeom>
        </p:spPr>
        <p:txBody>
          <a:bodyPr spcFirstLastPara="1" vert="horz" wrap="square" lIns="91433" tIns="45700" rIns="91433" bIns="45700" rtlCol="0" anchor="t" anchorCtr="0">
            <a:noAutofit/>
          </a:bodyPr>
          <a:lstStyle/>
          <a:p>
            <a:pPr marL="101597" indent="0">
              <a:spcBef>
                <a:spcPts val="0"/>
              </a:spcBef>
              <a:buSzPts val="2400"/>
              <a:buNone/>
            </a:pPr>
            <a:r>
              <a:rPr lang="en-IN" sz="3200" dirty="0">
                <a:latin typeface="Gill Sans" panose="020B0604020202020204" charset="0"/>
                <a:cs typeface="Gill Sans" panose="020B0604020202020204" charset="0"/>
              </a:rPr>
              <a:t>SPI Hardware</a:t>
            </a:r>
            <a:endParaRPr sz="3200" dirty="0">
              <a:latin typeface="Gill Sans" panose="020B0604020202020204" charset="0"/>
              <a:cs typeface="Gill Sans" panose="020B0604020202020204" charset="0"/>
            </a:endParaRPr>
          </a:p>
        </p:txBody>
      </p:sp>
      <p:sp>
        <p:nvSpPr>
          <p:cNvPr id="481" name="Google Shape;481;gd825073dbc_0_127"/>
          <p:cNvSpPr txBox="1">
            <a:spLocks noGrp="1"/>
          </p:cNvSpPr>
          <p:nvPr>
            <p:ph type="title"/>
          </p:nvPr>
        </p:nvSpPr>
        <p:spPr>
          <a:xfrm>
            <a:off x="795005" y="397983"/>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pic>
        <p:nvPicPr>
          <p:cNvPr id="1026" name="Picture 2">
            <a:extLst>
              <a:ext uri="{FF2B5EF4-FFF2-40B4-BE49-F238E27FC236}">
                <a16:creationId xmlns:a16="http://schemas.microsoft.com/office/drawing/2014/main" id="{A6E9A317-96A9-46EE-B675-D6A0FF0DD3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507" y="2199104"/>
            <a:ext cx="9405805" cy="38183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gd825073dbc_0_135"/>
          <p:cNvSpPr txBox="1">
            <a:spLocks noGrp="1"/>
          </p:cNvSpPr>
          <p:nvPr>
            <p:ph type="body" idx="1"/>
          </p:nvPr>
        </p:nvSpPr>
        <p:spPr>
          <a:xfrm>
            <a:off x="838200" y="1122233"/>
            <a:ext cx="10515600" cy="2306800"/>
          </a:xfrm>
          <a:prstGeom prst="rect">
            <a:avLst/>
          </a:prstGeom>
        </p:spPr>
        <p:txBody>
          <a:bodyPr spcFirstLastPara="1" vert="horz" wrap="square" lIns="91433" tIns="45700" rIns="91433" bIns="45700" rtlCol="0" anchor="t" anchorCtr="0">
            <a:noAutofit/>
          </a:bodyPr>
          <a:lstStyle/>
          <a:p>
            <a:pPr marL="609585" indent="-507987">
              <a:spcBef>
                <a:spcPts val="0"/>
              </a:spcBef>
              <a:buClr>
                <a:schemeClr val="dk1"/>
              </a:buClr>
              <a:buSzPts val="2400"/>
              <a:buFont typeface="Gill Sans"/>
              <a:buChar char="●"/>
            </a:pPr>
            <a:r>
              <a:rPr lang="en-IN" sz="3200" dirty="0">
                <a:latin typeface="Gill Sans" panose="020B0604020202020204" charset="0"/>
                <a:cs typeface="Gill Sans" panose="020B0604020202020204" charset="0"/>
              </a:rPr>
              <a:t>Customizing SPI Bus Configurations</a:t>
            </a:r>
            <a:endParaRPr sz="3200" dirty="0">
              <a:latin typeface="Gill Sans" panose="020B0604020202020204" charset="0"/>
              <a:cs typeface="Gill Sans" panose="020B0604020202020204" charset="0"/>
            </a:endParaRPr>
          </a:p>
          <a:p>
            <a:pPr marL="1219170" lvl="1" indent="-474121">
              <a:spcBef>
                <a:spcPts val="0"/>
              </a:spcBef>
              <a:buClr>
                <a:schemeClr val="dk1"/>
              </a:buClr>
              <a:buSzPts val="2000"/>
              <a:buFont typeface="Gill Sans"/>
              <a:buChar char="○"/>
            </a:pPr>
            <a:r>
              <a:rPr lang="en-IN" sz="2667" dirty="0">
                <a:latin typeface="Gill Sans" panose="020B0604020202020204" charset="0"/>
                <a:cs typeface="Gill Sans" panose="020B0604020202020204" charset="0"/>
              </a:rPr>
              <a:t>SPI bus can be configured in different modes based on target slave device and application requirements.</a:t>
            </a:r>
          </a:p>
          <a:p>
            <a:pPr marL="745048" lvl="1" indent="0">
              <a:spcBef>
                <a:spcPts val="0"/>
              </a:spcBef>
              <a:buClr>
                <a:schemeClr val="dk1"/>
              </a:buClr>
              <a:buSzPts val="2000"/>
              <a:buNone/>
            </a:pPr>
            <a:endParaRPr sz="1600" dirty="0">
              <a:latin typeface="Gill Sans" panose="020B0604020202020204" charset="0"/>
              <a:cs typeface="Gill Sans" panose="020B0604020202020204" charset="0"/>
            </a:endParaRPr>
          </a:p>
          <a:p>
            <a:pPr marL="609585" indent="-507987">
              <a:spcBef>
                <a:spcPts val="0"/>
              </a:spcBef>
              <a:buClr>
                <a:schemeClr val="dk1"/>
              </a:buClr>
              <a:buSzPts val="2400"/>
              <a:buFont typeface="Gill Sans"/>
              <a:buChar char="●"/>
            </a:pPr>
            <a:r>
              <a:rPr lang="en-IN" sz="3200" b="1" dirty="0">
                <a:latin typeface="Gill Sans" panose="020B0604020202020204" charset="0"/>
                <a:cs typeface="Gill Sans" panose="020B0604020202020204" charset="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7"/>
                  </a:ext>
                </a:extLst>
              </a:rPr>
              <a:t>SPI full-duplex communication</a:t>
            </a:r>
            <a:endParaRPr sz="3200" b="1" dirty="0">
              <a:latin typeface="Gill Sans" panose="020B0604020202020204" charset="0"/>
              <a:cs typeface="Gill Sans" panose="020B0604020202020204" charset="0"/>
            </a:endParaRPr>
          </a:p>
          <a:p>
            <a:pPr marL="0" indent="0">
              <a:spcBef>
                <a:spcPts val="0"/>
              </a:spcBef>
              <a:buNone/>
            </a:pPr>
            <a:endParaRPr dirty="0">
              <a:latin typeface="Gill Sans" panose="020B0604020202020204" charset="0"/>
              <a:cs typeface="Gill Sans" panose="020B0604020202020204" charset="0"/>
            </a:endParaRPr>
          </a:p>
        </p:txBody>
      </p:sp>
      <p:sp>
        <p:nvSpPr>
          <p:cNvPr id="489" name="Google Shape;489;gd825073dbc_0_135"/>
          <p:cNvSpPr txBox="1">
            <a:spLocks noGrp="1"/>
          </p:cNvSpPr>
          <p:nvPr>
            <p:ph type="title"/>
          </p:nvPr>
        </p:nvSpPr>
        <p:spPr>
          <a:xfrm>
            <a:off x="667416" y="242033"/>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cxnSp>
        <p:nvCxnSpPr>
          <p:cNvPr id="490" name="Google Shape;490;gd825073dbc_0_135"/>
          <p:cNvCxnSpPr/>
          <p:nvPr/>
        </p:nvCxnSpPr>
        <p:spPr>
          <a:xfrm flipH="1">
            <a:off x="7450181" y="3188072"/>
            <a:ext cx="38800" cy="3353200"/>
          </a:xfrm>
          <a:prstGeom prst="straightConnector1">
            <a:avLst/>
          </a:prstGeom>
          <a:noFill/>
          <a:ln w="38100" cap="flat" cmpd="sng">
            <a:solidFill>
              <a:srgbClr val="FF0000"/>
            </a:solidFill>
            <a:prstDash val="solid"/>
            <a:round/>
            <a:headEnd type="none" w="sm" len="sm"/>
            <a:tailEnd type="none" w="sm" len="sm"/>
          </a:ln>
        </p:spPr>
      </p:cxnSp>
      <p:cxnSp>
        <p:nvCxnSpPr>
          <p:cNvPr id="491" name="Google Shape;491;gd825073dbc_0_135"/>
          <p:cNvCxnSpPr/>
          <p:nvPr/>
        </p:nvCxnSpPr>
        <p:spPr>
          <a:xfrm flipH="1">
            <a:off x="4540373" y="3188072"/>
            <a:ext cx="83600" cy="3329600"/>
          </a:xfrm>
          <a:prstGeom prst="straightConnector1">
            <a:avLst/>
          </a:prstGeom>
          <a:noFill/>
          <a:ln w="38100" cap="flat" cmpd="sng">
            <a:solidFill>
              <a:srgbClr val="FF0000"/>
            </a:solidFill>
            <a:prstDash val="solid"/>
            <a:round/>
            <a:headEnd type="none" w="sm" len="sm"/>
            <a:tailEnd type="none" w="sm" len="sm"/>
          </a:ln>
        </p:spPr>
      </p:cxnSp>
      <p:cxnSp>
        <p:nvCxnSpPr>
          <p:cNvPr id="492" name="Google Shape;492;gd825073dbc_0_135"/>
          <p:cNvCxnSpPr/>
          <p:nvPr/>
        </p:nvCxnSpPr>
        <p:spPr>
          <a:xfrm>
            <a:off x="4527164" y="6143051"/>
            <a:ext cx="2946800" cy="30000"/>
          </a:xfrm>
          <a:prstGeom prst="straightConnector1">
            <a:avLst/>
          </a:prstGeom>
          <a:noFill/>
          <a:ln w="28575" cap="flat" cmpd="sng">
            <a:solidFill>
              <a:schemeClr val="accent2"/>
            </a:solidFill>
            <a:prstDash val="solid"/>
            <a:round/>
            <a:headEnd type="none" w="sm" len="sm"/>
            <a:tailEnd type="none" w="sm" len="sm"/>
          </a:ln>
        </p:spPr>
      </p:cxnSp>
      <p:sp>
        <p:nvSpPr>
          <p:cNvPr id="493" name="Google Shape;493;gd825073dbc_0_135"/>
          <p:cNvSpPr/>
          <p:nvPr/>
        </p:nvSpPr>
        <p:spPr>
          <a:xfrm>
            <a:off x="2027240" y="3788636"/>
            <a:ext cx="1798800" cy="5248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600" b="1">
                <a:latin typeface="Gill Sans" panose="020B0604020202020204" charset="0"/>
                <a:ea typeface="Gill Sans"/>
                <a:cs typeface="Gill Sans" panose="020B0604020202020204" charset="0"/>
                <a:sym typeface="Gill Sans"/>
              </a:rPr>
              <a:t>Clock</a:t>
            </a:r>
            <a:endParaRPr sz="1600" b="1">
              <a:latin typeface="Gill Sans" panose="020B0604020202020204" charset="0"/>
              <a:ea typeface="Gill Sans"/>
              <a:cs typeface="Gill Sans" panose="020B0604020202020204" charset="0"/>
              <a:sym typeface="Gill Sans"/>
            </a:endParaRPr>
          </a:p>
        </p:txBody>
      </p:sp>
      <p:sp>
        <p:nvSpPr>
          <p:cNvPr id="494" name="Google Shape;494;gd825073dbc_0_135"/>
          <p:cNvSpPr/>
          <p:nvPr/>
        </p:nvSpPr>
        <p:spPr>
          <a:xfrm>
            <a:off x="8061100" y="4614056"/>
            <a:ext cx="1798800" cy="5248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600" b="1">
                <a:latin typeface="Gill Sans" panose="020B0604020202020204" charset="0"/>
                <a:ea typeface="Gill Sans"/>
                <a:cs typeface="Gill Sans" panose="020B0604020202020204" charset="0"/>
                <a:sym typeface="Gill Sans"/>
              </a:rPr>
              <a:t>Up to 16-bit shift registers</a:t>
            </a:r>
            <a:endParaRPr sz="1600" b="1">
              <a:latin typeface="Gill Sans" panose="020B0604020202020204" charset="0"/>
              <a:ea typeface="Gill Sans"/>
              <a:cs typeface="Gill Sans" panose="020B0604020202020204" charset="0"/>
              <a:sym typeface="Gill Sans"/>
            </a:endParaRPr>
          </a:p>
        </p:txBody>
      </p:sp>
      <p:sp>
        <p:nvSpPr>
          <p:cNvPr id="495" name="Google Shape;495;gd825073dbc_0_135"/>
          <p:cNvSpPr/>
          <p:nvPr/>
        </p:nvSpPr>
        <p:spPr>
          <a:xfrm>
            <a:off x="2067533" y="4634041"/>
            <a:ext cx="1798800" cy="5248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600" b="1">
                <a:latin typeface="Gill Sans" panose="020B0604020202020204" charset="0"/>
                <a:ea typeface="Gill Sans"/>
                <a:cs typeface="Gill Sans" panose="020B0604020202020204" charset="0"/>
                <a:sym typeface="Gill Sans"/>
              </a:rPr>
              <a:t>Up to 16-bit shift registers</a:t>
            </a:r>
            <a:endParaRPr sz="1600" b="1">
              <a:latin typeface="Gill Sans" panose="020B0604020202020204" charset="0"/>
              <a:ea typeface="Gill Sans"/>
              <a:cs typeface="Gill Sans" panose="020B0604020202020204" charset="0"/>
              <a:sym typeface="Gill Sans"/>
            </a:endParaRPr>
          </a:p>
        </p:txBody>
      </p:sp>
      <p:cxnSp>
        <p:nvCxnSpPr>
          <p:cNvPr id="496" name="Google Shape;496;gd825073dbc_0_135"/>
          <p:cNvCxnSpPr>
            <a:endCxn id="494" idx="3"/>
          </p:cNvCxnSpPr>
          <p:nvPr/>
        </p:nvCxnSpPr>
        <p:spPr>
          <a:xfrm rot="5400000" flipH="1">
            <a:off x="9794900" y="4941456"/>
            <a:ext cx="712000" cy="582000"/>
          </a:xfrm>
          <a:prstGeom prst="bentConnector2">
            <a:avLst/>
          </a:prstGeom>
          <a:noFill/>
          <a:ln w="28575" cap="flat" cmpd="sng">
            <a:solidFill>
              <a:schemeClr val="accent2"/>
            </a:solidFill>
            <a:prstDash val="solid"/>
            <a:round/>
            <a:headEnd type="none" w="sm" len="sm"/>
            <a:tailEnd type="triangle" w="med" len="med"/>
          </a:ln>
        </p:spPr>
      </p:cxnSp>
      <p:cxnSp>
        <p:nvCxnSpPr>
          <p:cNvPr id="497" name="Google Shape;497;gd825073dbc_0_135"/>
          <p:cNvCxnSpPr>
            <a:stCxn id="494" idx="1"/>
            <a:endCxn id="495" idx="3"/>
          </p:cNvCxnSpPr>
          <p:nvPr/>
        </p:nvCxnSpPr>
        <p:spPr>
          <a:xfrm flipH="1">
            <a:off x="3866300" y="4876456"/>
            <a:ext cx="4194800" cy="20000"/>
          </a:xfrm>
          <a:prstGeom prst="straightConnector1">
            <a:avLst/>
          </a:prstGeom>
          <a:noFill/>
          <a:ln w="28575" cap="flat" cmpd="sng">
            <a:solidFill>
              <a:schemeClr val="accent2"/>
            </a:solidFill>
            <a:prstDash val="solid"/>
            <a:round/>
            <a:headEnd type="none" w="sm" len="sm"/>
            <a:tailEnd type="triangle" w="med" len="med"/>
          </a:ln>
        </p:spPr>
      </p:cxnSp>
      <p:cxnSp>
        <p:nvCxnSpPr>
          <p:cNvPr id="498" name="Google Shape;498;gd825073dbc_0_135"/>
          <p:cNvCxnSpPr>
            <a:stCxn id="495" idx="1"/>
          </p:cNvCxnSpPr>
          <p:nvPr/>
        </p:nvCxnSpPr>
        <p:spPr>
          <a:xfrm>
            <a:off x="2067533" y="4896441"/>
            <a:ext cx="8374400" cy="692000"/>
          </a:xfrm>
          <a:prstGeom prst="bentConnector3">
            <a:avLst>
              <a:gd name="adj1" fmla="val -3791"/>
            </a:avLst>
          </a:prstGeom>
          <a:noFill/>
          <a:ln w="28575" cap="flat" cmpd="sng">
            <a:solidFill>
              <a:schemeClr val="accent2"/>
            </a:solidFill>
            <a:prstDash val="solid"/>
            <a:round/>
            <a:headEnd type="none" w="sm" len="sm"/>
            <a:tailEnd type="none" w="sm" len="sm"/>
          </a:ln>
        </p:spPr>
      </p:cxnSp>
      <p:cxnSp>
        <p:nvCxnSpPr>
          <p:cNvPr id="499" name="Google Shape;499;gd825073dbc_0_135"/>
          <p:cNvCxnSpPr>
            <a:endCxn id="494" idx="0"/>
          </p:cNvCxnSpPr>
          <p:nvPr/>
        </p:nvCxnSpPr>
        <p:spPr>
          <a:xfrm>
            <a:off x="3826100" y="4050456"/>
            <a:ext cx="5134400" cy="563600"/>
          </a:xfrm>
          <a:prstGeom prst="bentConnector2">
            <a:avLst/>
          </a:prstGeom>
          <a:noFill/>
          <a:ln w="28575" cap="flat" cmpd="sng">
            <a:solidFill>
              <a:schemeClr val="accent2"/>
            </a:solidFill>
            <a:prstDash val="solid"/>
            <a:round/>
            <a:headEnd type="none" w="sm" len="sm"/>
            <a:tailEnd type="triangle" w="med" len="med"/>
          </a:ln>
        </p:spPr>
      </p:cxnSp>
      <p:cxnSp>
        <p:nvCxnSpPr>
          <p:cNvPr id="500" name="Google Shape;500;gd825073dbc_0_135"/>
          <p:cNvCxnSpPr/>
          <p:nvPr/>
        </p:nvCxnSpPr>
        <p:spPr>
          <a:xfrm>
            <a:off x="2857009" y="4293301"/>
            <a:ext cx="0" cy="355600"/>
          </a:xfrm>
          <a:prstGeom prst="straightConnector1">
            <a:avLst/>
          </a:prstGeom>
          <a:noFill/>
          <a:ln w="28575" cap="flat" cmpd="sng">
            <a:solidFill>
              <a:schemeClr val="accent2"/>
            </a:solidFill>
            <a:prstDash val="solid"/>
            <a:round/>
            <a:headEnd type="none" w="sm" len="sm"/>
            <a:tailEnd type="triangle" w="med" len="med"/>
          </a:ln>
        </p:spPr>
      </p:cxnSp>
      <p:sp>
        <p:nvSpPr>
          <p:cNvPr id="501" name="Google Shape;501;gd825073dbc_0_135"/>
          <p:cNvSpPr txBox="1"/>
          <p:nvPr/>
        </p:nvSpPr>
        <p:spPr>
          <a:xfrm>
            <a:off x="3931961" y="4585610"/>
            <a:ext cx="8020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MISO</a:t>
            </a:r>
            <a:endParaRPr sz="1333" b="1">
              <a:latin typeface="Gill Sans" panose="020B0604020202020204" charset="0"/>
              <a:ea typeface="Gill Sans"/>
              <a:cs typeface="Gill Sans" panose="020B0604020202020204" charset="0"/>
              <a:sym typeface="Gill Sans"/>
            </a:endParaRPr>
          </a:p>
        </p:txBody>
      </p:sp>
      <p:sp>
        <p:nvSpPr>
          <p:cNvPr id="502" name="Google Shape;502;gd825073dbc_0_135"/>
          <p:cNvSpPr txBox="1"/>
          <p:nvPr/>
        </p:nvSpPr>
        <p:spPr>
          <a:xfrm>
            <a:off x="3826061" y="5292642"/>
            <a:ext cx="8452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MOSI</a:t>
            </a:r>
            <a:endParaRPr sz="1333" b="1">
              <a:latin typeface="Gill Sans" panose="020B0604020202020204" charset="0"/>
              <a:ea typeface="Gill Sans"/>
              <a:cs typeface="Gill Sans" panose="020B0604020202020204" charset="0"/>
              <a:sym typeface="Gill Sans"/>
            </a:endParaRPr>
          </a:p>
        </p:txBody>
      </p:sp>
      <p:sp>
        <p:nvSpPr>
          <p:cNvPr id="503" name="Google Shape;503;gd825073dbc_0_135"/>
          <p:cNvSpPr txBox="1"/>
          <p:nvPr/>
        </p:nvSpPr>
        <p:spPr>
          <a:xfrm>
            <a:off x="3951132" y="5999678"/>
            <a:ext cx="6552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NSS</a:t>
            </a:r>
            <a:endParaRPr sz="1333" b="1">
              <a:latin typeface="Gill Sans" panose="020B0604020202020204" charset="0"/>
              <a:ea typeface="Gill Sans"/>
              <a:cs typeface="Gill Sans" panose="020B0604020202020204" charset="0"/>
              <a:sym typeface="Gill Sans"/>
            </a:endParaRPr>
          </a:p>
        </p:txBody>
      </p:sp>
      <p:sp>
        <p:nvSpPr>
          <p:cNvPr id="504" name="Google Shape;504;gd825073dbc_0_135"/>
          <p:cNvSpPr txBox="1"/>
          <p:nvPr/>
        </p:nvSpPr>
        <p:spPr>
          <a:xfrm>
            <a:off x="3946165" y="3743667"/>
            <a:ext cx="8196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SCLK</a:t>
            </a:r>
            <a:endParaRPr sz="1333" b="1">
              <a:latin typeface="Gill Sans" panose="020B0604020202020204" charset="0"/>
              <a:ea typeface="Gill Sans"/>
              <a:cs typeface="Gill Sans" panose="020B0604020202020204" charset="0"/>
              <a:sym typeface="Gill Sans"/>
            </a:endParaRPr>
          </a:p>
        </p:txBody>
      </p:sp>
      <p:sp>
        <p:nvSpPr>
          <p:cNvPr id="505" name="Google Shape;505;gd825073dbc_0_135"/>
          <p:cNvSpPr txBox="1"/>
          <p:nvPr/>
        </p:nvSpPr>
        <p:spPr>
          <a:xfrm>
            <a:off x="7402448" y="3761158"/>
            <a:ext cx="8196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SCLK</a:t>
            </a:r>
            <a:endParaRPr sz="1333" b="1">
              <a:latin typeface="Gill Sans" panose="020B0604020202020204" charset="0"/>
              <a:ea typeface="Gill Sans"/>
              <a:cs typeface="Gill Sans" panose="020B0604020202020204" charset="0"/>
              <a:sym typeface="Gill Sans"/>
            </a:endParaRPr>
          </a:p>
        </p:txBody>
      </p:sp>
      <p:sp>
        <p:nvSpPr>
          <p:cNvPr id="506" name="Google Shape;506;gd825073dbc_0_135"/>
          <p:cNvSpPr txBox="1"/>
          <p:nvPr/>
        </p:nvSpPr>
        <p:spPr>
          <a:xfrm>
            <a:off x="7389048" y="4603101"/>
            <a:ext cx="7376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MISO</a:t>
            </a:r>
            <a:endParaRPr sz="1333" b="1">
              <a:latin typeface="Gill Sans" panose="020B0604020202020204" charset="0"/>
              <a:ea typeface="Gill Sans"/>
              <a:cs typeface="Gill Sans" panose="020B0604020202020204" charset="0"/>
              <a:sym typeface="Gill Sans"/>
            </a:endParaRPr>
          </a:p>
        </p:txBody>
      </p:sp>
      <p:sp>
        <p:nvSpPr>
          <p:cNvPr id="507" name="Google Shape;507;gd825073dbc_0_135"/>
          <p:cNvSpPr txBox="1"/>
          <p:nvPr/>
        </p:nvSpPr>
        <p:spPr>
          <a:xfrm>
            <a:off x="7422436" y="5325122"/>
            <a:ext cx="8452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MOSI</a:t>
            </a:r>
            <a:endParaRPr sz="1333" b="1">
              <a:latin typeface="Gill Sans" panose="020B0604020202020204" charset="0"/>
              <a:ea typeface="Gill Sans"/>
              <a:cs typeface="Gill Sans" panose="020B0604020202020204" charset="0"/>
              <a:sym typeface="Gill Sans"/>
            </a:endParaRPr>
          </a:p>
        </p:txBody>
      </p:sp>
      <p:sp>
        <p:nvSpPr>
          <p:cNvPr id="508" name="Google Shape;508;gd825073dbc_0_135"/>
          <p:cNvSpPr txBox="1"/>
          <p:nvPr/>
        </p:nvSpPr>
        <p:spPr>
          <a:xfrm>
            <a:off x="7454917" y="6017167"/>
            <a:ext cx="655200" cy="328177"/>
          </a:xfrm>
          <a:prstGeom prst="rect">
            <a:avLst/>
          </a:prstGeom>
          <a:noFill/>
          <a:ln>
            <a:noFill/>
          </a:ln>
        </p:spPr>
        <p:txBody>
          <a:bodyPr spcFirstLastPara="1" wrap="square" lIns="121900" tIns="60933" rIns="121900" bIns="60933" anchor="t" anchorCtr="0">
            <a:spAutoFit/>
          </a:bodyPr>
          <a:lstStyle/>
          <a:p>
            <a:r>
              <a:rPr lang="en-IN" sz="1333" b="1">
                <a:latin typeface="Gill Sans" panose="020B0604020202020204" charset="0"/>
                <a:ea typeface="Gill Sans"/>
                <a:cs typeface="Gill Sans" panose="020B0604020202020204" charset="0"/>
                <a:sym typeface="Gill Sans"/>
              </a:rPr>
              <a:t>NSS</a:t>
            </a:r>
            <a:endParaRPr sz="1333" b="1">
              <a:latin typeface="Gill Sans" panose="020B0604020202020204" charset="0"/>
              <a:ea typeface="Gill Sans"/>
              <a:cs typeface="Gill Sans" panose="020B0604020202020204" charset="0"/>
              <a:sym typeface="Gill Sans"/>
            </a:endParaRPr>
          </a:p>
        </p:txBody>
      </p:sp>
      <p:cxnSp>
        <p:nvCxnSpPr>
          <p:cNvPr id="509" name="Google Shape;509;gd825073dbc_0_135"/>
          <p:cNvCxnSpPr/>
          <p:nvPr/>
        </p:nvCxnSpPr>
        <p:spPr>
          <a:xfrm>
            <a:off x="5510281" y="3893565"/>
            <a:ext cx="1199200" cy="0"/>
          </a:xfrm>
          <a:prstGeom prst="straightConnector1">
            <a:avLst/>
          </a:prstGeom>
          <a:noFill/>
          <a:ln w="28575" cap="flat" cmpd="sng">
            <a:solidFill>
              <a:schemeClr val="accent1"/>
            </a:solidFill>
            <a:prstDash val="solid"/>
            <a:round/>
            <a:headEnd type="none" w="sm" len="sm"/>
            <a:tailEnd type="triangle" w="med" len="med"/>
          </a:ln>
        </p:spPr>
      </p:cxnSp>
      <p:cxnSp>
        <p:nvCxnSpPr>
          <p:cNvPr id="510" name="Google Shape;510;gd825073dbc_0_135"/>
          <p:cNvCxnSpPr/>
          <p:nvPr/>
        </p:nvCxnSpPr>
        <p:spPr>
          <a:xfrm rot="10800000">
            <a:off x="5540693" y="4805319"/>
            <a:ext cx="1168800" cy="0"/>
          </a:xfrm>
          <a:prstGeom prst="straightConnector1">
            <a:avLst/>
          </a:prstGeom>
          <a:noFill/>
          <a:ln w="28575" cap="flat" cmpd="sng">
            <a:solidFill>
              <a:schemeClr val="accent1"/>
            </a:solidFill>
            <a:prstDash val="solid"/>
            <a:round/>
            <a:headEnd type="none" w="sm" len="sm"/>
            <a:tailEnd type="triangle" w="med" len="med"/>
          </a:ln>
        </p:spPr>
      </p:cxnSp>
      <p:cxnSp>
        <p:nvCxnSpPr>
          <p:cNvPr id="511" name="Google Shape;511;gd825073dbc_0_135"/>
          <p:cNvCxnSpPr/>
          <p:nvPr/>
        </p:nvCxnSpPr>
        <p:spPr>
          <a:xfrm>
            <a:off x="5485300" y="5457531"/>
            <a:ext cx="1199200" cy="0"/>
          </a:xfrm>
          <a:prstGeom prst="straightConnector1">
            <a:avLst/>
          </a:prstGeom>
          <a:noFill/>
          <a:ln w="28575" cap="flat" cmpd="sng">
            <a:solidFill>
              <a:schemeClr val="accent1"/>
            </a:solidFill>
            <a:prstDash val="solid"/>
            <a:round/>
            <a:headEnd type="none" w="sm" len="sm"/>
            <a:tailEnd type="triangle" w="med" len="med"/>
          </a:ln>
        </p:spPr>
      </p:cxnSp>
      <p:sp>
        <p:nvSpPr>
          <p:cNvPr id="512" name="Google Shape;512;gd825073dbc_0_135"/>
          <p:cNvSpPr/>
          <p:nvPr/>
        </p:nvSpPr>
        <p:spPr>
          <a:xfrm>
            <a:off x="4550915" y="3984464"/>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3" name="Google Shape;513;gd825073dbc_0_135"/>
          <p:cNvSpPr/>
          <p:nvPr/>
        </p:nvSpPr>
        <p:spPr>
          <a:xfrm>
            <a:off x="4523433" y="4856385"/>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4" name="Google Shape;514;gd825073dbc_0_135"/>
          <p:cNvSpPr/>
          <p:nvPr/>
        </p:nvSpPr>
        <p:spPr>
          <a:xfrm>
            <a:off x="4495955" y="5533440"/>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5" name="Google Shape;515;gd825073dbc_0_135"/>
          <p:cNvSpPr/>
          <p:nvPr/>
        </p:nvSpPr>
        <p:spPr>
          <a:xfrm>
            <a:off x="4498455" y="6120551"/>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6" name="Google Shape;516;gd825073dbc_0_135"/>
          <p:cNvSpPr/>
          <p:nvPr/>
        </p:nvSpPr>
        <p:spPr>
          <a:xfrm>
            <a:off x="7401540" y="4001955"/>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7" name="Google Shape;517;gd825073dbc_0_135"/>
          <p:cNvSpPr/>
          <p:nvPr/>
        </p:nvSpPr>
        <p:spPr>
          <a:xfrm>
            <a:off x="7389051" y="4873875"/>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8" name="Google Shape;518;gd825073dbc_0_135"/>
          <p:cNvSpPr/>
          <p:nvPr/>
        </p:nvSpPr>
        <p:spPr>
          <a:xfrm>
            <a:off x="7391551" y="5550931"/>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
        <p:nvSpPr>
          <p:cNvPr id="519" name="Google Shape;519;gd825073dbc_0_135"/>
          <p:cNvSpPr/>
          <p:nvPr/>
        </p:nvSpPr>
        <p:spPr>
          <a:xfrm>
            <a:off x="7379060" y="6138040"/>
            <a:ext cx="104800" cy="90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latin typeface="Gill Sans" panose="020B0604020202020204" charset="0"/>
              <a:cs typeface="Gill Sans" panose="020B0604020202020204" charset="0"/>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gd825073dbc_0_171"/>
          <p:cNvSpPr txBox="1">
            <a:spLocks noGrp="1"/>
          </p:cNvSpPr>
          <p:nvPr>
            <p:ph type="title"/>
          </p:nvPr>
        </p:nvSpPr>
        <p:spPr>
          <a:xfrm>
            <a:off x="780821" y="227856"/>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cxnSp>
        <p:nvCxnSpPr>
          <p:cNvPr id="525" name="Google Shape;525;gd825073dbc_0_171"/>
          <p:cNvCxnSpPr/>
          <p:nvPr/>
        </p:nvCxnSpPr>
        <p:spPr>
          <a:xfrm flipH="1">
            <a:off x="4105649" y="4463005"/>
            <a:ext cx="59600" cy="2356400"/>
          </a:xfrm>
          <a:prstGeom prst="straightConnector1">
            <a:avLst/>
          </a:prstGeom>
          <a:noFill/>
          <a:ln w="38100" cap="flat" cmpd="sng">
            <a:solidFill>
              <a:srgbClr val="FF0000"/>
            </a:solidFill>
            <a:prstDash val="solid"/>
            <a:round/>
            <a:headEnd type="none" w="sm" len="sm"/>
            <a:tailEnd type="none" w="sm" len="sm"/>
          </a:ln>
        </p:spPr>
      </p:cxnSp>
      <p:cxnSp>
        <p:nvCxnSpPr>
          <p:cNvPr id="526" name="Google Shape;526;gd825073dbc_0_171"/>
          <p:cNvCxnSpPr/>
          <p:nvPr/>
        </p:nvCxnSpPr>
        <p:spPr>
          <a:xfrm flipH="1">
            <a:off x="6979915" y="4571676"/>
            <a:ext cx="16400" cy="2235200"/>
          </a:xfrm>
          <a:prstGeom prst="straightConnector1">
            <a:avLst/>
          </a:prstGeom>
          <a:noFill/>
          <a:ln w="38100" cap="flat" cmpd="sng">
            <a:solidFill>
              <a:srgbClr val="FF0000"/>
            </a:solidFill>
            <a:prstDash val="solid"/>
            <a:round/>
            <a:headEnd type="none" w="sm" len="sm"/>
            <a:tailEnd type="none" w="sm" len="sm"/>
          </a:ln>
        </p:spPr>
      </p:cxnSp>
      <p:cxnSp>
        <p:nvCxnSpPr>
          <p:cNvPr id="527" name="Google Shape;527;gd825073dbc_0_171"/>
          <p:cNvCxnSpPr/>
          <p:nvPr/>
        </p:nvCxnSpPr>
        <p:spPr>
          <a:xfrm rot="10800000" flipH="1">
            <a:off x="6112152" y="2685548"/>
            <a:ext cx="1573200" cy="526400"/>
          </a:xfrm>
          <a:prstGeom prst="bentConnector3">
            <a:avLst>
              <a:gd name="adj1" fmla="val 16661"/>
            </a:avLst>
          </a:prstGeom>
          <a:noFill/>
          <a:ln w="28575" cap="flat" cmpd="sng">
            <a:solidFill>
              <a:schemeClr val="accent2"/>
            </a:solidFill>
            <a:prstDash val="solid"/>
            <a:round/>
            <a:headEnd type="none" w="sm" len="sm"/>
            <a:tailEnd type="none" w="sm" len="sm"/>
          </a:ln>
        </p:spPr>
      </p:cxnSp>
      <p:cxnSp>
        <p:nvCxnSpPr>
          <p:cNvPr id="528" name="Google Shape;528;gd825073dbc_0_171"/>
          <p:cNvCxnSpPr/>
          <p:nvPr/>
        </p:nvCxnSpPr>
        <p:spPr>
          <a:xfrm flipH="1">
            <a:off x="7090552" y="1414019"/>
            <a:ext cx="11200" cy="2559200"/>
          </a:xfrm>
          <a:prstGeom prst="straightConnector1">
            <a:avLst/>
          </a:prstGeom>
          <a:noFill/>
          <a:ln w="38100" cap="flat" cmpd="sng">
            <a:solidFill>
              <a:srgbClr val="FF0000"/>
            </a:solidFill>
            <a:prstDash val="solid"/>
            <a:round/>
            <a:headEnd type="none" w="sm" len="sm"/>
            <a:tailEnd type="none" w="sm" len="sm"/>
          </a:ln>
        </p:spPr>
      </p:cxnSp>
      <p:cxnSp>
        <p:nvCxnSpPr>
          <p:cNvPr id="529" name="Google Shape;529;gd825073dbc_0_171"/>
          <p:cNvCxnSpPr/>
          <p:nvPr/>
        </p:nvCxnSpPr>
        <p:spPr>
          <a:xfrm flipH="1">
            <a:off x="4181132" y="1414020"/>
            <a:ext cx="70000" cy="2541600"/>
          </a:xfrm>
          <a:prstGeom prst="straightConnector1">
            <a:avLst/>
          </a:prstGeom>
          <a:noFill/>
          <a:ln w="38100" cap="flat" cmpd="sng">
            <a:solidFill>
              <a:srgbClr val="FF0000"/>
            </a:solidFill>
            <a:prstDash val="solid"/>
            <a:round/>
            <a:headEnd type="none" w="sm" len="sm"/>
            <a:tailEnd type="none" w="sm" len="sm"/>
          </a:ln>
        </p:spPr>
      </p:cxnSp>
      <p:cxnSp>
        <p:nvCxnSpPr>
          <p:cNvPr id="530" name="Google Shape;530;gd825073dbc_0_171"/>
          <p:cNvCxnSpPr/>
          <p:nvPr/>
        </p:nvCxnSpPr>
        <p:spPr>
          <a:xfrm>
            <a:off x="4167492" y="3654120"/>
            <a:ext cx="3009200" cy="40400"/>
          </a:xfrm>
          <a:prstGeom prst="straightConnector1">
            <a:avLst/>
          </a:prstGeom>
          <a:noFill/>
          <a:ln w="28575" cap="flat" cmpd="sng">
            <a:solidFill>
              <a:schemeClr val="accent2"/>
            </a:solidFill>
            <a:prstDash val="solid"/>
            <a:round/>
            <a:headEnd type="none" w="sm" len="sm"/>
            <a:tailEnd type="none" w="sm" len="sm"/>
          </a:ln>
        </p:spPr>
      </p:cxnSp>
      <p:sp>
        <p:nvSpPr>
          <p:cNvPr id="531" name="Google Shape;531;gd825073dbc_0_171"/>
          <p:cNvSpPr txBox="1"/>
          <p:nvPr/>
        </p:nvSpPr>
        <p:spPr>
          <a:xfrm>
            <a:off x="586600" y="865147"/>
            <a:ext cx="10409200" cy="615499"/>
          </a:xfrm>
          <a:prstGeom prst="rect">
            <a:avLst/>
          </a:prstGeom>
          <a:noFill/>
          <a:ln>
            <a:noFill/>
          </a:ln>
        </p:spPr>
        <p:txBody>
          <a:bodyPr spcFirstLastPara="1" wrap="square" lIns="121900" tIns="60933" rIns="121900" bIns="60933" anchor="t" anchorCtr="0">
            <a:spAutoFit/>
          </a:bodyPr>
          <a:lstStyle/>
          <a:p>
            <a:pPr marL="609585" indent="-507987">
              <a:buSzPts val="2400"/>
              <a:buFont typeface="Gill Sans"/>
              <a:buChar char="●"/>
            </a:pPr>
            <a:r>
              <a:rPr lang="en-IN" sz="3200" b="1" dirty="0">
                <a:latin typeface="Gill Sans" panose="020B0604020202020204" charset="0"/>
                <a:ea typeface="Gill Sans"/>
                <a:cs typeface="Gill Sans" panose="020B0604020202020204" charset="0"/>
                <a:sym typeface="Gill Sans"/>
              </a:rPr>
              <a:t>SPI half-duplex communication</a:t>
            </a:r>
            <a:endParaRPr sz="3200" b="1" dirty="0">
              <a:latin typeface="Gill Sans" panose="020B0604020202020204" charset="0"/>
              <a:ea typeface="Gill Sans"/>
              <a:cs typeface="Gill Sans" panose="020B0604020202020204" charset="0"/>
              <a:sym typeface="Gill Sans"/>
            </a:endParaRPr>
          </a:p>
        </p:txBody>
      </p:sp>
      <p:sp>
        <p:nvSpPr>
          <p:cNvPr id="532" name="Google Shape;532;gd825073dbc_0_171"/>
          <p:cNvSpPr/>
          <p:nvPr/>
        </p:nvSpPr>
        <p:spPr>
          <a:xfrm>
            <a:off x="1667569" y="1768623"/>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a:latin typeface="Gill Sans" panose="020B0604020202020204" charset="0"/>
                <a:ea typeface="Gill Sans"/>
                <a:cs typeface="Gill Sans" panose="020B0604020202020204" charset="0"/>
                <a:sym typeface="Gill Sans"/>
              </a:rPr>
              <a:t>Clock</a:t>
            </a:r>
            <a:endParaRPr sz="1333">
              <a:latin typeface="Gill Sans" panose="020B0604020202020204" charset="0"/>
              <a:ea typeface="Gill Sans"/>
              <a:cs typeface="Gill Sans" panose="020B0604020202020204" charset="0"/>
              <a:sym typeface="Gill Sans"/>
            </a:endParaRPr>
          </a:p>
        </p:txBody>
      </p:sp>
      <p:sp>
        <p:nvSpPr>
          <p:cNvPr id="533" name="Google Shape;533;gd825073dbc_0_171"/>
          <p:cNvSpPr/>
          <p:nvPr/>
        </p:nvSpPr>
        <p:spPr>
          <a:xfrm>
            <a:off x="7701429" y="2429647"/>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b="1">
                <a:latin typeface="Gill Sans" panose="020B0604020202020204" charset="0"/>
                <a:ea typeface="Gill Sans"/>
                <a:cs typeface="Gill Sans" panose="020B0604020202020204" charset="0"/>
                <a:sym typeface="Gill Sans"/>
              </a:rPr>
              <a:t>Up to 16-bit shift registers</a:t>
            </a:r>
            <a:endParaRPr sz="1333" b="1">
              <a:latin typeface="Gill Sans" panose="020B0604020202020204" charset="0"/>
              <a:ea typeface="Gill Sans"/>
              <a:cs typeface="Gill Sans" panose="020B0604020202020204" charset="0"/>
              <a:sym typeface="Gill Sans"/>
            </a:endParaRPr>
          </a:p>
        </p:txBody>
      </p:sp>
      <p:sp>
        <p:nvSpPr>
          <p:cNvPr id="534" name="Google Shape;534;gd825073dbc_0_171"/>
          <p:cNvSpPr/>
          <p:nvPr/>
        </p:nvSpPr>
        <p:spPr>
          <a:xfrm>
            <a:off x="1707863" y="2445652"/>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b="1">
                <a:latin typeface="Gill Sans" panose="020B0604020202020204" charset="0"/>
                <a:ea typeface="Gill Sans"/>
                <a:cs typeface="Gill Sans" panose="020B0604020202020204" charset="0"/>
                <a:sym typeface="Gill Sans"/>
              </a:rPr>
              <a:t>Up to 16-bit shift registers</a:t>
            </a:r>
            <a:endParaRPr sz="1333" b="1">
              <a:latin typeface="Gill Sans" panose="020B0604020202020204" charset="0"/>
              <a:ea typeface="Gill Sans"/>
              <a:cs typeface="Gill Sans" panose="020B0604020202020204" charset="0"/>
              <a:sym typeface="Gill Sans"/>
            </a:endParaRPr>
          </a:p>
        </p:txBody>
      </p:sp>
      <p:cxnSp>
        <p:nvCxnSpPr>
          <p:cNvPr id="535" name="Google Shape;535;gd825073dbc_0_171"/>
          <p:cNvCxnSpPr/>
          <p:nvPr/>
        </p:nvCxnSpPr>
        <p:spPr>
          <a:xfrm rot="5400000" flipH="1">
            <a:off x="9497019" y="2664300"/>
            <a:ext cx="570000" cy="544000"/>
          </a:xfrm>
          <a:prstGeom prst="bentConnector2">
            <a:avLst/>
          </a:prstGeom>
          <a:noFill/>
          <a:ln w="28575" cap="flat" cmpd="sng">
            <a:solidFill>
              <a:schemeClr val="accent2"/>
            </a:solidFill>
            <a:prstDash val="solid"/>
            <a:round/>
            <a:headEnd type="none" w="sm" len="sm"/>
            <a:tailEnd type="triangle" w="med" len="med"/>
          </a:ln>
        </p:spPr>
      </p:cxnSp>
      <p:cxnSp>
        <p:nvCxnSpPr>
          <p:cNvPr id="536" name="Google Shape;536;gd825073dbc_0_171"/>
          <p:cNvCxnSpPr>
            <a:stCxn id="534" idx="1"/>
          </p:cNvCxnSpPr>
          <p:nvPr/>
        </p:nvCxnSpPr>
        <p:spPr>
          <a:xfrm>
            <a:off x="1707863" y="2655852"/>
            <a:ext cx="4404400" cy="554400"/>
          </a:xfrm>
          <a:prstGeom prst="bentConnector3">
            <a:avLst>
              <a:gd name="adj1" fmla="val -7209"/>
            </a:avLst>
          </a:prstGeom>
          <a:noFill/>
          <a:ln w="28575" cap="flat" cmpd="sng">
            <a:solidFill>
              <a:schemeClr val="accent2"/>
            </a:solidFill>
            <a:prstDash val="solid"/>
            <a:round/>
            <a:headEnd type="none" w="sm" len="sm"/>
            <a:tailEnd type="none" w="sm" len="sm"/>
          </a:ln>
        </p:spPr>
      </p:cxnSp>
      <p:cxnSp>
        <p:nvCxnSpPr>
          <p:cNvPr id="537" name="Google Shape;537;gd825073dbc_0_171"/>
          <p:cNvCxnSpPr>
            <a:endCxn id="533" idx="0"/>
          </p:cNvCxnSpPr>
          <p:nvPr/>
        </p:nvCxnSpPr>
        <p:spPr>
          <a:xfrm>
            <a:off x="3502229" y="1979247"/>
            <a:ext cx="5117600" cy="450400"/>
          </a:xfrm>
          <a:prstGeom prst="bentConnector2">
            <a:avLst/>
          </a:prstGeom>
          <a:noFill/>
          <a:ln w="28575" cap="flat" cmpd="sng">
            <a:solidFill>
              <a:schemeClr val="accent2"/>
            </a:solidFill>
            <a:prstDash val="solid"/>
            <a:round/>
            <a:headEnd type="none" w="sm" len="sm"/>
            <a:tailEnd type="triangle" w="med" len="med"/>
          </a:ln>
        </p:spPr>
      </p:cxnSp>
      <p:cxnSp>
        <p:nvCxnSpPr>
          <p:cNvPr id="538" name="Google Shape;538;gd825073dbc_0_171"/>
          <p:cNvCxnSpPr/>
          <p:nvPr/>
        </p:nvCxnSpPr>
        <p:spPr>
          <a:xfrm>
            <a:off x="2497339" y="2172776"/>
            <a:ext cx="0" cy="284800"/>
          </a:xfrm>
          <a:prstGeom prst="straightConnector1">
            <a:avLst/>
          </a:prstGeom>
          <a:noFill/>
          <a:ln w="28575" cap="flat" cmpd="sng">
            <a:solidFill>
              <a:schemeClr val="accent2"/>
            </a:solidFill>
            <a:prstDash val="solid"/>
            <a:round/>
            <a:headEnd type="none" w="sm" len="sm"/>
            <a:tailEnd type="triangle" w="med" len="med"/>
          </a:ln>
        </p:spPr>
      </p:cxnSp>
      <p:sp>
        <p:nvSpPr>
          <p:cNvPr id="539" name="Google Shape;539;gd825073dbc_0_171"/>
          <p:cNvSpPr txBox="1"/>
          <p:nvPr/>
        </p:nvSpPr>
        <p:spPr>
          <a:xfrm>
            <a:off x="3642295" y="1753818"/>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SCLK</a:t>
            </a:r>
            <a:endParaRPr sz="1067" b="1">
              <a:latin typeface="Gill Sans" panose="020B0604020202020204" charset="0"/>
              <a:ea typeface="Gill Sans"/>
              <a:cs typeface="Gill Sans" panose="020B0604020202020204" charset="0"/>
              <a:sym typeface="Gill Sans"/>
            </a:endParaRPr>
          </a:p>
        </p:txBody>
      </p:sp>
      <p:sp>
        <p:nvSpPr>
          <p:cNvPr id="540" name="Google Shape;540;gd825073dbc_0_171"/>
          <p:cNvSpPr txBox="1"/>
          <p:nvPr/>
        </p:nvSpPr>
        <p:spPr>
          <a:xfrm>
            <a:off x="3714056" y="2406866"/>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MISO</a:t>
            </a:r>
            <a:endParaRPr sz="1067" b="1">
              <a:latin typeface="Gill Sans" panose="020B0604020202020204" charset="0"/>
              <a:ea typeface="Gill Sans"/>
              <a:cs typeface="Gill Sans" panose="020B0604020202020204" charset="0"/>
              <a:sym typeface="Gill Sans"/>
            </a:endParaRPr>
          </a:p>
        </p:txBody>
      </p:sp>
      <p:sp>
        <p:nvSpPr>
          <p:cNvPr id="541" name="Google Shape;541;gd825073dbc_0_171"/>
          <p:cNvSpPr txBox="1"/>
          <p:nvPr/>
        </p:nvSpPr>
        <p:spPr>
          <a:xfrm>
            <a:off x="3656596" y="2973083"/>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MOSI</a:t>
            </a:r>
            <a:endParaRPr sz="1067" b="1">
              <a:latin typeface="Gill Sans" panose="020B0604020202020204" charset="0"/>
              <a:ea typeface="Gill Sans"/>
              <a:cs typeface="Gill Sans" panose="020B0604020202020204" charset="0"/>
              <a:sym typeface="Gill Sans"/>
            </a:endParaRPr>
          </a:p>
        </p:txBody>
      </p:sp>
      <p:sp>
        <p:nvSpPr>
          <p:cNvPr id="542" name="Google Shape;542;gd825073dbc_0_171"/>
          <p:cNvSpPr txBox="1"/>
          <p:nvPr/>
        </p:nvSpPr>
        <p:spPr>
          <a:xfrm>
            <a:off x="3617453" y="3539301"/>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NSS</a:t>
            </a:r>
            <a:endParaRPr sz="1067" b="1">
              <a:latin typeface="Gill Sans" panose="020B0604020202020204" charset="0"/>
              <a:ea typeface="Gill Sans"/>
              <a:cs typeface="Gill Sans" panose="020B0604020202020204" charset="0"/>
              <a:sym typeface="Gill Sans"/>
            </a:endParaRPr>
          </a:p>
        </p:txBody>
      </p:sp>
      <p:sp>
        <p:nvSpPr>
          <p:cNvPr id="543" name="Google Shape;543;gd825073dbc_0_171"/>
          <p:cNvSpPr txBox="1"/>
          <p:nvPr/>
        </p:nvSpPr>
        <p:spPr>
          <a:xfrm>
            <a:off x="7085308" y="1758550"/>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SCLK</a:t>
            </a:r>
            <a:endParaRPr sz="1067" b="1">
              <a:latin typeface="Gill Sans" panose="020B0604020202020204" charset="0"/>
              <a:ea typeface="Gill Sans"/>
              <a:cs typeface="Gill Sans" panose="020B0604020202020204" charset="0"/>
              <a:sym typeface="Gill Sans"/>
            </a:endParaRPr>
          </a:p>
        </p:txBody>
      </p:sp>
      <p:sp>
        <p:nvSpPr>
          <p:cNvPr id="544" name="Google Shape;544;gd825073dbc_0_171"/>
          <p:cNvSpPr txBox="1"/>
          <p:nvPr/>
        </p:nvSpPr>
        <p:spPr>
          <a:xfrm>
            <a:off x="7044461" y="2341397"/>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MISO</a:t>
            </a:r>
            <a:endParaRPr sz="1067" b="1">
              <a:latin typeface="Gill Sans" panose="020B0604020202020204" charset="0"/>
              <a:ea typeface="Gill Sans"/>
              <a:cs typeface="Gill Sans" panose="020B0604020202020204" charset="0"/>
              <a:sym typeface="Gill Sans"/>
            </a:endParaRPr>
          </a:p>
        </p:txBody>
      </p:sp>
      <p:sp>
        <p:nvSpPr>
          <p:cNvPr id="545" name="Google Shape;545;gd825073dbc_0_171"/>
          <p:cNvSpPr txBox="1"/>
          <p:nvPr/>
        </p:nvSpPr>
        <p:spPr>
          <a:xfrm>
            <a:off x="7062765" y="3155153"/>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MOSI</a:t>
            </a:r>
            <a:endParaRPr sz="1067" b="1">
              <a:latin typeface="Gill Sans" panose="020B0604020202020204" charset="0"/>
              <a:ea typeface="Gill Sans"/>
              <a:cs typeface="Gill Sans" panose="020B0604020202020204" charset="0"/>
              <a:sym typeface="Gill Sans"/>
            </a:endParaRPr>
          </a:p>
        </p:txBody>
      </p:sp>
      <p:sp>
        <p:nvSpPr>
          <p:cNvPr id="546" name="Google Shape;546;gd825073dbc_0_171"/>
          <p:cNvSpPr txBox="1"/>
          <p:nvPr/>
        </p:nvSpPr>
        <p:spPr>
          <a:xfrm>
            <a:off x="7095244" y="3553307"/>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NSS</a:t>
            </a:r>
            <a:endParaRPr sz="1067" b="1">
              <a:latin typeface="Gill Sans" panose="020B0604020202020204" charset="0"/>
              <a:ea typeface="Gill Sans"/>
              <a:cs typeface="Gill Sans" panose="020B0604020202020204" charset="0"/>
              <a:sym typeface="Gill Sans"/>
            </a:endParaRPr>
          </a:p>
        </p:txBody>
      </p:sp>
      <p:cxnSp>
        <p:nvCxnSpPr>
          <p:cNvPr id="547" name="Google Shape;547;gd825073dbc_0_171"/>
          <p:cNvCxnSpPr/>
          <p:nvPr/>
        </p:nvCxnSpPr>
        <p:spPr>
          <a:xfrm>
            <a:off x="5150609" y="1852655"/>
            <a:ext cx="1224400" cy="0"/>
          </a:xfrm>
          <a:prstGeom prst="straightConnector1">
            <a:avLst/>
          </a:prstGeom>
          <a:noFill/>
          <a:ln w="28575" cap="flat" cmpd="sng">
            <a:solidFill>
              <a:schemeClr val="accent1"/>
            </a:solidFill>
            <a:prstDash val="solid"/>
            <a:round/>
            <a:headEnd type="none" w="sm" len="sm"/>
            <a:tailEnd type="triangle" w="med" len="med"/>
          </a:ln>
        </p:spPr>
      </p:cxnSp>
      <p:sp>
        <p:nvSpPr>
          <p:cNvPr id="548" name="Google Shape;548;gd825073dbc_0_171"/>
          <p:cNvSpPr/>
          <p:nvPr/>
        </p:nvSpPr>
        <p:spPr>
          <a:xfrm>
            <a:off x="4191243" y="1925448"/>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49" name="Google Shape;549;gd825073dbc_0_171"/>
          <p:cNvSpPr/>
          <p:nvPr/>
        </p:nvSpPr>
        <p:spPr>
          <a:xfrm>
            <a:off x="4163763" y="2623712"/>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0" name="Google Shape;550;gd825073dbc_0_171"/>
          <p:cNvSpPr/>
          <p:nvPr/>
        </p:nvSpPr>
        <p:spPr>
          <a:xfrm>
            <a:off x="4136283" y="3165921"/>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1" name="Google Shape;551;gd825073dbc_0_171"/>
          <p:cNvSpPr/>
          <p:nvPr/>
        </p:nvSpPr>
        <p:spPr>
          <a:xfrm>
            <a:off x="4138783" y="3636100"/>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2" name="Google Shape;552;gd825073dbc_0_171"/>
          <p:cNvSpPr/>
          <p:nvPr/>
        </p:nvSpPr>
        <p:spPr>
          <a:xfrm>
            <a:off x="7041868" y="1939455"/>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3" name="Google Shape;553;gd825073dbc_0_171"/>
          <p:cNvSpPr/>
          <p:nvPr/>
        </p:nvSpPr>
        <p:spPr>
          <a:xfrm>
            <a:off x="7029379" y="2637720"/>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4" name="Google Shape;554;gd825073dbc_0_171"/>
          <p:cNvSpPr/>
          <p:nvPr/>
        </p:nvSpPr>
        <p:spPr>
          <a:xfrm>
            <a:off x="7031879" y="3179928"/>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55" name="Google Shape;555;gd825073dbc_0_171"/>
          <p:cNvSpPr/>
          <p:nvPr/>
        </p:nvSpPr>
        <p:spPr>
          <a:xfrm>
            <a:off x="7019388" y="3650105"/>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cxnSp>
        <p:nvCxnSpPr>
          <p:cNvPr id="556" name="Google Shape;556;gd825073dbc_0_171"/>
          <p:cNvCxnSpPr/>
          <p:nvPr/>
        </p:nvCxnSpPr>
        <p:spPr>
          <a:xfrm>
            <a:off x="7121149" y="2702693"/>
            <a:ext cx="2942000" cy="548800"/>
          </a:xfrm>
          <a:prstGeom prst="bentConnector3">
            <a:avLst>
              <a:gd name="adj1" fmla="val 15788"/>
            </a:avLst>
          </a:prstGeom>
          <a:noFill/>
          <a:ln w="28575" cap="flat" cmpd="sng">
            <a:solidFill>
              <a:schemeClr val="accent2"/>
            </a:solidFill>
            <a:prstDash val="solid"/>
            <a:round/>
            <a:headEnd type="none" w="sm" len="sm"/>
            <a:tailEnd type="none" w="sm" len="sm"/>
          </a:ln>
        </p:spPr>
      </p:cxnSp>
      <p:cxnSp>
        <p:nvCxnSpPr>
          <p:cNvPr id="557" name="Google Shape;557;gd825073dbc_0_171"/>
          <p:cNvCxnSpPr/>
          <p:nvPr/>
        </p:nvCxnSpPr>
        <p:spPr>
          <a:xfrm rot="5400000" flipH="1">
            <a:off x="3385676" y="2826199"/>
            <a:ext cx="529600" cy="210400"/>
          </a:xfrm>
          <a:prstGeom prst="bentConnector2">
            <a:avLst/>
          </a:prstGeom>
          <a:noFill/>
          <a:ln w="28575" cap="flat" cmpd="sng">
            <a:solidFill>
              <a:schemeClr val="accent2"/>
            </a:solidFill>
            <a:prstDash val="solid"/>
            <a:round/>
            <a:headEnd type="none" w="sm" len="sm"/>
            <a:tailEnd type="triangle" w="med" len="med"/>
          </a:ln>
        </p:spPr>
      </p:cxnSp>
      <p:sp>
        <p:nvSpPr>
          <p:cNvPr id="558" name="Google Shape;558;gd825073dbc_0_171"/>
          <p:cNvSpPr/>
          <p:nvPr/>
        </p:nvSpPr>
        <p:spPr>
          <a:xfrm>
            <a:off x="6289861" y="2825799"/>
            <a:ext cx="183600" cy="258400"/>
          </a:xfrm>
          <a:prstGeom prst="roundRect">
            <a:avLst>
              <a:gd name="adj" fmla="val 16667"/>
            </a:avLst>
          </a:prstGeom>
          <a:solidFill>
            <a:schemeClr val="dk1"/>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121900" tIns="60933" rIns="121900" bIns="60933" anchor="ctr" anchorCtr="0">
            <a:noAutofit/>
          </a:bodyPr>
          <a:lstStyle/>
          <a:p>
            <a:pPr algn="ctr"/>
            <a:r>
              <a:rPr lang="en-IN" sz="1200">
                <a:latin typeface="Gill Sans" panose="020B0604020202020204" charset="0"/>
                <a:cs typeface="Gill Sans" panose="020B0604020202020204" charset="0"/>
                <a:sym typeface="Arial"/>
              </a:rPr>
              <a:t>R</a:t>
            </a:r>
            <a:endParaRPr sz="1200">
              <a:latin typeface="Gill Sans" panose="020B0604020202020204" charset="0"/>
              <a:cs typeface="Gill Sans" panose="020B0604020202020204" charset="0"/>
              <a:sym typeface="Arial"/>
            </a:endParaRPr>
          </a:p>
        </p:txBody>
      </p:sp>
      <p:sp>
        <p:nvSpPr>
          <p:cNvPr id="559" name="Google Shape;559;gd825073dbc_0_171"/>
          <p:cNvSpPr/>
          <p:nvPr/>
        </p:nvSpPr>
        <p:spPr>
          <a:xfrm>
            <a:off x="4805835" y="2474661"/>
            <a:ext cx="1622000" cy="143600"/>
          </a:xfrm>
          <a:prstGeom prst="leftRightArrow">
            <a:avLst>
              <a:gd name="adj1" fmla="val 50000"/>
              <a:gd name="adj2" fmla="val 50000"/>
            </a:avLst>
          </a:prstGeom>
          <a:solidFill>
            <a:schemeClr val="accent2"/>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cxnSp>
        <p:nvCxnSpPr>
          <p:cNvPr id="560" name="Google Shape;560;gd825073dbc_0_171"/>
          <p:cNvCxnSpPr/>
          <p:nvPr/>
        </p:nvCxnSpPr>
        <p:spPr>
          <a:xfrm>
            <a:off x="4081621" y="6628163"/>
            <a:ext cx="3009200" cy="40400"/>
          </a:xfrm>
          <a:prstGeom prst="straightConnector1">
            <a:avLst/>
          </a:prstGeom>
          <a:noFill/>
          <a:ln w="28575" cap="flat" cmpd="sng">
            <a:solidFill>
              <a:schemeClr val="accent2"/>
            </a:solidFill>
            <a:prstDash val="solid"/>
            <a:round/>
            <a:headEnd type="none" w="sm" len="sm"/>
            <a:tailEnd type="none" w="sm" len="sm"/>
          </a:ln>
        </p:spPr>
      </p:cxnSp>
      <p:sp>
        <p:nvSpPr>
          <p:cNvPr id="561" name="Google Shape;561;gd825073dbc_0_171"/>
          <p:cNvSpPr txBox="1"/>
          <p:nvPr/>
        </p:nvSpPr>
        <p:spPr>
          <a:xfrm>
            <a:off x="586600" y="3850897"/>
            <a:ext cx="10409200" cy="615499"/>
          </a:xfrm>
          <a:prstGeom prst="rect">
            <a:avLst/>
          </a:prstGeom>
          <a:noFill/>
          <a:ln>
            <a:noFill/>
          </a:ln>
        </p:spPr>
        <p:txBody>
          <a:bodyPr spcFirstLastPara="1" wrap="square" lIns="121900" tIns="60933" rIns="121900" bIns="60933" anchor="t" anchorCtr="0">
            <a:spAutoFit/>
          </a:bodyPr>
          <a:lstStyle/>
          <a:p>
            <a:pPr marL="609585" indent="-507987">
              <a:buSzPts val="2400"/>
              <a:buFont typeface="Gill Sans"/>
              <a:buChar char="●"/>
            </a:pPr>
            <a:r>
              <a:rPr lang="en-IN" sz="3200" b="1" dirty="0">
                <a:latin typeface="Gill Sans" panose="020B0604020202020204" charset="0"/>
                <a:ea typeface="Gill Sans"/>
                <a:cs typeface="Gill Sans" panose="020B0604020202020204" charset="0"/>
                <a:sym typeface="Gill Sans"/>
              </a:rPr>
              <a:t>SPI Simplex communication</a:t>
            </a:r>
            <a:endParaRPr sz="3200" b="1" dirty="0">
              <a:latin typeface="Gill Sans" panose="020B0604020202020204" charset="0"/>
              <a:ea typeface="Gill Sans"/>
              <a:cs typeface="Gill Sans" panose="020B0604020202020204" charset="0"/>
              <a:sym typeface="Gill Sans"/>
            </a:endParaRPr>
          </a:p>
        </p:txBody>
      </p:sp>
      <p:sp>
        <p:nvSpPr>
          <p:cNvPr id="562" name="Google Shape;562;gd825073dbc_0_171"/>
          <p:cNvSpPr/>
          <p:nvPr/>
        </p:nvSpPr>
        <p:spPr>
          <a:xfrm>
            <a:off x="1581699" y="4742667"/>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a:latin typeface="Gill Sans" panose="020B0604020202020204" charset="0"/>
                <a:ea typeface="Gill Sans"/>
                <a:cs typeface="Gill Sans" panose="020B0604020202020204" charset="0"/>
                <a:sym typeface="Gill Sans"/>
              </a:rPr>
              <a:t>Clock</a:t>
            </a:r>
            <a:endParaRPr sz="1333">
              <a:latin typeface="Gill Sans" panose="020B0604020202020204" charset="0"/>
              <a:ea typeface="Gill Sans"/>
              <a:cs typeface="Gill Sans" panose="020B0604020202020204" charset="0"/>
              <a:sym typeface="Gill Sans"/>
            </a:endParaRPr>
          </a:p>
        </p:txBody>
      </p:sp>
      <p:sp>
        <p:nvSpPr>
          <p:cNvPr id="563" name="Google Shape;563;gd825073dbc_0_171"/>
          <p:cNvSpPr/>
          <p:nvPr/>
        </p:nvSpPr>
        <p:spPr>
          <a:xfrm>
            <a:off x="7615560" y="5403691"/>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b="1">
                <a:latin typeface="Gill Sans" panose="020B0604020202020204" charset="0"/>
                <a:ea typeface="Gill Sans"/>
                <a:cs typeface="Gill Sans" panose="020B0604020202020204" charset="0"/>
                <a:sym typeface="Gill Sans"/>
              </a:rPr>
              <a:t>Up to 16-bit shift registers</a:t>
            </a:r>
            <a:endParaRPr sz="1333" b="1">
              <a:latin typeface="Gill Sans" panose="020B0604020202020204" charset="0"/>
              <a:ea typeface="Gill Sans"/>
              <a:cs typeface="Gill Sans" panose="020B0604020202020204" charset="0"/>
              <a:sym typeface="Gill Sans"/>
            </a:endParaRPr>
          </a:p>
        </p:txBody>
      </p:sp>
      <p:sp>
        <p:nvSpPr>
          <p:cNvPr id="564" name="Google Shape;564;gd825073dbc_0_171"/>
          <p:cNvSpPr/>
          <p:nvPr/>
        </p:nvSpPr>
        <p:spPr>
          <a:xfrm>
            <a:off x="1621993" y="5419696"/>
            <a:ext cx="1836800" cy="420400"/>
          </a:xfrm>
          <a:prstGeom prst="roundRect">
            <a:avLst>
              <a:gd name="adj" fmla="val 16667"/>
            </a:avLst>
          </a:prstGeom>
          <a:solidFill>
            <a:srgbClr val="FFC000"/>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1333" b="1">
                <a:latin typeface="Gill Sans" panose="020B0604020202020204" charset="0"/>
                <a:ea typeface="Gill Sans"/>
                <a:cs typeface="Gill Sans" panose="020B0604020202020204" charset="0"/>
                <a:sym typeface="Gill Sans"/>
              </a:rPr>
              <a:t>Up to 16-bit shift registers</a:t>
            </a:r>
            <a:endParaRPr sz="1333" b="1">
              <a:latin typeface="Gill Sans" panose="020B0604020202020204" charset="0"/>
              <a:ea typeface="Gill Sans"/>
              <a:cs typeface="Gill Sans" panose="020B0604020202020204" charset="0"/>
              <a:sym typeface="Gill Sans"/>
            </a:endParaRPr>
          </a:p>
        </p:txBody>
      </p:sp>
      <p:cxnSp>
        <p:nvCxnSpPr>
          <p:cNvPr id="565" name="Google Shape;565;gd825073dbc_0_171"/>
          <p:cNvCxnSpPr>
            <a:endCxn id="563" idx="3"/>
          </p:cNvCxnSpPr>
          <p:nvPr/>
        </p:nvCxnSpPr>
        <p:spPr>
          <a:xfrm rot="5400000" flipH="1">
            <a:off x="9425760" y="5640491"/>
            <a:ext cx="582400" cy="529200"/>
          </a:xfrm>
          <a:prstGeom prst="bentConnector2">
            <a:avLst/>
          </a:prstGeom>
          <a:noFill/>
          <a:ln w="28575" cap="flat" cmpd="sng">
            <a:solidFill>
              <a:schemeClr val="accent2"/>
            </a:solidFill>
            <a:prstDash val="solid"/>
            <a:round/>
            <a:headEnd type="none" w="sm" len="sm"/>
            <a:tailEnd type="triangle" w="med" len="med"/>
          </a:ln>
        </p:spPr>
      </p:cxnSp>
      <p:cxnSp>
        <p:nvCxnSpPr>
          <p:cNvPr id="566" name="Google Shape;566;gd825073dbc_0_171"/>
          <p:cNvCxnSpPr>
            <a:stCxn id="564" idx="1"/>
          </p:cNvCxnSpPr>
          <p:nvPr/>
        </p:nvCxnSpPr>
        <p:spPr>
          <a:xfrm>
            <a:off x="1621993" y="5629896"/>
            <a:ext cx="8385200" cy="581600"/>
          </a:xfrm>
          <a:prstGeom prst="bentConnector3">
            <a:avLst>
              <a:gd name="adj1" fmla="val -3786"/>
            </a:avLst>
          </a:prstGeom>
          <a:noFill/>
          <a:ln w="28575" cap="flat" cmpd="sng">
            <a:solidFill>
              <a:schemeClr val="accent2"/>
            </a:solidFill>
            <a:prstDash val="solid"/>
            <a:round/>
            <a:headEnd type="none" w="sm" len="sm"/>
            <a:tailEnd type="none" w="sm" len="sm"/>
          </a:ln>
        </p:spPr>
      </p:cxnSp>
      <p:cxnSp>
        <p:nvCxnSpPr>
          <p:cNvPr id="567" name="Google Shape;567;gd825073dbc_0_171"/>
          <p:cNvCxnSpPr>
            <a:endCxn id="563" idx="0"/>
          </p:cNvCxnSpPr>
          <p:nvPr/>
        </p:nvCxnSpPr>
        <p:spPr>
          <a:xfrm>
            <a:off x="3418360" y="4952491"/>
            <a:ext cx="5115600" cy="451200"/>
          </a:xfrm>
          <a:prstGeom prst="bentConnector2">
            <a:avLst/>
          </a:prstGeom>
          <a:noFill/>
          <a:ln w="28575" cap="flat" cmpd="sng">
            <a:solidFill>
              <a:schemeClr val="accent2"/>
            </a:solidFill>
            <a:prstDash val="solid"/>
            <a:round/>
            <a:headEnd type="none" w="sm" len="sm"/>
            <a:tailEnd type="triangle" w="med" len="med"/>
          </a:ln>
        </p:spPr>
      </p:cxnSp>
      <p:cxnSp>
        <p:nvCxnSpPr>
          <p:cNvPr id="568" name="Google Shape;568;gd825073dbc_0_171"/>
          <p:cNvCxnSpPr/>
          <p:nvPr/>
        </p:nvCxnSpPr>
        <p:spPr>
          <a:xfrm>
            <a:off x="2411469" y="5146820"/>
            <a:ext cx="0" cy="284800"/>
          </a:xfrm>
          <a:prstGeom prst="straightConnector1">
            <a:avLst/>
          </a:prstGeom>
          <a:noFill/>
          <a:ln w="28575" cap="flat" cmpd="sng">
            <a:solidFill>
              <a:schemeClr val="accent2"/>
            </a:solidFill>
            <a:prstDash val="solid"/>
            <a:round/>
            <a:headEnd type="none" w="sm" len="sm"/>
            <a:tailEnd type="triangle" w="med" len="med"/>
          </a:ln>
        </p:spPr>
      </p:cxnSp>
      <p:sp>
        <p:nvSpPr>
          <p:cNvPr id="569" name="Google Shape;569;gd825073dbc_0_171"/>
          <p:cNvSpPr txBox="1"/>
          <p:nvPr/>
        </p:nvSpPr>
        <p:spPr>
          <a:xfrm>
            <a:off x="3655665" y="4706654"/>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SCLK</a:t>
            </a:r>
            <a:endParaRPr sz="1067" b="1">
              <a:latin typeface="Gill Sans" panose="020B0604020202020204" charset="0"/>
              <a:ea typeface="Gill Sans"/>
              <a:cs typeface="Gill Sans" panose="020B0604020202020204" charset="0"/>
              <a:sym typeface="Gill Sans"/>
            </a:endParaRPr>
          </a:p>
        </p:txBody>
      </p:sp>
      <p:sp>
        <p:nvSpPr>
          <p:cNvPr id="570" name="Google Shape;570;gd825073dbc_0_171"/>
          <p:cNvSpPr txBox="1"/>
          <p:nvPr/>
        </p:nvSpPr>
        <p:spPr>
          <a:xfrm>
            <a:off x="3628185" y="5380909"/>
            <a:ext cx="669200" cy="307722"/>
          </a:xfrm>
          <a:prstGeom prst="rect">
            <a:avLst/>
          </a:prstGeom>
          <a:noFill/>
          <a:ln>
            <a:noFill/>
          </a:ln>
        </p:spPr>
        <p:txBody>
          <a:bodyPr spcFirstLastPara="1" wrap="square" lIns="121900" tIns="60933" rIns="121900" bIns="60933" anchor="t" anchorCtr="0">
            <a:spAutoFit/>
          </a:bodyPr>
          <a:lstStyle/>
          <a:p>
            <a:r>
              <a:rPr lang="en-IN" sz="1200">
                <a:latin typeface="Gill Sans" panose="020B0604020202020204" charset="0"/>
                <a:cs typeface="Gill Sans" panose="020B0604020202020204" charset="0"/>
                <a:sym typeface="Arial"/>
              </a:rPr>
              <a:t>MISO</a:t>
            </a:r>
            <a:endParaRPr sz="1200">
              <a:latin typeface="Gill Sans" panose="020B0604020202020204" charset="0"/>
              <a:cs typeface="Gill Sans" panose="020B0604020202020204" charset="0"/>
              <a:sym typeface="Arial"/>
            </a:endParaRPr>
          </a:p>
        </p:txBody>
      </p:sp>
      <p:sp>
        <p:nvSpPr>
          <p:cNvPr id="571" name="Google Shape;571;gd825073dbc_0_171"/>
          <p:cNvSpPr txBox="1"/>
          <p:nvPr/>
        </p:nvSpPr>
        <p:spPr>
          <a:xfrm>
            <a:off x="3570725" y="5947126"/>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MOSI</a:t>
            </a:r>
            <a:endParaRPr sz="1067" b="1">
              <a:latin typeface="Gill Sans" panose="020B0604020202020204" charset="0"/>
              <a:ea typeface="Gill Sans"/>
              <a:cs typeface="Gill Sans" panose="020B0604020202020204" charset="0"/>
              <a:sym typeface="Gill Sans"/>
            </a:endParaRPr>
          </a:p>
        </p:txBody>
      </p:sp>
      <p:sp>
        <p:nvSpPr>
          <p:cNvPr id="572" name="Google Shape;572;gd825073dbc_0_171"/>
          <p:cNvSpPr txBox="1"/>
          <p:nvPr/>
        </p:nvSpPr>
        <p:spPr>
          <a:xfrm>
            <a:off x="3633184" y="6513345"/>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NSS</a:t>
            </a:r>
            <a:endParaRPr sz="1067" b="1">
              <a:latin typeface="Gill Sans" panose="020B0604020202020204" charset="0"/>
              <a:ea typeface="Gill Sans"/>
              <a:cs typeface="Gill Sans" panose="020B0604020202020204" charset="0"/>
              <a:sym typeface="Gill Sans"/>
            </a:endParaRPr>
          </a:p>
        </p:txBody>
      </p:sp>
      <p:sp>
        <p:nvSpPr>
          <p:cNvPr id="573" name="Google Shape;573;gd825073dbc_0_171"/>
          <p:cNvSpPr txBox="1"/>
          <p:nvPr/>
        </p:nvSpPr>
        <p:spPr>
          <a:xfrm>
            <a:off x="6956905" y="4720661"/>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SCLK</a:t>
            </a:r>
            <a:endParaRPr sz="1067" b="1">
              <a:latin typeface="Gill Sans" panose="020B0604020202020204" charset="0"/>
              <a:ea typeface="Gill Sans"/>
              <a:cs typeface="Gill Sans" panose="020B0604020202020204" charset="0"/>
              <a:sym typeface="Gill Sans"/>
            </a:endParaRPr>
          </a:p>
        </p:txBody>
      </p:sp>
      <p:sp>
        <p:nvSpPr>
          <p:cNvPr id="574" name="Google Shape;574;gd825073dbc_0_171"/>
          <p:cNvSpPr txBox="1"/>
          <p:nvPr/>
        </p:nvSpPr>
        <p:spPr>
          <a:xfrm>
            <a:off x="6944415" y="5281383"/>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MISO</a:t>
            </a:r>
            <a:endParaRPr sz="1067" b="1">
              <a:latin typeface="Gill Sans" panose="020B0604020202020204" charset="0"/>
              <a:ea typeface="Gill Sans"/>
              <a:cs typeface="Gill Sans" panose="020B0604020202020204" charset="0"/>
              <a:sym typeface="Gill Sans"/>
            </a:endParaRPr>
          </a:p>
        </p:txBody>
      </p:sp>
      <p:sp>
        <p:nvSpPr>
          <p:cNvPr id="575" name="Google Shape;575;gd825073dbc_0_171"/>
          <p:cNvSpPr txBox="1"/>
          <p:nvPr/>
        </p:nvSpPr>
        <p:spPr>
          <a:xfrm>
            <a:off x="6976896" y="5910647"/>
            <a:ext cx="67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MOSI</a:t>
            </a:r>
            <a:endParaRPr sz="1067" b="1">
              <a:latin typeface="Gill Sans" panose="020B0604020202020204" charset="0"/>
              <a:ea typeface="Gill Sans"/>
              <a:cs typeface="Gill Sans" panose="020B0604020202020204" charset="0"/>
              <a:sym typeface="Gill Sans"/>
            </a:endParaRPr>
          </a:p>
        </p:txBody>
      </p:sp>
      <p:sp>
        <p:nvSpPr>
          <p:cNvPr id="576" name="Google Shape;576;gd825073dbc_0_171"/>
          <p:cNvSpPr txBox="1"/>
          <p:nvPr/>
        </p:nvSpPr>
        <p:spPr>
          <a:xfrm>
            <a:off x="7009373" y="6527351"/>
            <a:ext cx="669200" cy="287268"/>
          </a:xfrm>
          <a:prstGeom prst="rect">
            <a:avLst/>
          </a:prstGeom>
          <a:noFill/>
          <a:ln>
            <a:noFill/>
          </a:ln>
        </p:spPr>
        <p:txBody>
          <a:bodyPr spcFirstLastPara="1" wrap="square" lIns="121900" tIns="60933" rIns="121900" bIns="60933" anchor="t" anchorCtr="0">
            <a:spAutoFit/>
          </a:bodyPr>
          <a:lstStyle/>
          <a:p>
            <a:r>
              <a:rPr lang="en-IN" sz="1067" b="1">
                <a:latin typeface="Gill Sans" panose="020B0604020202020204" charset="0"/>
                <a:ea typeface="Gill Sans"/>
                <a:cs typeface="Gill Sans" panose="020B0604020202020204" charset="0"/>
                <a:sym typeface="Gill Sans"/>
              </a:rPr>
              <a:t>NSS</a:t>
            </a:r>
            <a:endParaRPr sz="1067" b="1">
              <a:latin typeface="Gill Sans" panose="020B0604020202020204" charset="0"/>
              <a:ea typeface="Gill Sans"/>
              <a:cs typeface="Gill Sans" panose="020B0604020202020204" charset="0"/>
              <a:sym typeface="Gill Sans"/>
            </a:endParaRPr>
          </a:p>
        </p:txBody>
      </p:sp>
      <p:cxnSp>
        <p:nvCxnSpPr>
          <p:cNvPr id="577" name="Google Shape;577;gd825073dbc_0_171"/>
          <p:cNvCxnSpPr/>
          <p:nvPr/>
        </p:nvCxnSpPr>
        <p:spPr>
          <a:xfrm>
            <a:off x="5064739" y="4623497"/>
            <a:ext cx="1224400" cy="0"/>
          </a:xfrm>
          <a:prstGeom prst="straightConnector1">
            <a:avLst/>
          </a:prstGeom>
          <a:noFill/>
          <a:ln w="28575" cap="flat" cmpd="sng">
            <a:solidFill>
              <a:schemeClr val="accent1"/>
            </a:solidFill>
            <a:prstDash val="solid"/>
            <a:round/>
            <a:headEnd type="none" w="sm" len="sm"/>
            <a:tailEnd type="triangle" w="med" len="med"/>
          </a:ln>
        </p:spPr>
      </p:cxnSp>
      <p:sp>
        <p:nvSpPr>
          <p:cNvPr id="578" name="Google Shape;578;gd825073dbc_0_171"/>
          <p:cNvSpPr/>
          <p:nvPr/>
        </p:nvSpPr>
        <p:spPr>
          <a:xfrm>
            <a:off x="4105372" y="4899492"/>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79" name="Google Shape;579;gd825073dbc_0_171"/>
          <p:cNvSpPr/>
          <p:nvPr/>
        </p:nvSpPr>
        <p:spPr>
          <a:xfrm>
            <a:off x="4077892" y="5597757"/>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0" name="Google Shape;580;gd825073dbc_0_171"/>
          <p:cNvSpPr/>
          <p:nvPr/>
        </p:nvSpPr>
        <p:spPr>
          <a:xfrm>
            <a:off x="4050412" y="6139965"/>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1" name="Google Shape;581;gd825073dbc_0_171"/>
          <p:cNvSpPr/>
          <p:nvPr/>
        </p:nvSpPr>
        <p:spPr>
          <a:xfrm>
            <a:off x="4052912" y="6610143"/>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2" name="Google Shape;582;gd825073dbc_0_171"/>
          <p:cNvSpPr/>
          <p:nvPr/>
        </p:nvSpPr>
        <p:spPr>
          <a:xfrm>
            <a:off x="6955999" y="4913499"/>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3" name="Google Shape;583;gd825073dbc_0_171"/>
          <p:cNvSpPr/>
          <p:nvPr/>
        </p:nvSpPr>
        <p:spPr>
          <a:xfrm>
            <a:off x="6943508" y="5611763"/>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4" name="Google Shape;584;gd825073dbc_0_171"/>
          <p:cNvSpPr/>
          <p:nvPr/>
        </p:nvSpPr>
        <p:spPr>
          <a:xfrm>
            <a:off x="6946008" y="6153972"/>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sp>
        <p:nvSpPr>
          <p:cNvPr id="585" name="Google Shape;585;gd825073dbc_0_171"/>
          <p:cNvSpPr/>
          <p:nvPr/>
        </p:nvSpPr>
        <p:spPr>
          <a:xfrm>
            <a:off x="6933519" y="6624151"/>
            <a:ext cx="107200" cy="72000"/>
          </a:xfrm>
          <a:prstGeom prst="flowChartConnector">
            <a:avLst/>
          </a:prstGeom>
          <a:solidFill>
            <a:schemeClr val="dk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200">
              <a:latin typeface="Gill Sans" panose="020B0604020202020204" charset="0"/>
              <a:cs typeface="Gill Sans" panose="020B0604020202020204" charset="0"/>
              <a:sym typeface="Arial"/>
            </a:endParaRPr>
          </a:p>
        </p:txBody>
      </p:sp>
      <p:cxnSp>
        <p:nvCxnSpPr>
          <p:cNvPr id="586" name="Google Shape;586;gd825073dbc_0_171"/>
          <p:cNvCxnSpPr/>
          <p:nvPr/>
        </p:nvCxnSpPr>
        <p:spPr>
          <a:xfrm>
            <a:off x="5127199" y="6041167"/>
            <a:ext cx="1224400" cy="0"/>
          </a:xfrm>
          <a:prstGeom prst="straightConnector1">
            <a:avLst/>
          </a:prstGeom>
          <a:noFill/>
          <a:ln w="28575" cap="flat" cmpd="sng">
            <a:solidFill>
              <a:schemeClr val="accent1"/>
            </a:solidFill>
            <a:prstDash val="solid"/>
            <a:round/>
            <a:headEnd type="none" w="sm" len="sm"/>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E97B-7338-40CD-847A-02B62014D5D9}"/>
              </a:ext>
            </a:extLst>
          </p:cNvPr>
          <p:cNvSpPr>
            <a:spLocks noGrp="1"/>
          </p:cNvSpPr>
          <p:nvPr>
            <p:ph type="title"/>
          </p:nvPr>
        </p:nvSpPr>
        <p:spPr>
          <a:xfrm>
            <a:off x="838200" y="10703"/>
            <a:ext cx="10515600" cy="1325600"/>
          </a:xfrm>
        </p:spPr>
        <p:txBody>
          <a:bodyPr/>
          <a:lstStyle/>
          <a:p>
            <a:pPr algn="ctr"/>
            <a:r>
              <a:rPr lang="en-IN" sz="4267" b="1" dirty="0">
                <a:latin typeface="Helvetica Neue" panose="020B0604020202020204" charset="0"/>
                <a:cs typeface="Helvetica Neue" panose="020B0604020202020204" charset="0"/>
              </a:rPr>
              <a:t>One Master and Multiple Slave</a:t>
            </a:r>
            <a:endParaRPr lang="en-US" sz="4267" b="1" dirty="0">
              <a:latin typeface="Helvetica Neue" panose="020B0604020202020204" charset="0"/>
              <a:cs typeface="Helvetica Neue" panose="020B0604020202020204" charset="0"/>
            </a:endParaRPr>
          </a:p>
        </p:txBody>
      </p:sp>
      <p:pic>
        <p:nvPicPr>
          <p:cNvPr id="5" name="Picture 4">
            <a:extLst>
              <a:ext uri="{FF2B5EF4-FFF2-40B4-BE49-F238E27FC236}">
                <a16:creationId xmlns:a16="http://schemas.microsoft.com/office/drawing/2014/main" id="{21F5ACF8-A7B0-4ECD-9130-CF8F1663F2EF}"/>
              </a:ext>
            </a:extLst>
          </p:cNvPr>
          <p:cNvPicPr>
            <a:picLocks noChangeAspect="1"/>
          </p:cNvPicPr>
          <p:nvPr/>
        </p:nvPicPr>
        <p:blipFill>
          <a:blip r:embed="rId3"/>
          <a:stretch>
            <a:fillRect/>
          </a:stretch>
        </p:blipFill>
        <p:spPr>
          <a:xfrm>
            <a:off x="4111704" y="949844"/>
            <a:ext cx="7853473" cy="5869176"/>
          </a:xfrm>
          <a:prstGeom prst="rect">
            <a:avLst/>
          </a:prstGeom>
        </p:spPr>
      </p:pic>
      <p:sp>
        <p:nvSpPr>
          <p:cNvPr id="6" name="Cloud 5">
            <a:extLst>
              <a:ext uri="{FF2B5EF4-FFF2-40B4-BE49-F238E27FC236}">
                <a16:creationId xmlns:a16="http://schemas.microsoft.com/office/drawing/2014/main" id="{8A8A0F0A-3FE9-4F5D-A818-2EE42D44CCAB}"/>
              </a:ext>
            </a:extLst>
          </p:cNvPr>
          <p:cNvSpPr/>
          <p:nvPr/>
        </p:nvSpPr>
        <p:spPr>
          <a:xfrm>
            <a:off x="99238" y="1028700"/>
            <a:ext cx="4012465" cy="5052237"/>
          </a:xfrm>
          <a:prstGeom prst="cloud">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In this case, master’s </a:t>
            </a:r>
            <a:r>
              <a:rPr lang="en-IN" sz="2400" b="1" dirty="0"/>
              <a:t>NSS</a:t>
            </a:r>
            <a:r>
              <a:rPr lang="en-IN" sz="2400" dirty="0"/>
              <a:t> pin will not be used and it’s connected to +VDD to avoid noise.</a:t>
            </a:r>
          </a:p>
          <a:p>
            <a:pPr algn="ctr"/>
            <a:endParaRPr lang="en-IN" sz="400" dirty="0"/>
          </a:p>
          <a:p>
            <a:pPr algn="ctr"/>
            <a:r>
              <a:rPr lang="en-IN" sz="2400" dirty="0"/>
              <a:t>And Master’s gpio pins are used to select the slave devices.</a:t>
            </a:r>
            <a:endParaRPr lang="en-US" sz="2400" dirty="0"/>
          </a:p>
        </p:txBody>
      </p:sp>
    </p:spTree>
    <p:extLst>
      <p:ext uri="{BB962C8B-B14F-4D97-AF65-F5344CB8AC3E}">
        <p14:creationId xmlns:p14="http://schemas.microsoft.com/office/powerpoint/2010/main" val="2196807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D16A-E81B-4EF5-BF23-8E1AF7BB57EB}"/>
              </a:ext>
            </a:extLst>
          </p:cNvPr>
          <p:cNvSpPr>
            <a:spLocks noGrp="1"/>
          </p:cNvSpPr>
          <p:nvPr>
            <p:ph type="title"/>
          </p:nvPr>
        </p:nvSpPr>
        <p:spPr/>
        <p:txBody>
          <a:bodyPr/>
          <a:lstStyle/>
          <a:p>
            <a:pPr algn="ctr"/>
            <a:r>
              <a:rPr lang="en-IN" sz="4267" b="1" dirty="0">
                <a:latin typeface="Helvetica Neue" panose="020B0604020202020204" charset="0"/>
                <a:cs typeface="Helvetica Neue" panose="020B0604020202020204" charset="0"/>
              </a:rPr>
              <a:t>Slave Select (NSS) pin Management</a:t>
            </a:r>
            <a:endParaRPr lang="en-US" sz="4267" b="1"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B118E03B-FD1A-40C5-939E-3B1020ED9B0F}"/>
              </a:ext>
            </a:extLst>
          </p:cNvPr>
          <p:cNvSpPr>
            <a:spLocks noGrp="1"/>
          </p:cNvSpPr>
          <p:nvPr>
            <p:ph type="body" idx="1"/>
          </p:nvPr>
        </p:nvSpPr>
        <p:spPr>
          <a:xfrm>
            <a:off x="838200" y="1403497"/>
            <a:ext cx="10515600" cy="4773328"/>
          </a:xfrm>
        </p:spPr>
        <p:txBody>
          <a:bodyPr/>
          <a:lstStyle/>
          <a:p>
            <a:pPr algn="l">
              <a:buSzPct val="100000"/>
            </a:pPr>
            <a:r>
              <a:rPr lang="en-IN" sz="3200" dirty="0">
                <a:latin typeface="Gill Sans" panose="020B0604020202020204" charset="0"/>
                <a:cs typeface="Gill Sans" panose="020B0604020202020204" charset="0"/>
              </a:rPr>
              <a:t>In slave mode, the NSS pin works as a standard “chip select” input and lets the slave communicate with the master. </a:t>
            </a:r>
          </a:p>
          <a:p>
            <a:pPr algn="l">
              <a:buSzPct val="100000"/>
            </a:pPr>
            <a:r>
              <a:rPr lang="en-IN" sz="3200" dirty="0">
                <a:latin typeface="Gill Sans" panose="020B0604020202020204" charset="0"/>
                <a:cs typeface="Gill Sans" panose="020B0604020202020204" charset="0"/>
              </a:rPr>
              <a:t>In master mode, NSS can be used either as output or input.</a:t>
            </a:r>
          </a:p>
          <a:p>
            <a:pPr lvl="1">
              <a:buSzPct val="100000"/>
            </a:pPr>
            <a:r>
              <a:rPr lang="en-IN" sz="2933" dirty="0">
                <a:latin typeface="Gill Sans" panose="020B0604020202020204" charset="0"/>
                <a:cs typeface="Gill Sans" panose="020B0604020202020204" charset="0"/>
              </a:rPr>
              <a:t>as an input it can prevent multi-master bus collision</a:t>
            </a:r>
          </a:p>
          <a:p>
            <a:pPr lvl="1">
              <a:buSzPct val="100000"/>
            </a:pPr>
            <a:r>
              <a:rPr lang="en-IN" sz="2933" dirty="0">
                <a:latin typeface="Gill Sans" panose="020B0604020202020204" charset="0"/>
                <a:cs typeface="Gill Sans" panose="020B0604020202020204" charset="0"/>
              </a:rPr>
              <a:t>as an output it can drive a slave select signal of a single slave.</a:t>
            </a:r>
          </a:p>
        </p:txBody>
      </p:sp>
    </p:spTree>
    <p:extLst>
      <p:ext uri="{BB962C8B-B14F-4D97-AF65-F5344CB8AC3E}">
        <p14:creationId xmlns:p14="http://schemas.microsoft.com/office/powerpoint/2010/main" val="3878865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D16A-E81B-4EF5-BF23-8E1AF7BB57EB}"/>
              </a:ext>
            </a:extLst>
          </p:cNvPr>
          <p:cNvSpPr>
            <a:spLocks noGrp="1"/>
          </p:cNvSpPr>
          <p:nvPr>
            <p:ph type="title"/>
          </p:nvPr>
        </p:nvSpPr>
        <p:spPr>
          <a:xfrm>
            <a:off x="838200" y="180820"/>
            <a:ext cx="10515600" cy="1325600"/>
          </a:xfrm>
        </p:spPr>
        <p:txBody>
          <a:bodyPr/>
          <a:lstStyle/>
          <a:p>
            <a:pPr algn="ctr"/>
            <a:r>
              <a:rPr lang="en-IN" sz="4267" b="1" dirty="0">
                <a:latin typeface="Helvetica Neue" panose="020B0604020202020204" charset="0"/>
                <a:cs typeface="Helvetica Neue" panose="020B0604020202020204" charset="0"/>
              </a:rPr>
              <a:t>Slave Select (NSS) pin Management</a:t>
            </a:r>
            <a:endParaRPr lang="en-US" sz="4267" b="1"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B118E03B-FD1A-40C5-939E-3B1020ED9B0F}"/>
              </a:ext>
            </a:extLst>
          </p:cNvPr>
          <p:cNvSpPr>
            <a:spLocks noGrp="1"/>
          </p:cNvSpPr>
          <p:nvPr>
            <p:ph type="body" idx="1"/>
          </p:nvPr>
        </p:nvSpPr>
        <p:spPr>
          <a:xfrm>
            <a:off x="838200" y="1176659"/>
            <a:ext cx="10515600" cy="5454503"/>
          </a:xfrm>
        </p:spPr>
        <p:txBody>
          <a:bodyPr/>
          <a:lstStyle/>
          <a:p>
            <a:pPr marL="186262" indent="0">
              <a:buSzPct val="100000"/>
              <a:buNone/>
            </a:pPr>
            <a:endParaRPr lang="en-IN" sz="3200" b="1" u="sng" dirty="0">
              <a:latin typeface="Gill Sans" panose="020B0604020202020204" charset="0"/>
              <a:cs typeface="Gill Sans" panose="020B0604020202020204" charset="0"/>
            </a:endParaRPr>
          </a:p>
          <a:p>
            <a:pPr marL="186262" indent="0">
              <a:buSzPct val="100000"/>
              <a:buNone/>
            </a:pPr>
            <a:r>
              <a:rPr lang="en-IN" sz="3200" b="1" u="sng" dirty="0">
                <a:latin typeface="Gill Sans" panose="020B0604020202020204" charset="0"/>
                <a:cs typeface="Gill Sans" panose="020B0604020202020204" charset="0"/>
              </a:rPr>
              <a:t>Two types:</a:t>
            </a:r>
          </a:p>
          <a:p>
            <a:pPr marL="186262" indent="0">
              <a:buSzPct val="100000"/>
              <a:buNone/>
            </a:pPr>
            <a:r>
              <a:rPr lang="en-IN" sz="3200" dirty="0">
                <a:latin typeface="Gill Sans" panose="020B0604020202020204" charset="0"/>
                <a:cs typeface="Gill Sans" panose="020B0604020202020204" charset="0"/>
              </a:rPr>
              <a:t>Hardware Slave Management</a:t>
            </a:r>
          </a:p>
          <a:p>
            <a:pPr marL="186262" indent="0">
              <a:buSzPct val="100000"/>
              <a:buNone/>
            </a:pPr>
            <a:r>
              <a:rPr lang="en-IN" sz="3200" dirty="0">
                <a:latin typeface="Gill Sans" panose="020B0604020202020204" charset="0"/>
                <a:cs typeface="Gill Sans" panose="020B0604020202020204" charset="0"/>
              </a:rPr>
              <a:t>Software Slave Management</a:t>
            </a:r>
          </a:p>
          <a:p>
            <a:pPr marL="186262" indent="0">
              <a:buSzPct val="100000"/>
              <a:buNone/>
            </a:pPr>
            <a:endParaRPr lang="en-IN" sz="133" dirty="0">
              <a:latin typeface="Gill Sans" panose="020B0604020202020204" charset="0"/>
              <a:cs typeface="Gill Sans" panose="020B0604020202020204" charset="0"/>
            </a:endParaRPr>
          </a:p>
          <a:p>
            <a:pPr marL="186262" indent="0">
              <a:buNone/>
            </a:pPr>
            <a:endParaRPr lang="en-US" sz="2667"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833781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D16A-E81B-4EF5-BF23-8E1AF7BB57EB}"/>
              </a:ext>
            </a:extLst>
          </p:cNvPr>
          <p:cNvSpPr>
            <a:spLocks noGrp="1"/>
          </p:cNvSpPr>
          <p:nvPr>
            <p:ph type="title"/>
          </p:nvPr>
        </p:nvSpPr>
        <p:spPr>
          <a:xfrm>
            <a:off x="838200" y="180820"/>
            <a:ext cx="10515600" cy="1325600"/>
          </a:xfrm>
        </p:spPr>
        <p:txBody>
          <a:bodyPr/>
          <a:lstStyle/>
          <a:p>
            <a:pPr algn="ctr"/>
            <a:r>
              <a:rPr lang="en-IN" sz="4267" b="1" dirty="0">
                <a:latin typeface="Helvetica Neue" panose="020B0604020202020204" charset="0"/>
                <a:cs typeface="Helvetica Neue" panose="020B0604020202020204" charset="0"/>
              </a:rPr>
              <a:t>Slave Select (NSS) pin Management</a:t>
            </a:r>
            <a:endParaRPr lang="en-US" sz="4267" b="1"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B118E03B-FD1A-40C5-939E-3B1020ED9B0F}"/>
              </a:ext>
            </a:extLst>
          </p:cNvPr>
          <p:cNvSpPr>
            <a:spLocks noGrp="1"/>
          </p:cNvSpPr>
          <p:nvPr>
            <p:ph type="body" idx="1"/>
          </p:nvPr>
        </p:nvSpPr>
        <p:spPr>
          <a:xfrm>
            <a:off x="-12416" y="1176659"/>
            <a:ext cx="7611152" cy="5454503"/>
          </a:xfrm>
        </p:spPr>
        <p:txBody>
          <a:bodyPr/>
          <a:lstStyle/>
          <a:p>
            <a:pPr marL="186262" indent="0">
              <a:buNone/>
            </a:pPr>
            <a:r>
              <a:rPr lang="en-IN" sz="3200" dirty="0">
                <a:latin typeface="Gill Sans" panose="020B0604020202020204" charset="0"/>
                <a:cs typeface="Gill Sans" panose="020B0604020202020204" charset="0"/>
              </a:rPr>
              <a:t>Hardware or software slave select management can be set using the SSM bit in the </a:t>
            </a:r>
            <a:r>
              <a:rPr lang="en-US" sz="3200" dirty="0">
                <a:latin typeface="Gill Sans" panose="020B0604020202020204" charset="0"/>
                <a:cs typeface="Gill Sans" panose="020B0604020202020204" charset="0"/>
              </a:rPr>
              <a:t>SPIx</a:t>
            </a:r>
            <a:r>
              <a:rPr lang="en-US" sz="3200" dirty="0">
                <a:latin typeface="+mj-lt"/>
                <a:cs typeface="Gill Sans" panose="020B0604020202020204" charset="0"/>
              </a:rPr>
              <a:t>_</a:t>
            </a:r>
            <a:r>
              <a:rPr lang="en-US" sz="3200" dirty="0">
                <a:latin typeface="Gill Sans" panose="020B0604020202020204" charset="0"/>
                <a:cs typeface="Gill Sans" panose="020B0604020202020204" charset="0"/>
              </a:rPr>
              <a:t>CR1 register:</a:t>
            </a:r>
          </a:p>
          <a:p>
            <a:pPr marL="186262" indent="0">
              <a:buSzPct val="100000"/>
              <a:buNone/>
            </a:pPr>
            <a:r>
              <a:rPr lang="en-US" sz="3200" b="1" dirty="0">
                <a:latin typeface="Gill Sans" panose="020B0604020202020204" charset="0"/>
                <a:cs typeface="Gill Sans" panose="020B0604020202020204" charset="0"/>
              </a:rPr>
              <a:t>Software NSS management (SSM = 1)</a:t>
            </a:r>
          </a:p>
          <a:p>
            <a:pPr marL="186262" indent="0">
              <a:buNone/>
            </a:pPr>
            <a:r>
              <a:rPr lang="en-IN" sz="3200" dirty="0">
                <a:latin typeface="Gill Sans" panose="020B0604020202020204" charset="0"/>
                <a:cs typeface="Gill Sans" panose="020B0604020202020204" charset="0"/>
              </a:rPr>
              <a:t>	In this configuration, slave select information is driven internally by the SSI bit value in register SPIx</a:t>
            </a:r>
            <a:r>
              <a:rPr lang="en-IN" sz="3200" dirty="0">
                <a:latin typeface="+mj-lt"/>
                <a:cs typeface="Gill Sans" panose="020B0604020202020204" charset="0"/>
              </a:rPr>
              <a:t>_</a:t>
            </a:r>
            <a:r>
              <a:rPr lang="en-IN" sz="3200" dirty="0">
                <a:latin typeface="Gill Sans" panose="020B0604020202020204" charset="0"/>
                <a:cs typeface="Gill Sans" panose="020B0604020202020204" charset="0"/>
              </a:rPr>
              <a:t>CR1. The external NSS pin is free for other application uses.</a:t>
            </a:r>
          </a:p>
          <a:p>
            <a:pPr marL="186262" indent="0">
              <a:buSzPct val="100000"/>
              <a:buNone/>
            </a:pPr>
            <a:endParaRPr lang="en-IN" sz="3200" dirty="0">
              <a:latin typeface="Gill Sans" panose="020B0604020202020204" charset="0"/>
              <a:cs typeface="Gill Sans" panose="020B0604020202020204" charset="0"/>
            </a:endParaRPr>
          </a:p>
          <a:p>
            <a:pPr marL="186262" indent="0">
              <a:buNone/>
            </a:pPr>
            <a:endParaRPr lang="en-US" sz="3200" dirty="0">
              <a:latin typeface="Gill Sans" panose="020B0604020202020204" charset="0"/>
              <a:cs typeface="Gill Sans" panose="020B0604020202020204" charset="0"/>
            </a:endParaRPr>
          </a:p>
        </p:txBody>
      </p:sp>
      <p:pic>
        <p:nvPicPr>
          <p:cNvPr id="6" name="Picture 5">
            <a:extLst>
              <a:ext uri="{FF2B5EF4-FFF2-40B4-BE49-F238E27FC236}">
                <a16:creationId xmlns:a16="http://schemas.microsoft.com/office/drawing/2014/main" id="{54A147CB-E4F6-44EA-9230-4109B70435A7}"/>
              </a:ext>
            </a:extLst>
          </p:cNvPr>
          <p:cNvPicPr>
            <a:picLocks noChangeAspect="1"/>
          </p:cNvPicPr>
          <p:nvPr/>
        </p:nvPicPr>
        <p:blipFill>
          <a:blip r:embed="rId3"/>
          <a:stretch>
            <a:fillRect/>
          </a:stretch>
        </p:blipFill>
        <p:spPr>
          <a:xfrm>
            <a:off x="7288696" y="1806023"/>
            <a:ext cx="4903304" cy="3110534"/>
          </a:xfrm>
          <a:prstGeom prst="rect">
            <a:avLst/>
          </a:prstGeom>
        </p:spPr>
      </p:pic>
    </p:spTree>
    <p:extLst>
      <p:ext uri="{BB962C8B-B14F-4D97-AF65-F5344CB8AC3E}">
        <p14:creationId xmlns:p14="http://schemas.microsoft.com/office/powerpoint/2010/main" val="4124753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D16A-E81B-4EF5-BF23-8E1AF7BB57EB}"/>
              </a:ext>
            </a:extLst>
          </p:cNvPr>
          <p:cNvSpPr>
            <a:spLocks noGrp="1"/>
          </p:cNvSpPr>
          <p:nvPr>
            <p:ph type="title"/>
          </p:nvPr>
        </p:nvSpPr>
        <p:spPr>
          <a:xfrm>
            <a:off x="838200" y="180820"/>
            <a:ext cx="10515600" cy="1325600"/>
          </a:xfrm>
        </p:spPr>
        <p:txBody>
          <a:bodyPr/>
          <a:lstStyle/>
          <a:p>
            <a:pPr algn="ctr"/>
            <a:r>
              <a:rPr lang="en-IN" sz="4267" b="1" dirty="0">
                <a:latin typeface="Helvetica Neue" panose="020B0604020202020204" charset="0"/>
                <a:cs typeface="Helvetica Neue" panose="020B0604020202020204" charset="0"/>
              </a:rPr>
              <a:t>Slave Select (NSS) pin Management</a:t>
            </a:r>
            <a:endParaRPr lang="en-US" sz="4267" b="1"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B118E03B-FD1A-40C5-939E-3B1020ED9B0F}"/>
              </a:ext>
            </a:extLst>
          </p:cNvPr>
          <p:cNvSpPr>
            <a:spLocks noGrp="1"/>
          </p:cNvSpPr>
          <p:nvPr>
            <p:ph type="body" idx="1"/>
          </p:nvPr>
        </p:nvSpPr>
        <p:spPr>
          <a:xfrm>
            <a:off x="439478" y="1417674"/>
            <a:ext cx="7315196" cy="5454503"/>
          </a:xfrm>
        </p:spPr>
        <p:txBody>
          <a:bodyPr/>
          <a:lstStyle/>
          <a:p>
            <a:pPr marL="186262" indent="0">
              <a:buNone/>
            </a:pPr>
            <a:r>
              <a:rPr lang="en-IN" sz="3200" dirty="0">
                <a:latin typeface="Gill Sans" panose="020B0604020202020204" charset="0"/>
                <a:cs typeface="Gill Sans" panose="020B0604020202020204" charset="0"/>
              </a:rPr>
              <a:t>Hardware or software slave select management can be set using the SSM bit in the </a:t>
            </a:r>
            <a:r>
              <a:rPr lang="en-US" sz="3200" dirty="0">
                <a:latin typeface="Gill Sans" panose="020B0604020202020204" charset="0"/>
                <a:cs typeface="Gill Sans" panose="020B0604020202020204" charset="0"/>
              </a:rPr>
              <a:t>SPIx</a:t>
            </a:r>
            <a:r>
              <a:rPr lang="en-US" sz="3200" dirty="0">
                <a:latin typeface="+mj-lt"/>
                <a:cs typeface="Gill Sans" panose="020B0604020202020204" charset="0"/>
              </a:rPr>
              <a:t>_</a:t>
            </a:r>
            <a:r>
              <a:rPr lang="en-US" sz="3200" dirty="0">
                <a:latin typeface="Gill Sans" panose="020B0604020202020204" charset="0"/>
                <a:cs typeface="Gill Sans" panose="020B0604020202020204" charset="0"/>
              </a:rPr>
              <a:t>CR1 register:</a:t>
            </a:r>
          </a:p>
          <a:p>
            <a:pPr marL="186262" indent="0">
              <a:buNone/>
            </a:pPr>
            <a:r>
              <a:rPr lang="en-IN" sz="2667" b="1" dirty="0">
                <a:latin typeface="Gill Sans" panose="020B0604020202020204" charset="0"/>
                <a:cs typeface="Gill Sans" panose="020B0604020202020204" charset="0"/>
              </a:rPr>
              <a:t>Hardware NSS management (SSM = 0): </a:t>
            </a:r>
          </a:p>
          <a:p>
            <a:pPr marL="186262" indent="0">
              <a:buNone/>
            </a:pPr>
            <a:r>
              <a:rPr lang="en-IN" sz="2667" dirty="0">
                <a:latin typeface="Gill Sans" panose="020B0604020202020204" charset="0"/>
                <a:cs typeface="Gill Sans" panose="020B0604020202020204" charset="0"/>
              </a:rPr>
              <a:t>In this case, there are two possible configurations. The configuration used depends on the NSS output configuration </a:t>
            </a:r>
            <a:r>
              <a:rPr lang="de-DE" sz="2667" dirty="0">
                <a:latin typeface="Gill Sans" panose="020B0604020202020204" charset="0"/>
                <a:cs typeface="Gill Sans" panose="020B0604020202020204" charset="0"/>
              </a:rPr>
              <a:t>(SSOE bit in register SPIx</a:t>
            </a:r>
            <a:r>
              <a:rPr lang="de-DE" sz="2667" dirty="0">
                <a:latin typeface="+mj-lt"/>
                <a:cs typeface="Gill Sans" panose="020B0604020202020204" charset="0"/>
              </a:rPr>
              <a:t>_</a:t>
            </a:r>
            <a:r>
              <a:rPr lang="de-DE" sz="2667" dirty="0">
                <a:latin typeface="Gill Sans" panose="020B0604020202020204" charset="0"/>
                <a:cs typeface="Gill Sans" panose="020B0604020202020204" charset="0"/>
              </a:rPr>
              <a:t>CR1).</a:t>
            </a:r>
            <a:endParaRPr lang="en-IN" sz="2667" dirty="0">
              <a:latin typeface="Gill Sans" panose="020B0604020202020204" charset="0"/>
              <a:cs typeface="Gill Sans" panose="020B0604020202020204" charset="0"/>
            </a:endParaRPr>
          </a:p>
          <a:p>
            <a:pPr marL="186262" indent="0">
              <a:buNone/>
            </a:pPr>
            <a:r>
              <a:rPr lang="en-IN" sz="2667" b="1" dirty="0">
                <a:latin typeface="Gill Sans" panose="020B0604020202020204" charset="0"/>
                <a:cs typeface="Gill Sans" panose="020B0604020202020204" charset="0"/>
              </a:rPr>
              <a:t>NSS output enable (SSM=0,SSOE = 1)</a:t>
            </a:r>
            <a:endParaRPr lang="en-IN" sz="2667" dirty="0">
              <a:latin typeface="Gill Sans" panose="020B0604020202020204" charset="0"/>
              <a:cs typeface="Gill Sans" panose="020B0604020202020204" charset="0"/>
            </a:endParaRPr>
          </a:p>
          <a:p>
            <a:pPr marL="186262" indent="0">
              <a:buNone/>
            </a:pPr>
            <a:r>
              <a:rPr lang="en-IN" sz="2667" b="1" dirty="0">
                <a:latin typeface="Gill Sans" panose="020B0604020202020204" charset="0"/>
                <a:cs typeface="Gill Sans" panose="020B0604020202020204" charset="0"/>
              </a:rPr>
              <a:t>NSS output disable (SSM=0, SSOE = 0)</a:t>
            </a:r>
            <a:endParaRPr lang="en-US" sz="2667" dirty="0">
              <a:latin typeface="Gill Sans" panose="020B0604020202020204" charset="0"/>
              <a:cs typeface="Gill Sans" panose="020B0604020202020204" charset="0"/>
            </a:endParaRPr>
          </a:p>
        </p:txBody>
      </p:sp>
      <p:pic>
        <p:nvPicPr>
          <p:cNvPr id="5" name="Picture 4">
            <a:extLst>
              <a:ext uri="{FF2B5EF4-FFF2-40B4-BE49-F238E27FC236}">
                <a16:creationId xmlns:a16="http://schemas.microsoft.com/office/drawing/2014/main" id="{C5951E8A-ED85-4735-BA6F-0DB7EF59B656}"/>
              </a:ext>
            </a:extLst>
          </p:cNvPr>
          <p:cNvPicPr>
            <a:picLocks noChangeAspect="1"/>
          </p:cNvPicPr>
          <p:nvPr/>
        </p:nvPicPr>
        <p:blipFill>
          <a:blip r:embed="rId3"/>
          <a:stretch>
            <a:fillRect/>
          </a:stretch>
        </p:blipFill>
        <p:spPr>
          <a:xfrm>
            <a:off x="6983896" y="2181225"/>
            <a:ext cx="5152609" cy="3053384"/>
          </a:xfrm>
          <a:prstGeom prst="rect">
            <a:avLst/>
          </a:prstGeom>
        </p:spPr>
      </p:pic>
    </p:spTree>
    <p:extLst>
      <p:ext uri="{BB962C8B-B14F-4D97-AF65-F5344CB8AC3E}">
        <p14:creationId xmlns:p14="http://schemas.microsoft.com/office/powerpoint/2010/main" val="2484697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gd825073dbc_0_253"/>
          <p:cNvSpPr txBox="1">
            <a:spLocks noGrp="1"/>
          </p:cNvSpPr>
          <p:nvPr>
            <p:ph type="title"/>
          </p:nvPr>
        </p:nvSpPr>
        <p:spPr>
          <a:xfrm>
            <a:off x="865896" y="562335"/>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sp>
        <p:nvSpPr>
          <p:cNvPr id="599" name="Google Shape;599;gd825073dbc_0_253"/>
          <p:cNvSpPr/>
          <p:nvPr/>
        </p:nvSpPr>
        <p:spPr>
          <a:xfrm>
            <a:off x="2474928" y="2092955"/>
            <a:ext cx="7540000" cy="882000"/>
          </a:xfrm>
          <a:prstGeom prst="roundRect">
            <a:avLst>
              <a:gd name="adj" fmla="val 16667"/>
            </a:avLst>
          </a:prstGeom>
          <a:solidFill>
            <a:schemeClr val="accent2"/>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000" b="1">
                <a:latin typeface="Gill Sans" panose="020B0604020202020204" charset="0"/>
                <a:ea typeface="Gill Sans"/>
                <a:cs typeface="Gill Sans" panose="020B0604020202020204" charset="0"/>
                <a:sym typeface="Gill Sans"/>
              </a:rPr>
              <a:t>SPI Communication Format</a:t>
            </a:r>
            <a:endParaRPr sz="2000" b="1">
              <a:latin typeface="Gill Sans" panose="020B0604020202020204" charset="0"/>
              <a:ea typeface="Gill Sans"/>
              <a:cs typeface="Gill Sans" panose="020B0604020202020204" charset="0"/>
              <a:sym typeface="Gill Sans"/>
            </a:endParaRPr>
          </a:p>
        </p:txBody>
      </p:sp>
      <p:sp>
        <p:nvSpPr>
          <p:cNvPr id="600" name="Google Shape;600;gd825073dbc_0_253"/>
          <p:cNvSpPr/>
          <p:nvPr/>
        </p:nvSpPr>
        <p:spPr>
          <a:xfrm>
            <a:off x="796033" y="4718865"/>
            <a:ext cx="2968000" cy="781200"/>
          </a:xfrm>
          <a:prstGeom prst="roundRect">
            <a:avLst>
              <a:gd name="adj" fmla="val 16667"/>
            </a:avLst>
          </a:prstGeom>
          <a:solidFill>
            <a:srgbClr val="FF9933"/>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000" b="1">
                <a:latin typeface="Gill Sans" panose="020B0604020202020204" charset="0"/>
                <a:ea typeface="Gill Sans"/>
                <a:cs typeface="Gill Sans" panose="020B0604020202020204" charset="0"/>
                <a:sym typeface="Gill Sans"/>
              </a:rPr>
              <a:t>SCLK PHASE (CPHA)</a:t>
            </a:r>
            <a:endParaRPr sz="2000" b="1">
              <a:latin typeface="Gill Sans" panose="020B0604020202020204" charset="0"/>
              <a:ea typeface="Gill Sans"/>
              <a:cs typeface="Gill Sans" panose="020B0604020202020204" charset="0"/>
              <a:sym typeface="Gill Sans"/>
            </a:endParaRPr>
          </a:p>
        </p:txBody>
      </p:sp>
      <p:sp>
        <p:nvSpPr>
          <p:cNvPr id="601" name="Google Shape;601;gd825073dbc_0_253"/>
          <p:cNvSpPr/>
          <p:nvPr/>
        </p:nvSpPr>
        <p:spPr>
          <a:xfrm>
            <a:off x="4785915" y="4741229"/>
            <a:ext cx="2968000" cy="781200"/>
          </a:xfrm>
          <a:prstGeom prst="roundRect">
            <a:avLst>
              <a:gd name="adj" fmla="val 16667"/>
            </a:avLst>
          </a:prstGeom>
          <a:solidFill>
            <a:srgbClr val="FF9933"/>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000" b="1">
                <a:latin typeface="Gill Sans" panose="020B0604020202020204" charset="0"/>
                <a:ea typeface="Gill Sans"/>
                <a:cs typeface="Gill Sans" panose="020B0604020202020204" charset="0"/>
                <a:sym typeface="Gill Sans"/>
              </a:rPr>
              <a:t>SCLK POLARITY (CPOL)</a:t>
            </a:r>
            <a:endParaRPr sz="2000" b="1">
              <a:latin typeface="Gill Sans" panose="020B0604020202020204" charset="0"/>
              <a:ea typeface="Gill Sans"/>
              <a:cs typeface="Gill Sans" panose="020B0604020202020204" charset="0"/>
              <a:sym typeface="Gill Sans"/>
            </a:endParaRPr>
          </a:p>
        </p:txBody>
      </p:sp>
      <p:sp>
        <p:nvSpPr>
          <p:cNvPr id="602" name="Google Shape;602;gd825073dbc_0_253"/>
          <p:cNvSpPr/>
          <p:nvPr/>
        </p:nvSpPr>
        <p:spPr>
          <a:xfrm>
            <a:off x="8356067" y="4763592"/>
            <a:ext cx="2968000" cy="781200"/>
          </a:xfrm>
          <a:prstGeom prst="roundRect">
            <a:avLst>
              <a:gd name="adj" fmla="val 16667"/>
            </a:avLst>
          </a:prstGeom>
          <a:solidFill>
            <a:srgbClr val="FF9933"/>
          </a:solidFill>
          <a:ln w="25400" cap="flat" cmpd="sng">
            <a:solidFill>
              <a:srgbClr val="31538F"/>
            </a:solidFill>
            <a:prstDash val="solid"/>
            <a:round/>
            <a:headEnd type="none" w="sm" len="sm"/>
            <a:tailEnd type="none" w="sm" len="sm"/>
          </a:ln>
        </p:spPr>
        <p:txBody>
          <a:bodyPr spcFirstLastPara="1" wrap="square" lIns="121900" tIns="60933" rIns="121900" bIns="60933" anchor="ctr" anchorCtr="0">
            <a:noAutofit/>
          </a:bodyPr>
          <a:lstStyle/>
          <a:p>
            <a:pPr algn="ctr"/>
            <a:r>
              <a:rPr lang="en-IN" sz="2000" b="1">
                <a:latin typeface="Gill Sans" panose="020B0604020202020204" charset="0"/>
                <a:ea typeface="Gill Sans"/>
                <a:cs typeface="Gill Sans" panose="020B0604020202020204" charset="0"/>
                <a:sym typeface="Gill Sans"/>
              </a:rPr>
              <a:t>Data frame format (DFF)</a:t>
            </a:r>
            <a:endParaRPr sz="2000" b="1">
              <a:latin typeface="Gill Sans" panose="020B0604020202020204" charset="0"/>
              <a:ea typeface="Gill Sans"/>
              <a:cs typeface="Gill Sans" panose="020B0604020202020204" charset="0"/>
              <a:sym typeface="Gill Sans"/>
            </a:endParaRPr>
          </a:p>
        </p:txBody>
      </p:sp>
      <p:cxnSp>
        <p:nvCxnSpPr>
          <p:cNvPr id="603" name="Google Shape;603;gd825073dbc_0_253"/>
          <p:cNvCxnSpPr/>
          <p:nvPr/>
        </p:nvCxnSpPr>
        <p:spPr>
          <a:xfrm>
            <a:off x="2220089" y="4087411"/>
            <a:ext cx="7794800" cy="0"/>
          </a:xfrm>
          <a:prstGeom prst="straightConnector1">
            <a:avLst/>
          </a:prstGeom>
          <a:noFill/>
          <a:ln w="28575" cap="flat" cmpd="sng">
            <a:solidFill>
              <a:srgbClr val="FFFF00"/>
            </a:solidFill>
            <a:prstDash val="solid"/>
            <a:round/>
            <a:headEnd type="none" w="sm" len="sm"/>
            <a:tailEnd type="none" w="sm" len="sm"/>
          </a:ln>
        </p:spPr>
      </p:cxnSp>
      <p:cxnSp>
        <p:nvCxnSpPr>
          <p:cNvPr id="604" name="Google Shape;604;gd825073dbc_0_253"/>
          <p:cNvCxnSpPr>
            <a:cxnSpLocks/>
          </p:cNvCxnSpPr>
          <p:nvPr/>
        </p:nvCxnSpPr>
        <p:spPr>
          <a:xfrm>
            <a:off x="6166617" y="2957604"/>
            <a:ext cx="14000" cy="1224000"/>
          </a:xfrm>
          <a:prstGeom prst="straightConnector1">
            <a:avLst/>
          </a:prstGeom>
          <a:noFill/>
          <a:ln w="38100" cap="flat" cmpd="sng">
            <a:solidFill>
              <a:srgbClr val="FFFF00"/>
            </a:solidFill>
            <a:prstDash val="solid"/>
            <a:round/>
            <a:headEnd type="none" w="sm" len="sm"/>
            <a:tailEnd type="triangle" w="med" len="med"/>
          </a:ln>
          <a:effectLst>
            <a:outerShdw blurRad="40000" dist="20000" dir="5400000" rotWithShape="0">
              <a:srgbClr val="000000">
                <a:alpha val="37650"/>
              </a:srgbClr>
            </a:outerShdw>
          </a:effectLst>
        </p:spPr>
      </p:cxnSp>
      <p:cxnSp>
        <p:nvCxnSpPr>
          <p:cNvPr id="605" name="Google Shape;605;gd825073dbc_0_253"/>
          <p:cNvCxnSpPr/>
          <p:nvPr/>
        </p:nvCxnSpPr>
        <p:spPr>
          <a:xfrm>
            <a:off x="2240076" y="4087411"/>
            <a:ext cx="12400" cy="677200"/>
          </a:xfrm>
          <a:prstGeom prst="straightConnector1">
            <a:avLst/>
          </a:prstGeom>
          <a:noFill/>
          <a:ln w="38100" cap="flat" cmpd="sng">
            <a:solidFill>
              <a:srgbClr val="FFFF00"/>
            </a:solidFill>
            <a:prstDash val="solid"/>
            <a:round/>
            <a:headEnd type="none" w="sm" len="sm"/>
            <a:tailEnd type="triangle" w="med" len="med"/>
          </a:ln>
          <a:effectLst>
            <a:outerShdw blurRad="40000" dist="20000" dir="5400000" rotWithShape="0">
              <a:srgbClr val="000000">
                <a:alpha val="37650"/>
              </a:srgbClr>
            </a:outerShdw>
          </a:effectLst>
        </p:spPr>
      </p:cxnSp>
      <p:cxnSp>
        <p:nvCxnSpPr>
          <p:cNvPr id="606" name="Google Shape;606;gd825073dbc_0_253"/>
          <p:cNvCxnSpPr/>
          <p:nvPr/>
        </p:nvCxnSpPr>
        <p:spPr>
          <a:xfrm>
            <a:off x="6184989" y="4090832"/>
            <a:ext cx="12400" cy="677200"/>
          </a:xfrm>
          <a:prstGeom prst="straightConnector1">
            <a:avLst/>
          </a:prstGeom>
          <a:noFill/>
          <a:ln w="38100" cap="flat" cmpd="sng">
            <a:solidFill>
              <a:srgbClr val="FFFF00"/>
            </a:solidFill>
            <a:prstDash val="solid"/>
            <a:round/>
            <a:headEnd type="none" w="sm" len="sm"/>
            <a:tailEnd type="triangle" w="med" len="med"/>
          </a:ln>
          <a:effectLst>
            <a:outerShdw blurRad="40000" dist="20000" dir="5400000" rotWithShape="0">
              <a:srgbClr val="000000">
                <a:alpha val="37650"/>
              </a:srgbClr>
            </a:outerShdw>
          </a:effectLst>
        </p:spPr>
      </p:cxnSp>
      <p:cxnSp>
        <p:nvCxnSpPr>
          <p:cNvPr id="607" name="Google Shape;607;gd825073dbc_0_253"/>
          <p:cNvCxnSpPr/>
          <p:nvPr/>
        </p:nvCxnSpPr>
        <p:spPr>
          <a:xfrm>
            <a:off x="10014928" y="4112684"/>
            <a:ext cx="12400" cy="677200"/>
          </a:xfrm>
          <a:prstGeom prst="straightConnector1">
            <a:avLst/>
          </a:prstGeom>
          <a:noFill/>
          <a:ln w="38100" cap="flat" cmpd="sng">
            <a:solidFill>
              <a:srgbClr val="FFFF00"/>
            </a:solidFill>
            <a:prstDash val="solid"/>
            <a:round/>
            <a:headEnd type="none" w="sm" len="sm"/>
            <a:tailEnd type="triangle" w="med" len="med"/>
          </a:ln>
          <a:effectLst>
            <a:outerShdw blurRad="40000" dist="20000" dir="5400000" rotWithShape="0">
              <a:srgbClr val="000000">
                <a:alpha val="37650"/>
              </a:srgbClr>
            </a:outerShdw>
          </a:effectLst>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gd825073dbc_0_268"/>
          <p:cNvSpPr txBox="1">
            <a:spLocks noGrp="1"/>
          </p:cNvSpPr>
          <p:nvPr>
            <p:ph type="body" idx="1"/>
          </p:nvPr>
        </p:nvSpPr>
        <p:spPr>
          <a:xfrm>
            <a:off x="838200" y="1334881"/>
            <a:ext cx="10515600" cy="4984000"/>
          </a:xfrm>
          <a:prstGeom prst="rect">
            <a:avLst/>
          </a:prstGeom>
        </p:spPr>
        <p:txBody>
          <a:bodyPr spcFirstLastPara="1" vert="horz" wrap="square" lIns="91433" tIns="45700" rIns="91433" bIns="45700" rtlCol="0" anchor="t" anchorCtr="0">
            <a:noAutofit/>
          </a:bodyPr>
          <a:lstStyle/>
          <a:p>
            <a:pPr marL="609585" indent="-507987">
              <a:spcBef>
                <a:spcPts val="800"/>
              </a:spcBef>
              <a:buClr>
                <a:schemeClr val="dk1"/>
              </a:buClr>
              <a:buSzPts val="2400"/>
              <a:buFont typeface="Gill Sans"/>
              <a:buChar char="●"/>
            </a:pPr>
            <a:r>
              <a:rPr lang="en-IN" sz="3200" dirty="0">
                <a:latin typeface="Gill Sans" panose="020B0604020202020204" charset="0"/>
                <a:cs typeface="Gill Sans" panose="020B0604020202020204" charset="0"/>
              </a:rPr>
              <a:t>During SPI communication, data receive and transmit operations are performed simultaneously.</a:t>
            </a:r>
            <a:endParaRPr sz="3200" dirty="0">
              <a:latin typeface="Gill Sans" panose="020B0604020202020204" charset="0"/>
              <a:cs typeface="Gill Sans" panose="020B0604020202020204" charset="0"/>
            </a:endParaRPr>
          </a:p>
          <a:p>
            <a:pPr marL="609585" indent="-507987">
              <a:spcBef>
                <a:spcPts val="800"/>
              </a:spcBef>
              <a:buClr>
                <a:schemeClr val="dk1"/>
              </a:buClr>
              <a:buSzPts val="2400"/>
              <a:buFont typeface="Gill Sans"/>
              <a:buChar char="●"/>
            </a:pPr>
            <a:r>
              <a:rPr lang="en-IN" sz="3200" dirty="0">
                <a:latin typeface="Gill Sans" panose="020B0604020202020204" charset="0"/>
                <a:cs typeface="Gill Sans" panose="020B0604020202020204" charset="0"/>
              </a:rPr>
              <a:t>The serial clock (SCLK) synchronizes the shifting and sampling of the information on the data lines. </a:t>
            </a:r>
            <a:endParaRPr sz="3200" dirty="0">
              <a:latin typeface="Gill Sans" panose="020B0604020202020204" charset="0"/>
              <a:cs typeface="Gill Sans" panose="020B0604020202020204" charset="0"/>
            </a:endParaRPr>
          </a:p>
          <a:p>
            <a:pPr marL="609585" indent="-507987">
              <a:spcBef>
                <a:spcPts val="800"/>
              </a:spcBef>
              <a:buClr>
                <a:schemeClr val="dk1"/>
              </a:buClr>
              <a:buSzPts val="2400"/>
              <a:buFont typeface="Gill Sans"/>
              <a:buChar char="●"/>
            </a:pPr>
            <a:r>
              <a:rPr lang="en-IN" sz="3200" dirty="0">
                <a:latin typeface="Gill Sans" panose="020B0604020202020204" charset="0"/>
                <a:cs typeface="Gill Sans" panose="020B0604020202020204" charset="0"/>
              </a:rPr>
              <a:t>The communication format depends on the clock phase, clock polarity, and the data frame format (8-bit or 16-bit).</a:t>
            </a:r>
            <a:endParaRPr sz="3200" dirty="0">
              <a:latin typeface="Gill Sans" panose="020B0604020202020204" charset="0"/>
              <a:cs typeface="Gill Sans" panose="020B0604020202020204" charset="0"/>
            </a:endParaRPr>
          </a:p>
          <a:p>
            <a:pPr marL="609585" indent="-507987">
              <a:spcBef>
                <a:spcPts val="800"/>
              </a:spcBef>
              <a:buClr>
                <a:schemeClr val="dk1"/>
              </a:buClr>
              <a:buSzPts val="2400"/>
              <a:buFont typeface="Gill Sans"/>
              <a:buChar char="●"/>
            </a:pPr>
            <a:r>
              <a:rPr lang="en-IN" sz="3200" dirty="0">
                <a:latin typeface="Gill Sans" panose="020B0604020202020204" charset="0"/>
                <a:cs typeface="Gill Sans" panose="020B0604020202020204" charset="0"/>
              </a:rPr>
              <a:t>It is important to note that the master and slave needs to follow the same communication format to communicate.  </a:t>
            </a:r>
            <a:endParaRPr sz="3200" dirty="0">
              <a:latin typeface="Gill Sans" panose="020B0604020202020204" charset="0"/>
              <a:cs typeface="Gill Sans" panose="020B0604020202020204" charset="0"/>
            </a:endParaRPr>
          </a:p>
          <a:p>
            <a:pPr marL="0" indent="0">
              <a:spcBef>
                <a:spcPts val="800"/>
              </a:spcBef>
              <a:buNone/>
            </a:pPr>
            <a:endParaRPr dirty="0">
              <a:latin typeface="Gill Sans" panose="020B0604020202020204" charset="0"/>
              <a:cs typeface="Gill Sans" panose="020B0604020202020204" charset="0"/>
            </a:endParaRPr>
          </a:p>
        </p:txBody>
      </p:sp>
      <p:sp>
        <p:nvSpPr>
          <p:cNvPr id="613" name="Google Shape;613;gd825073dbc_0_268"/>
          <p:cNvSpPr txBox="1">
            <a:spLocks noGrp="1"/>
          </p:cNvSpPr>
          <p:nvPr>
            <p:ph type="title"/>
          </p:nvPr>
        </p:nvSpPr>
        <p:spPr>
          <a:xfrm>
            <a:off x="809180" y="355452"/>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gd825073dbc_0_274"/>
          <p:cNvSpPr txBox="1">
            <a:spLocks noGrp="1"/>
          </p:cNvSpPr>
          <p:nvPr>
            <p:ph type="body" idx="1"/>
          </p:nvPr>
        </p:nvSpPr>
        <p:spPr>
          <a:xfrm>
            <a:off x="838200" y="1164764"/>
            <a:ext cx="10515600" cy="2661600"/>
          </a:xfrm>
          <a:prstGeom prst="rect">
            <a:avLst/>
          </a:prstGeom>
        </p:spPr>
        <p:txBody>
          <a:bodyPr spcFirstLastPara="1" vert="horz" wrap="square" lIns="91433" tIns="45700" rIns="91433" bIns="45700" rtlCol="0" anchor="t" anchorCtr="0">
            <a:noAutofit/>
          </a:bodyPr>
          <a:lstStyle/>
          <a:p>
            <a:pPr marL="609585" indent="-507987">
              <a:spcBef>
                <a:spcPts val="0"/>
              </a:spcBef>
              <a:buSzPts val="2400"/>
              <a:buChar char="●"/>
            </a:pPr>
            <a:r>
              <a:rPr lang="en-IN" sz="3200" dirty="0">
                <a:latin typeface="Gill Sans" panose="020B0604020202020204" charset="0"/>
                <a:cs typeface="Gill Sans" panose="020B0604020202020204" charset="0"/>
              </a:rPr>
              <a:t>CPOL (Clock Polarity)</a:t>
            </a:r>
            <a:endParaRPr sz="3200" dirty="0">
              <a:latin typeface="Gill Sans" panose="020B0604020202020204" charset="0"/>
              <a:cs typeface="Gill Sans" panose="020B0604020202020204" charset="0"/>
            </a:endParaRPr>
          </a:p>
          <a:p>
            <a:pPr marL="1219170" lvl="1" indent="-474121">
              <a:spcBef>
                <a:spcPts val="0"/>
              </a:spcBef>
              <a:buClr>
                <a:schemeClr val="dk1"/>
              </a:buClr>
              <a:buSzPts val="2000"/>
              <a:buChar char="○"/>
            </a:pPr>
            <a:r>
              <a:rPr lang="en-IN" sz="2667" dirty="0">
                <a:latin typeface="Gill Sans" panose="020B0604020202020204" charset="0"/>
                <a:cs typeface="Gill Sans" panose="020B0604020202020204" charset="0"/>
              </a:rPr>
              <a:t>When no data is transmitted, it controls the idle state value of the clock.</a:t>
            </a:r>
            <a:endParaRPr sz="2667" dirty="0">
              <a:latin typeface="Gill Sans" panose="020B0604020202020204" charset="0"/>
              <a:cs typeface="Gill Sans" panose="020B0604020202020204" charset="0"/>
            </a:endParaRPr>
          </a:p>
          <a:p>
            <a:pPr marL="1219170" lvl="1" indent="-474121">
              <a:spcBef>
                <a:spcPts val="0"/>
              </a:spcBef>
              <a:buClr>
                <a:schemeClr val="dk1"/>
              </a:buClr>
              <a:buSzPts val="2000"/>
              <a:buChar char="○"/>
            </a:pPr>
            <a:r>
              <a:rPr lang="en-IN" sz="2667" dirty="0">
                <a:latin typeface="Gill Sans" panose="020B0604020202020204" charset="0"/>
                <a:cs typeface="Gill Sans" panose="020B0604020202020204" charset="0"/>
              </a:rPr>
              <a:t>If CPOL bit is set, the SCLK pin has a high-level idle state.</a:t>
            </a:r>
            <a:endParaRPr sz="2667" dirty="0">
              <a:latin typeface="Gill Sans" panose="020B0604020202020204" charset="0"/>
              <a:cs typeface="Gill Sans" panose="020B0604020202020204" charset="0"/>
            </a:endParaRPr>
          </a:p>
          <a:p>
            <a:pPr marL="1219170" lvl="1" indent="-474121">
              <a:spcBef>
                <a:spcPts val="0"/>
              </a:spcBef>
              <a:buClr>
                <a:schemeClr val="dk1"/>
              </a:buClr>
              <a:buSzPts val="2000"/>
              <a:buChar char="○"/>
            </a:pPr>
            <a:r>
              <a:rPr lang="en-IN" sz="2667" dirty="0">
                <a:latin typeface="Gill Sans" panose="020B0604020202020204" charset="0"/>
                <a:cs typeface="Gill Sans" panose="020B0604020202020204" charset="0"/>
              </a:rPr>
              <a:t>If CPOL bit is reset, the SCLK pin has a low-level idle state. </a:t>
            </a:r>
            <a:endParaRPr sz="2667" dirty="0">
              <a:latin typeface="Gill Sans" panose="020B0604020202020204" charset="0"/>
              <a:cs typeface="Gill Sans" panose="020B0604020202020204" charset="0"/>
            </a:endParaRPr>
          </a:p>
        </p:txBody>
      </p:sp>
      <p:sp>
        <p:nvSpPr>
          <p:cNvPr id="619" name="Google Shape;619;gd825073dbc_0_274"/>
          <p:cNvSpPr txBox="1">
            <a:spLocks noGrp="1"/>
          </p:cNvSpPr>
          <p:nvPr>
            <p:ph type="title"/>
          </p:nvPr>
        </p:nvSpPr>
        <p:spPr>
          <a:xfrm>
            <a:off x="809179" y="312921"/>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cxnSp>
        <p:nvCxnSpPr>
          <p:cNvPr id="620" name="Google Shape;620;gd825073dbc_0_274"/>
          <p:cNvCxnSpPr/>
          <p:nvPr/>
        </p:nvCxnSpPr>
        <p:spPr>
          <a:xfrm>
            <a:off x="3431344" y="4451745"/>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21" name="Google Shape;621;gd825073dbc_0_274"/>
          <p:cNvCxnSpPr/>
          <p:nvPr/>
        </p:nvCxnSpPr>
        <p:spPr>
          <a:xfrm flipH="1">
            <a:off x="3853492" y="4451747"/>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22" name="Google Shape;622;gd825073dbc_0_274"/>
          <p:cNvCxnSpPr/>
          <p:nvPr/>
        </p:nvCxnSpPr>
        <p:spPr>
          <a:xfrm>
            <a:off x="4216787" y="4449401"/>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23" name="Google Shape;623;gd825073dbc_0_274"/>
          <p:cNvCxnSpPr/>
          <p:nvPr/>
        </p:nvCxnSpPr>
        <p:spPr>
          <a:xfrm flipH="1">
            <a:off x="4638935" y="4449404"/>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24" name="Google Shape;624;gd825073dbc_0_274"/>
          <p:cNvCxnSpPr/>
          <p:nvPr/>
        </p:nvCxnSpPr>
        <p:spPr>
          <a:xfrm>
            <a:off x="4976447" y="4449399"/>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25" name="Google Shape;625;gd825073dbc_0_274"/>
          <p:cNvCxnSpPr/>
          <p:nvPr/>
        </p:nvCxnSpPr>
        <p:spPr>
          <a:xfrm flipH="1">
            <a:off x="5398595" y="4449400"/>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26" name="Google Shape;626;gd825073dbc_0_274"/>
          <p:cNvCxnSpPr/>
          <p:nvPr/>
        </p:nvCxnSpPr>
        <p:spPr>
          <a:xfrm>
            <a:off x="5761891" y="4447056"/>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27" name="Google Shape;627;gd825073dbc_0_274"/>
          <p:cNvCxnSpPr/>
          <p:nvPr/>
        </p:nvCxnSpPr>
        <p:spPr>
          <a:xfrm flipH="1">
            <a:off x="6184037" y="4447057"/>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28" name="Google Shape;628;gd825073dbc_0_274"/>
          <p:cNvCxnSpPr/>
          <p:nvPr/>
        </p:nvCxnSpPr>
        <p:spPr>
          <a:xfrm>
            <a:off x="6537960" y="4449400"/>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29" name="Google Shape;629;gd825073dbc_0_274"/>
          <p:cNvCxnSpPr/>
          <p:nvPr/>
        </p:nvCxnSpPr>
        <p:spPr>
          <a:xfrm flipH="1">
            <a:off x="6960108" y="4449401"/>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30" name="Google Shape;630;gd825073dbc_0_274"/>
          <p:cNvCxnSpPr/>
          <p:nvPr/>
        </p:nvCxnSpPr>
        <p:spPr>
          <a:xfrm>
            <a:off x="7323403" y="4447057"/>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31" name="Google Shape;631;gd825073dbc_0_274"/>
          <p:cNvCxnSpPr/>
          <p:nvPr/>
        </p:nvCxnSpPr>
        <p:spPr>
          <a:xfrm flipH="1">
            <a:off x="7745551" y="4447059"/>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32" name="Google Shape;632;gd825073dbc_0_274"/>
          <p:cNvCxnSpPr/>
          <p:nvPr/>
        </p:nvCxnSpPr>
        <p:spPr>
          <a:xfrm>
            <a:off x="8083063" y="4447053"/>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33" name="Google Shape;633;gd825073dbc_0_274"/>
          <p:cNvCxnSpPr/>
          <p:nvPr/>
        </p:nvCxnSpPr>
        <p:spPr>
          <a:xfrm flipH="1">
            <a:off x="8505211" y="4447056"/>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34" name="Google Shape;634;gd825073dbc_0_274"/>
          <p:cNvCxnSpPr/>
          <p:nvPr/>
        </p:nvCxnSpPr>
        <p:spPr>
          <a:xfrm>
            <a:off x="8868507" y="4444712"/>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35" name="Google Shape;635;gd825073dbc_0_274"/>
          <p:cNvCxnSpPr/>
          <p:nvPr/>
        </p:nvCxnSpPr>
        <p:spPr>
          <a:xfrm flipH="1">
            <a:off x="9290653" y="4444712"/>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36" name="Google Shape;636;gd825073dbc_0_274"/>
          <p:cNvCxnSpPr/>
          <p:nvPr/>
        </p:nvCxnSpPr>
        <p:spPr>
          <a:xfrm>
            <a:off x="3893235" y="5560747"/>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37" name="Google Shape;637;gd825073dbc_0_274"/>
          <p:cNvCxnSpPr/>
          <p:nvPr/>
        </p:nvCxnSpPr>
        <p:spPr>
          <a:xfrm flipH="1">
            <a:off x="4315381" y="5560748"/>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38" name="Google Shape;638;gd825073dbc_0_274"/>
          <p:cNvCxnSpPr/>
          <p:nvPr/>
        </p:nvCxnSpPr>
        <p:spPr>
          <a:xfrm>
            <a:off x="4678677" y="5558404"/>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39" name="Google Shape;639;gd825073dbc_0_274"/>
          <p:cNvCxnSpPr/>
          <p:nvPr/>
        </p:nvCxnSpPr>
        <p:spPr>
          <a:xfrm flipH="1">
            <a:off x="5100825" y="5558405"/>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40" name="Google Shape;640;gd825073dbc_0_274"/>
          <p:cNvCxnSpPr/>
          <p:nvPr/>
        </p:nvCxnSpPr>
        <p:spPr>
          <a:xfrm>
            <a:off x="5438337" y="5558401"/>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41" name="Google Shape;641;gd825073dbc_0_274"/>
          <p:cNvCxnSpPr/>
          <p:nvPr/>
        </p:nvCxnSpPr>
        <p:spPr>
          <a:xfrm flipH="1">
            <a:off x="5860485" y="5558403"/>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42" name="Google Shape;642;gd825073dbc_0_274"/>
          <p:cNvCxnSpPr/>
          <p:nvPr/>
        </p:nvCxnSpPr>
        <p:spPr>
          <a:xfrm>
            <a:off x="6223780" y="5570125"/>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43" name="Google Shape;643;gd825073dbc_0_274"/>
          <p:cNvCxnSpPr/>
          <p:nvPr/>
        </p:nvCxnSpPr>
        <p:spPr>
          <a:xfrm flipH="1">
            <a:off x="6644753" y="5570125"/>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44" name="Google Shape;644;gd825073dbc_0_274"/>
          <p:cNvCxnSpPr/>
          <p:nvPr/>
        </p:nvCxnSpPr>
        <p:spPr>
          <a:xfrm>
            <a:off x="6999851" y="5558401"/>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45" name="Google Shape;645;gd825073dbc_0_274"/>
          <p:cNvCxnSpPr/>
          <p:nvPr/>
        </p:nvCxnSpPr>
        <p:spPr>
          <a:xfrm flipH="1">
            <a:off x="7419648" y="5555948"/>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46" name="Google Shape;646;gd825073dbc_0_274"/>
          <p:cNvCxnSpPr/>
          <p:nvPr/>
        </p:nvCxnSpPr>
        <p:spPr>
          <a:xfrm>
            <a:off x="7785293" y="5555949"/>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47" name="Google Shape;647;gd825073dbc_0_274"/>
          <p:cNvCxnSpPr/>
          <p:nvPr/>
        </p:nvCxnSpPr>
        <p:spPr>
          <a:xfrm flipH="1">
            <a:off x="8209781" y="5561920"/>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48" name="Google Shape;648;gd825073dbc_0_274"/>
          <p:cNvCxnSpPr/>
          <p:nvPr/>
        </p:nvCxnSpPr>
        <p:spPr>
          <a:xfrm>
            <a:off x="8556671" y="5570124"/>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49" name="Google Shape;649;gd825073dbc_0_274"/>
          <p:cNvCxnSpPr/>
          <p:nvPr/>
        </p:nvCxnSpPr>
        <p:spPr>
          <a:xfrm flipH="1">
            <a:off x="8967101" y="5570125"/>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cxnSp>
        <p:nvCxnSpPr>
          <p:cNvPr id="650" name="Google Shape;650;gd825073dbc_0_274"/>
          <p:cNvCxnSpPr/>
          <p:nvPr/>
        </p:nvCxnSpPr>
        <p:spPr>
          <a:xfrm>
            <a:off x="9330396" y="5567781"/>
            <a:ext cx="717600" cy="576800"/>
          </a:xfrm>
          <a:prstGeom prst="bentConnector3">
            <a:avLst>
              <a:gd name="adj1" fmla="val 50000"/>
            </a:avLst>
          </a:prstGeom>
          <a:noFill/>
          <a:ln w="28575" cap="flat" cmpd="sng">
            <a:solidFill>
              <a:schemeClr val="accent5"/>
            </a:solidFill>
            <a:prstDash val="solid"/>
            <a:round/>
            <a:headEnd type="none" w="sm" len="sm"/>
            <a:tailEnd type="none" w="sm" len="sm"/>
          </a:ln>
        </p:spPr>
      </p:cxnSp>
      <p:cxnSp>
        <p:nvCxnSpPr>
          <p:cNvPr id="651" name="Google Shape;651;gd825073dbc_0_274"/>
          <p:cNvCxnSpPr/>
          <p:nvPr/>
        </p:nvCxnSpPr>
        <p:spPr>
          <a:xfrm flipH="1">
            <a:off x="3534621" y="5567783"/>
            <a:ext cx="689200" cy="576800"/>
          </a:xfrm>
          <a:prstGeom prst="bentConnector3">
            <a:avLst>
              <a:gd name="adj1" fmla="val 50008"/>
            </a:avLst>
          </a:prstGeom>
          <a:noFill/>
          <a:ln w="28575" cap="flat" cmpd="sng">
            <a:solidFill>
              <a:schemeClr val="accent5"/>
            </a:solidFill>
            <a:prstDash val="solid"/>
            <a:round/>
            <a:headEnd type="none" w="sm" len="sm"/>
            <a:tailEnd type="none" w="sm" len="sm"/>
          </a:ln>
        </p:spPr>
      </p:cxnSp>
      <p:sp>
        <p:nvSpPr>
          <p:cNvPr id="652" name="Google Shape;652;gd825073dbc_0_274"/>
          <p:cNvSpPr txBox="1"/>
          <p:nvPr/>
        </p:nvSpPr>
        <p:spPr>
          <a:xfrm>
            <a:off x="1982373" y="4254801"/>
            <a:ext cx="1362400" cy="338500"/>
          </a:xfrm>
          <a:prstGeom prst="rect">
            <a:avLst/>
          </a:prstGeom>
          <a:noFill/>
          <a:ln>
            <a:noFill/>
          </a:ln>
        </p:spPr>
        <p:txBody>
          <a:bodyPr spcFirstLastPara="1" wrap="square" lIns="121900" tIns="60933" rIns="121900" bIns="60933" anchor="t" anchorCtr="0">
            <a:spAutoFit/>
          </a:bodyPr>
          <a:lstStyle/>
          <a:p>
            <a:pPr algn="ctr"/>
            <a:r>
              <a:rPr lang="en-IN" sz="1400" b="1">
                <a:latin typeface="Gill Sans" panose="020B0604020202020204" charset="0"/>
                <a:ea typeface="Gill Sans"/>
                <a:cs typeface="Gill Sans" panose="020B0604020202020204" charset="0"/>
                <a:sym typeface="Gill Sans"/>
              </a:rPr>
              <a:t>CPOL = 1</a:t>
            </a:r>
            <a:endParaRPr sz="1400" b="1">
              <a:latin typeface="Gill Sans" panose="020B0604020202020204" charset="0"/>
              <a:ea typeface="Gill Sans"/>
              <a:cs typeface="Gill Sans" panose="020B0604020202020204" charset="0"/>
              <a:sym typeface="Gill Sans"/>
            </a:endParaRPr>
          </a:p>
        </p:txBody>
      </p:sp>
      <p:sp>
        <p:nvSpPr>
          <p:cNvPr id="653" name="Google Shape;653;gd825073dbc_0_274"/>
          <p:cNvSpPr txBox="1"/>
          <p:nvPr/>
        </p:nvSpPr>
        <p:spPr>
          <a:xfrm>
            <a:off x="2022232" y="5560753"/>
            <a:ext cx="1362400" cy="338500"/>
          </a:xfrm>
          <a:prstGeom prst="rect">
            <a:avLst/>
          </a:prstGeom>
          <a:noFill/>
          <a:ln>
            <a:noFill/>
          </a:ln>
        </p:spPr>
        <p:txBody>
          <a:bodyPr spcFirstLastPara="1" wrap="square" lIns="121900" tIns="60933" rIns="121900" bIns="60933" anchor="t" anchorCtr="0">
            <a:spAutoFit/>
          </a:bodyPr>
          <a:lstStyle/>
          <a:p>
            <a:pPr algn="ctr"/>
            <a:r>
              <a:rPr lang="en-IN" sz="1400" b="1">
                <a:latin typeface="Gill Sans" panose="020B0604020202020204" charset="0"/>
                <a:ea typeface="Gill Sans"/>
                <a:cs typeface="Gill Sans" panose="020B0604020202020204" charset="0"/>
                <a:sym typeface="Gill Sans"/>
              </a:rPr>
              <a:t>CPOL = 0</a:t>
            </a:r>
            <a:endParaRPr sz="1400" b="1">
              <a:latin typeface="Gill Sans" panose="020B0604020202020204" charset="0"/>
              <a:ea typeface="Gill Sans"/>
              <a:cs typeface="Gill Sans" panose="020B0604020202020204" charset="0"/>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d825073dbc_0_348"/>
          <p:cNvSpPr txBox="1">
            <a:spLocks noGrp="1"/>
          </p:cNvSpPr>
          <p:nvPr>
            <p:ph type="body" idx="1"/>
          </p:nvPr>
        </p:nvSpPr>
        <p:spPr>
          <a:xfrm>
            <a:off x="838200" y="1235653"/>
            <a:ext cx="10515600" cy="4984000"/>
          </a:xfrm>
          <a:prstGeom prst="rect">
            <a:avLst/>
          </a:prstGeom>
        </p:spPr>
        <p:txBody>
          <a:bodyPr spcFirstLastPara="1" vert="horz" wrap="square" lIns="91433" tIns="45700" rIns="91433" bIns="45700" rtlCol="0" anchor="t" anchorCtr="0">
            <a:noAutofit/>
          </a:bodyPr>
          <a:lstStyle/>
          <a:p>
            <a:pPr marL="609585" indent="-507987">
              <a:spcBef>
                <a:spcPts val="0"/>
              </a:spcBef>
              <a:buClr>
                <a:schemeClr val="dk1"/>
              </a:buClr>
              <a:buSzPts val="2400"/>
              <a:buChar char="●"/>
            </a:pPr>
            <a:r>
              <a:rPr lang="en-IN" sz="3200" dirty="0">
                <a:latin typeface="Gill Sans" panose="020B0604020202020204" charset="0"/>
                <a:cs typeface="Gill Sans" panose="020B0604020202020204" charset="0"/>
              </a:rPr>
              <a:t>CPHA (Clock Phase)</a:t>
            </a:r>
            <a:endParaRPr sz="3200" dirty="0">
              <a:latin typeface="Gill Sans" panose="020B0604020202020204" charset="0"/>
              <a:cs typeface="Gill Sans" panose="020B0604020202020204" charset="0"/>
            </a:endParaRPr>
          </a:p>
          <a:p>
            <a:pPr marL="1219170" lvl="1" indent="-474121">
              <a:spcBef>
                <a:spcPts val="0"/>
              </a:spcBef>
              <a:buClr>
                <a:schemeClr val="dk1"/>
              </a:buClr>
              <a:buSzPts val="2000"/>
              <a:buChar char="○"/>
            </a:pPr>
            <a:r>
              <a:rPr lang="en-IN" sz="2933" dirty="0">
                <a:latin typeface="Gill Sans" panose="020B0604020202020204" charset="0"/>
                <a:cs typeface="Gill Sans" panose="020B0604020202020204" charset="0"/>
              </a:rPr>
              <a:t>The CPHA bit controls at which clock edge of the SCLK(1</a:t>
            </a:r>
            <a:r>
              <a:rPr lang="en-IN" sz="2933" baseline="30000" dirty="0">
                <a:latin typeface="Gill Sans" panose="020B0604020202020204" charset="0"/>
                <a:cs typeface="Gill Sans" panose="020B0604020202020204" charset="0"/>
              </a:rPr>
              <a:t>st</a:t>
            </a:r>
            <a:r>
              <a:rPr lang="en-IN" sz="2933" dirty="0">
                <a:latin typeface="Gill Sans" panose="020B0604020202020204" charset="0"/>
                <a:cs typeface="Gill Sans" panose="020B0604020202020204" charset="0"/>
              </a:rPr>
              <a:t> or 2</a:t>
            </a:r>
            <a:r>
              <a:rPr lang="en-IN" sz="2933" baseline="30000" dirty="0">
                <a:latin typeface="Gill Sans" panose="020B0604020202020204" charset="0"/>
                <a:cs typeface="Gill Sans" panose="020B0604020202020204" charset="0"/>
              </a:rPr>
              <a:t>nd</a:t>
            </a:r>
            <a:r>
              <a:rPr lang="en-IN" sz="2933" dirty="0">
                <a:latin typeface="Gill Sans" panose="020B0604020202020204" charset="0"/>
                <a:cs typeface="Gill Sans" panose="020B0604020202020204" charset="0"/>
              </a:rPr>
              <a:t>) the data should be sampled by the slave.</a:t>
            </a:r>
            <a:endParaRPr sz="2933" dirty="0">
              <a:latin typeface="Gill Sans" panose="020B0604020202020204" charset="0"/>
              <a:cs typeface="Gill Sans" panose="020B0604020202020204" charset="0"/>
            </a:endParaRPr>
          </a:p>
          <a:p>
            <a:pPr marL="1219170" lvl="1" indent="-474121">
              <a:spcBef>
                <a:spcPts val="0"/>
              </a:spcBef>
              <a:buClr>
                <a:schemeClr val="dk1"/>
              </a:buClr>
              <a:buSzPts val="2000"/>
              <a:buChar char="○"/>
            </a:pPr>
            <a:r>
              <a:rPr lang="en-IN" sz="2933" dirty="0">
                <a:latin typeface="Gill Sans" panose="020B0604020202020204" charset="0"/>
                <a:cs typeface="Gill Sans" panose="020B0604020202020204" charset="0"/>
              </a:rPr>
              <a:t>Combination of CPHA and CPOL bits selects the data capture clock edge.</a:t>
            </a:r>
            <a:endParaRPr sz="2933" dirty="0">
              <a:latin typeface="Gill Sans" panose="020B0604020202020204" charset="0"/>
              <a:cs typeface="Gill Sans" panose="020B0604020202020204" charset="0"/>
            </a:endParaRPr>
          </a:p>
          <a:p>
            <a:pPr marL="0" indent="0">
              <a:spcBef>
                <a:spcPts val="0"/>
              </a:spcBef>
              <a:buNone/>
            </a:pPr>
            <a:endParaRPr sz="3200" dirty="0">
              <a:latin typeface="Gill Sans" panose="020B0604020202020204" charset="0"/>
              <a:cs typeface="Gill Sans" panose="020B0604020202020204" charset="0"/>
            </a:endParaRPr>
          </a:p>
        </p:txBody>
      </p:sp>
      <p:sp>
        <p:nvSpPr>
          <p:cNvPr id="659" name="Google Shape;659;gd825073dbc_0_348"/>
          <p:cNvSpPr txBox="1">
            <a:spLocks noGrp="1"/>
          </p:cNvSpPr>
          <p:nvPr>
            <p:ph type="title"/>
          </p:nvPr>
        </p:nvSpPr>
        <p:spPr>
          <a:xfrm>
            <a:off x="809181" y="242033"/>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dirty="0">
                <a:latin typeface="Helvetica Neue" panose="020B0604020202020204" charset="0"/>
                <a:cs typeface="Helvetica Neue" panose="020B0604020202020204" charset="0"/>
              </a:rPr>
              <a:t>SPI Protocol</a:t>
            </a:r>
            <a:endParaRPr sz="4267" dirty="0">
              <a:latin typeface="Helvetica Neue" panose="020B0604020202020204" charset="0"/>
              <a:cs typeface="Helvetica Neue" panose="020B060402020202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gd825073dbc_0_356"/>
          <p:cNvSpPr txBox="1">
            <a:spLocks noGrp="1"/>
          </p:cNvSpPr>
          <p:nvPr>
            <p:ph type="body" idx="1"/>
          </p:nvPr>
        </p:nvSpPr>
        <p:spPr>
          <a:xfrm>
            <a:off x="838200" y="1292363"/>
            <a:ext cx="10515600" cy="4984000"/>
          </a:xfrm>
          <a:prstGeom prst="rect">
            <a:avLst/>
          </a:prstGeom>
        </p:spPr>
        <p:txBody>
          <a:bodyPr spcFirstLastPara="1" vert="horz" wrap="square" lIns="91433" tIns="45700" rIns="91433" bIns="45700" rtlCol="0" anchor="t" anchorCtr="0">
            <a:noAutofit/>
          </a:bodyPr>
          <a:lstStyle/>
          <a:p>
            <a:pPr marL="609585" indent="-507987">
              <a:spcBef>
                <a:spcPts val="0"/>
              </a:spcBef>
              <a:buClr>
                <a:schemeClr val="dk1"/>
              </a:buClr>
              <a:buSzPts val="2400"/>
              <a:buChar char="●"/>
            </a:pPr>
            <a:r>
              <a:rPr lang="en-IN" sz="3200" dirty="0">
                <a:latin typeface="Gill Sans" panose="020B0604020202020204" charset="0"/>
                <a:cs typeface="Gill Sans" panose="020B0604020202020204" charset="0"/>
              </a:rPr>
              <a:t>CPHA (Clock Phase)</a:t>
            </a:r>
            <a:endParaRPr sz="3200" dirty="0">
              <a:latin typeface="Gill Sans" panose="020B0604020202020204" charset="0"/>
              <a:cs typeface="Gill Sans" panose="020B0604020202020204" charset="0"/>
            </a:endParaRPr>
          </a:p>
          <a:p>
            <a:pPr marL="0" indent="0">
              <a:spcBef>
                <a:spcPts val="0"/>
              </a:spcBef>
              <a:buNone/>
            </a:pPr>
            <a:endParaRPr dirty="0">
              <a:latin typeface="Gill Sans" panose="020B0604020202020204" charset="0"/>
              <a:cs typeface="Gill Sans" panose="020B0604020202020204" charset="0"/>
            </a:endParaRPr>
          </a:p>
        </p:txBody>
      </p:sp>
      <p:sp>
        <p:nvSpPr>
          <p:cNvPr id="665" name="Google Shape;665;gd825073dbc_0_356"/>
          <p:cNvSpPr txBox="1">
            <a:spLocks noGrp="1"/>
          </p:cNvSpPr>
          <p:nvPr>
            <p:ph type="title"/>
          </p:nvPr>
        </p:nvSpPr>
        <p:spPr>
          <a:xfrm>
            <a:off x="809179" y="412161"/>
            <a:ext cx="10515600" cy="795600"/>
          </a:xfrm>
          <a:prstGeom prst="rect">
            <a:avLst/>
          </a:prstGeom>
        </p:spPr>
        <p:txBody>
          <a:bodyPr spcFirstLastPara="1" vert="horz" wrap="square" lIns="91433" tIns="45700" rIns="91433" bIns="45700" rtlCol="0" anchor="ctr" anchorCtr="0">
            <a:noAutofit/>
          </a:bodyPr>
          <a:lstStyle/>
          <a:p>
            <a:pPr algn="ctr">
              <a:spcBef>
                <a:spcPts val="0"/>
              </a:spcBef>
            </a:pPr>
            <a:r>
              <a:rPr lang="en-IN" sz="4267" b="1" dirty="0">
                <a:latin typeface="Helvetica Neue" panose="020B0604020202020204" charset="0"/>
                <a:cs typeface="Helvetica Neue" panose="020B0604020202020204" charset="0"/>
              </a:rPr>
              <a:t>SPI Protocol</a:t>
            </a:r>
            <a:endParaRPr sz="4267" b="1" dirty="0">
              <a:latin typeface="Helvetica Neue" panose="020B0604020202020204" charset="0"/>
              <a:cs typeface="Helvetica Neue" panose="020B0604020202020204" charset="0"/>
            </a:endParaRPr>
          </a:p>
        </p:txBody>
      </p:sp>
      <p:sp>
        <p:nvSpPr>
          <p:cNvPr id="666" name="Google Shape;666;gd825073dbc_0_356"/>
          <p:cNvSpPr txBox="1"/>
          <p:nvPr/>
        </p:nvSpPr>
        <p:spPr>
          <a:xfrm>
            <a:off x="623536" y="1920244"/>
            <a:ext cx="5243697" cy="615499"/>
          </a:xfrm>
          <a:prstGeom prst="rect">
            <a:avLst/>
          </a:prstGeom>
          <a:solidFill>
            <a:srgbClr val="FFFFFF"/>
          </a:solidFill>
          <a:ln>
            <a:noFill/>
          </a:ln>
        </p:spPr>
        <p:txBody>
          <a:bodyPr spcFirstLastPara="1" wrap="square" lIns="121900" tIns="60933" rIns="121900" bIns="60933" anchor="t" anchorCtr="0">
            <a:spAutoFit/>
          </a:bodyPr>
          <a:lstStyle/>
          <a:p>
            <a:r>
              <a:rPr lang="en-IN" sz="1600" b="1" dirty="0">
                <a:latin typeface="Gill Sans" panose="020B0604020202020204" charset="0"/>
                <a:ea typeface="Gill Sans"/>
                <a:cs typeface="Gill Sans" panose="020B0604020202020204" charset="0"/>
                <a:sym typeface="Gill Sans"/>
              </a:rPr>
              <a:t>Data will appear on the lines during 1</a:t>
            </a:r>
            <a:r>
              <a:rPr lang="en-IN" sz="1600" b="1" baseline="30000" dirty="0">
                <a:latin typeface="Gill Sans" panose="020B0604020202020204" charset="0"/>
                <a:ea typeface="Gill Sans"/>
                <a:cs typeface="Gill Sans" panose="020B0604020202020204" charset="0"/>
                <a:sym typeface="Gill Sans"/>
              </a:rPr>
              <a:t>st</a:t>
            </a:r>
            <a:r>
              <a:rPr lang="en-IN" sz="1600" b="1" dirty="0">
                <a:latin typeface="Gill Sans" panose="020B0604020202020204" charset="0"/>
                <a:ea typeface="Gill Sans"/>
                <a:cs typeface="Gill Sans" panose="020B0604020202020204" charset="0"/>
                <a:sym typeface="Gill Sans"/>
              </a:rPr>
              <a:t> edge of the clock and capture happens at 2</a:t>
            </a:r>
            <a:r>
              <a:rPr lang="en-IN" sz="1600" b="1" baseline="30000" dirty="0">
                <a:latin typeface="Gill Sans" panose="020B0604020202020204" charset="0"/>
                <a:ea typeface="Gill Sans"/>
                <a:cs typeface="Gill Sans" panose="020B0604020202020204" charset="0"/>
                <a:sym typeface="Gill Sans"/>
              </a:rPr>
              <a:t>nd</a:t>
            </a:r>
            <a:r>
              <a:rPr lang="en-IN" sz="1600" b="1" dirty="0">
                <a:latin typeface="Gill Sans" panose="020B0604020202020204" charset="0"/>
                <a:ea typeface="Gill Sans"/>
                <a:cs typeface="Gill Sans" panose="020B0604020202020204" charset="0"/>
                <a:sym typeface="Gill Sans"/>
              </a:rPr>
              <a:t> edge of the clock.</a:t>
            </a:r>
            <a:endParaRPr sz="1600" b="1" dirty="0">
              <a:latin typeface="Gill Sans" panose="020B0604020202020204" charset="0"/>
              <a:ea typeface="Gill Sans"/>
              <a:cs typeface="Gill Sans" panose="020B0604020202020204" charset="0"/>
              <a:sym typeface="Gill Sans"/>
            </a:endParaRPr>
          </a:p>
        </p:txBody>
      </p:sp>
      <p:sp>
        <p:nvSpPr>
          <p:cNvPr id="667" name="Google Shape;667;gd825073dbc_0_356"/>
          <p:cNvSpPr txBox="1"/>
          <p:nvPr/>
        </p:nvSpPr>
        <p:spPr>
          <a:xfrm>
            <a:off x="6096077" y="1931964"/>
            <a:ext cx="5243697" cy="615499"/>
          </a:xfrm>
          <a:prstGeom prst="rect">
            <a:avLst/>
          </a:prstGeom>
          <a:solidFill>
            <a:srgbClr val="FFFFFF"/>
          </a:solidFill>
          <a:ln>
            <a:noFill/>
          </a:ln>
        </p:spPr>
        <p:txBody>
          <a:bodyPr spcFirstLastPara="1" wrap="square" lIns="121900" tIns="60933" rIns="121900" bIns="60933" anchor="t" anchorCtr="0">
            <a:spAutoFit/>
          </a:bodyPr>
          <a:lstStyle/>
          <a:p>
            <a:r>
              <a:rPr lang="en-IN" sz="1600" b="1" dirty="0">
                <a:latin typeface="Gill Sans" panose="020B0604020202020204" charset="0"/>
                <a:ea typeface="Gill Sans"/>
                <a:cs typeface="Gill Sans" panose="020B0604020202020204" charset="0"/>
                <a:sym typeface="Gill Sans"/>
              </a:rPr>
              <a:t>Data will appear on the lines during 2</a:t>
            </a:r>
            <a:r>
              <a:rPr lang="en-IN" sz="1600" b="1" baseline="30000" dirty="0">
                <a:latin typeface="Gill Sans" panose="020B0604020202020204" charset="0"/>
                <a:ea typeface="Gill Sans"/>
                <a:cs typeface="Gill Sans" panose="020B0604020202020204" charset="0"/>
                <a:sym typeface="Gill Sans"/>
              </a:rPr>
              <a:t>nd</a:t>
            </a:r>
            <a:r>
              <a:rPr lang="en-IN" sz="1600" b="1" dirty="0">
                <a:latin typeface="Gill Sans" panose="020B0604020202020204" charset="0"/>
                <a:ea typeface="Gill Sans"/>
                <a:cs typeface="Gill Sans" panose="020B0604020202020204" charset="0"/>
                <a:sym typeface="Gill Sans"/>
              </a:rPr>
              <a:t> edge of the clock and capture happens at 1</a:t>
            </a:r>
            <a:r>
              <a:rPr lang="en-IN" sz="1600" b="1" baseline="30000" dirty="0">
                <a:latin typeface="Gill Sans" panose="020B0604020202020204" charset="0"/>
                <a:ea typeface="Gill Sans"/>
                <a:cs typeface="Gill Sans" panose="020B0604020202020204" charset="0"/>
                <a:sym typeface="Gill Sans"/>
              </a:rPr>
              <a:t>st</a:t>
            </a:r>
            <a:r>
              <a:rPr lang="en-IN" sz="1600" b="1" dirty="0">
                <a:latin typeface="Gill Sans" panose="020B0604020202020204" charset="0"/>
                <a:ea typeface="Gill Sans"/>
                <a:cs typeface="Gill Sans" panose="020B0604020202020204" charset="0"/>
                <a:sym typeface="Gill Sans"/>
              </a:rPr>
              <a:t> edge of the clock.</a:t>
            </a:r>
            <a:endParaRPr sz="1600" b="1" dirty="0">
              <a:latin typeface="Gill Sans" panose="020B0604020202020204" charset="0"/>
              <a:ea typeface="Gill Sans"/>
              <a:cs typeface="Gill Sans" panose="020B0604020202020204" charset="0"/>
              <a:sym typeface="Gill Sans"/>
            </a:endParaRPr>
          </a:p>
        </p:txBody>
      </p:sp>
      <p:pic>
        <p:nvPicPr>
          <p:cNvPr id="668" name="Google Shape;668;gd825073dbc_0_356"/>
          <p:cNvPicPr preferRelativeResize="0"/>
          <p:nvPr/>
        </p:nvPicPr>
        <p:blipFill rotWithShape="1">
          <a:blip r:embed="rId3">
            <a:alphaModFix/>
          </a:blip>
          <a:srcRect/>
          <a:stretch/>
        </p:blipFill>
        <p:spPr>
          <a:xfrm>
            <a:off x="724568" y="2814197"/>
            <a:ext cx="4966472" cy="3657600"/>
          </a:xfrm>
          <a:prstGeom prst="rect">
            <a:avLst/>
          </a:prstGeom>
          <a:noFill/>
          <a:ln>
            <a:noFill/>
          </a:ln>
        </p:spPr>
      </p:pic>
      <p:pic>
        <p:nvPicPr>
          <p:cNvPr id="669" name="Google Shape;669;gd825073dbc_0_356"/>
          <p:cNvPicPr preferRelativeResize="0"/>
          <p:nvPr/>
        </p:nvPicPr>
        <p:blipFill rotWithShape="1">
          <a:blip r:embed="rId4">
            <a:alphaModFix/>
          </a:blip>
          <a:srcRect/>
          <a:stretch/>
        </p:blipFill>
        <p:spPr>
          <a:xfrm>
            <a:off x="6197287" y="2843897"/>
            <a:ext cx="5100019" cy="36314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2519992"/>
            <a:ext cx="10515600" cy="2144152"/>
          </a:xfrm>
        </p:spPr>
        <p:txBody>
          <a:bodyPr/>
          <a:lstStyle/>
          <a:p>
            <a:pPr lvl="0" algn="ctr" fontAlgn="base">
              <a:lnSpc>
                <a:spcPct val="115000"/>
              </a:lnSpc>
            </a:pPr>
            <a:r>
              <a:rPr lang="en-IN" sz="4800" b="1" dirty="0">
                <a:solidFill>
                  <a:schemeClr val="dk1"/>
                </a:solidFill>
                <a:latin typeface="Helvetica Neue" panose="020B0604020202020204" charset="0"/>
                <a:cs typeface="Gill Sans"/>
              </a:rPr>
              <a:t>Understand the I2C protocol</a:t>
            </a:r>
            <a:br>
              <a:rPr lang="en-IN" sz="4800" dirty="0">
                <a:solidFill>
                  <a:schemeClr val="bg2"/>
                </a:solidFill>
                <a:latin typeface="Gill Sans" panose="020B0604020202020204" charset="0"/>
                <a:ea typeface="Gill Sans" panose="020B0604020202020204" charset="0"/>
                <a:cs typeface="Gill Sans" panose="020B0604020202020204" charset="0"/>
              </a:rPr>
            </a:br>
            <a:r>
              <a:rPr lang="en-IN" sz="4800" dirty="0">
                <a:solidFill>
                  <a:schemeClr val="bg2"/>
                </a:solidFill>
                <a:latin typeface="Gill Sans" panose="020B0604020202020204" charset="0"/>
                <a:ea typeface="Gill Sans" panose="020B0604020202020204" charset="0"/>
                <a:cs typeface="Gill Sans" panose="020B0604020202020204" charset="0"/>
              </a:rPr>
              <a:t>(</a:t>
            </a:r>
            <a:r>
              <a:rPr lang="en-IN" sz="4800" b="1" dirty="0">
                <a:solidFill>
                  <a:schemeClr val="dk1"/>
                </a:solidFill>
                <a:latin typeface="Helvetica Neue" panose="020B0604020202020204" charset="0"/>
                <a:cs typeface="Gill Sans"/>
              </a:rPr>
              <a:t>Inter-Integrated Circuit)</a:t>
            </a:r>
            <a:endParaRPr lang="en-US" sz="4800" b="1" dirty="0">
              <a:solidFill>
                <a:schemeClr val="dk1"/>
              </a:solidFill>
              <a:latin typeface="Helvetica Neue" panose="020B0604020202020204" charset="0"/>
              <a:cs typeface="Gill Sans"/>
              <a:sym typeface="Gill Sans"/>
            </a:endParaRPr>
          </a:p>
        </p:txBody>
      </p:sp>
    </p:spTree>
    <p:extLst>
      <p:ext uri="{BB962C8B-B14F-4D97-AF65-F5344CB8AC3E}">
        <p14:creationId xmlns:p14="http://schemas.microsoft.com/office/powerpoint/2010/main" val="269802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C3A00EF6-D305-426E-99CA-750BDA21B768}"/>
              </a:ext>
            </a:extLst>
          </p:cNvPr>
          <p:cNvSpPr txBox="1"/>
          <p:nvPr/>
        </p:nvSpPr>
        <p:spPr>
          <a:xfrm>
            <a:off x="33665" y="948812"/>
            <a:ext cx="7536712" cy="5858848"/>
          </a:xfrm>
          <a:prstGeom prst="rect">
            <a:avLst/>
          </a:prstGeom>
          <a:noFill/>
        </p:spPr>
        <p:txBody>
          <a:bodyPr wrap="square" rtlCol="0">
            <a:spAutoFit/>
          </a:bodyPr>
          <a:lstStyle/>
          <a:p>
            <a:pPr marL="457189" indent="-457189">
              <a:buFont typeface="Arial" panose="020B0604020202020204" pitchFamily="34" charset="0"/>
              <a:buChar char="•"/>
            </a:pPr>
            <a:r>
              <a:rPr lang="en-US" sz="2667" dirty="0">
                <a:latin typeface="Gill Sans" panose="020B0604020202020204" charset="0"/>
                <a:cs typeface="Gill Sans" panose="020B0604020202020204" charset="0"/>
              </a:rPr>
              <a:t>I2C is a multi-master multi-slave communication protocol.</a:t>
            </a:r>
          </a:p>
          <a:p>
            <a:endParaRPr lang="en-US" sz="8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667" dirty="0">
                <a:latin typeface="Gill Sans" panose="020B0604020202020204" charset="0"/>
                <a:cs typeface="Gill Sans" panose="020B0604020202020204" charset="0"/>
              </a:rPr>
              <a:t>I2C needs just 2 pins to connect all the master and slave devices to it</a:t>
            </a:r>
          </a:p>
          <a:p>
            <a:endParaRPr lang="en-US" sz="1067"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667" dirty="0">
                <a:latin typeface="Gill Sans" panose="020B0604020202020204" charset="0"/>
                <a:cs typeface="Gill Sans" panose="020B0604020202020204" charset="0"/>
              </a:rPr>
              <a:t>Both SDA and SCL  lines are bi-directional lines connected to positive power supply (+VCC) via pull-up registers. When the bus is free both the lines are pulled HIGH.</a:t>
            </a:r>
          </a:p>
          <a:p>
            <a:endParaRPr lang="en-US" sz="933"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667" dirty="0">
                <a:latin typeface="Gill Sans" panose="020B0604020202020204" charset="0"/>
                <a:cs typeface="Gill Sans" panose="020B0604020202020204" charset="0"/>
              </a:rPr>
              <a:t>The output stages of the devices connected to the bus must have open-drain or open-collector configurations. Means, if you are using GPIO pins for I2C then it needs to be configured as open-drain or open-collector. </a:t>
            </a:r>
          </a:p>
        </p:txBody>
      </p:sp>
      <p:sp>
        <p:nvSpPr>
          <p:cNvPr id="4" name="TextBox 3">
            <a:extLst>
              <a:ext uri="{FF2B5EF4-FFF2-40B4-BE49-F238E27FC236}">
                <a16:creationId xmlns:a16="http://schemas.microsoft.com/office/drawing/2014/main" id="{8775D54D-54A9-4B74-BF1C-0C8120BD7EF4}"/>
              </a:ext>
            </a:extLst>
          </p:cNvPr>
          <p:cNvSpPr txBox="1"/>
          <p:nvPr/>
        </p:nvSpPr>
        <p:spPr>
          <a:xfrm>
            <a:off x="3218121" y="285522"/>
            <a:ext cx="6223592" cy="830997"/>
          </a:xfrm>
          <a:prstGeom prst="rect">
            <a:avLst/>
          </a:prstGeom>
          <a:noFill/>
        </p:spPr>
        <p:txBody>
          <a:bodyPr wrap="square" rtlCol="0">
            <a:spAutoFit/>
          </a:bodyPr>
          <a:lstStyle/>
          <a:p>
            <a:pPr algn="ctr"/>
            <a:r>
              <a:rPr lang="en-IN" sz="4800" b="1" dirty="0">
                <a:latin typeface="Helvetica Neue" panose="020B0604020202020204" charset="0"/>
                <a:cs typeface="Helvetica Neue" panose="020B0604020202020204" charset="0"/>
              </a:rPr>
              <a:t>I2C protocol</a:t>
            </a:r>
            <a:endParaRPr lang="en-US" sz="4800" dirty="0">
              <a:latin typeface="Helvetica Neue" panose="020B0604020202020204" charset="0"/>
              <a:cs typeface="Helvetica Neue" panose="020B0604020202020204" charset="0"/>
            </a:endParaRPr>
          </a:p>
        </p:txBody>
      </p:sp>
      <p:pic>
        <p:nvPicPr>
          <p:cNvPr id="5" name="Picture 4">
            <a:extLst>
              <a:ext uri="{FF2B5EF4-FFF2-40B4-BE49-F238E27FC236}">
                <a16:creationId xmlns:a16="http://schemas.microsoft.com/office/drawing/2014/main" id="{2F2BBD1E-DC32-4B70-A821-13940E22AA36}"/>
              </a:ext>
            </a:extLst>
          </p:cNvPr>
          <p:cNvPicPr>
            <a:picLocks noChangeAspect="1"/>
          </p:cNvPicPr>
          <p:nvPr/>
        </p:nvPicPr>
        <p:blipFill>
          <a:blip r:embed="rId3"/>
          <a:stretch>
            <a:fillRect/>
          </a:stretch>
        </p:blipFill>
        <p:spPr>
          <a:xfrm>
            <a:off x="7354958" y="2338387"/>
            <a:ext cx="4810544" cy="2472152"/>
          </a:xfrm>
          <a:prstGeom prst="rect">
            <a:avLst/>
          </a:prstGeom>
        </p:spPr>
      </p:pic>
    </p:spTree>
    <p:extLst>
      <p:ext uri="{BB962C8B-B14F-4D97-AF65-F5344CB8AC3E}">
        <p14:creationId xmlns:p14="http://schemas.microsoft.com/office/powerpoint/2010/main" val="2179858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135128-F2CC-4B54-A001-308D07824016}"/>
              </a:ext>
            </a:extLst>
          </p:cNvPr>
          <p:cNvSpPr txBox="1"/>
          <p:nvPr/>
        </p:nvSpPr>
        <p:spPr>
          <a:xfrm>
            <a:off x="1524000" y="360193"/>
            <a:ext cx="8412480" cy="748988"/>
          </a:xfrm>
          <a:prstGeom prst="rect">
            <a:avLst/>
          </a:prstGeom>
          <a:noFill/>
        </p:spPr>
        <p:txBody>
          <a:bodyPr wrap="square" rtlCol="0">
            <a:spAutoFit/>
          </a:bodyPr>
          <a:lstStyle/>
          <a:p>
            <a:pPr algn="ctr"/>
            <a:r>
              <a:rPr lang="en-US" sz="4267" b="1" dirty="0">
                <a:latin typeface="Helvetica Neue" panose="020B0604020202020204" charset="0"/>
                <a:cs typeface="Helvetica Neue" panose="020B0604020202020204" charset="0"/>
              </a:rPr>
              <a:t>I2C Modes</a:t>
            </a:r>
          </a:p>
        </p:txBody>
      </p:sp>
      <p:graphicFrame>
        <p:nvGraphicFramePr>
          <p:cNvPr id="3" name="Table 3">
            <a:extLst>
              <a:ext uri="{FF2B5EF4-FFF2-40B4-BE49-F238E27FC236}">
                <a16:creationId xmlns:a16="http://schemas.microsoft.com/office/drawing/2014/main" id="{3BA7F965-6ED0-400C-91E3-699DA809BF6D}"/>
              </a:ext>
            </a:extLst>
          </p:cNvPr>
          <p:cNvGraphicFramePr>
            <a:graphicFrameLocks noGrp="1"/>
          </p:cNvGraphicFramePr>
          <p:nvPr>
            <p:extLst>
              <p:ext uri="{D42A27DB-BD31-4B8C-83A1-F6EECF244321}">
                <p14:modId xmlns:p14="http://schemas.microsoft.com/office/powerpoint/2010/main" val="265159565"/>
              </p:ext>
            </p:extLst>
          </p:nvPr>
        </p:nvGraphicFramePr>
        <p:xfrm>
          <a:off x="7633252" y="2703443"/>
          <a:ext cx="4459508" cy="1824025"/>
        </p:xfrm>
        <a:graphic>
          <a:graphicData uri="http://schemas.openxmlformats.org/drawingml/2006/table">
            <a:tbl>
              <a:tblPr firstRow="1" bandRow="1">
                <a:tableStyleId>{5C22544A-7EE6-4342-B048-85BDC9FD1C3A}</a:tableStyleId>
              </a:tblPr>
              <a:tblGrid>
                <a:gridCol w="1929193">
                  <a:extLst>
                    <a:ext uri="{9D8B030D-6E8A-4147-A177-3AD203B41FA5}">
                      <a16:colId xmlns:a16="http://schemas.microsoft.com/office/drawing/2014/main" val="3844173441"/>
                    </a:ext>
                  </a:extLst>
                </a:gridCol>
                <a:gridCol w="2530315">
                  <a:extLst>
                    <a:ext uri="{9D8B030D-6E8A-4147-A177-3AD203B41FA5}">
                      <a16:colId xmlns:a16="http://schemas.microsoft.com/office/drawing/2014/main" val="837565670"/>
                    </a:ext>
                  </a:extLst>
                </a:gridCol>
              </a:tblGrid>
              <a:tr h="364805">
                <a:tc>
                  <a:txBody>
                    <a:bodyPr/>
                    <a:lstStyle/>
                    <a:p>
                      <a:pPr algn="ctr"/>
                      <a:r>
                        <a:rPr lang="en-US" sz="1600" b="1" dirty="0">
                          <a:solidFill>
                            <a:schemeClr val="tx1"/>
                          </a:solidFill>
                          <a:latin typeface="Gill Sans" panose="020B0604020202020204" charset="0"/>
                          <a:cs typeface="Gill Sans" panose="020B0604020202020204" charset="0"/>
                        </a:rPr>
                        <a:t>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tx1"/>
                          </a:solidFill>
                          <a:latin typeface="Gill Sans" panose="020B0604020202020204" charset="0"/>
                          <a:cs typeface="Gill Sans" panose="020B0604020202020204" charset="0"/>
                        </a:rPr>
                        <a:t>Data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878677"/>
                  </a:ext>
                </a:extLst>
              </a:tr>
              <a:tr h="364805">
                <a:tc>
                  <a:txBody>
                    <a:bodyPr/>
                    <a:lstStyle/>
                    <a:p>
                      <a:pPr algn="ctr"/>
                      <a:r>
                        <a:rPr lang="en-US" sz="1600" b="1" dirty="0">
                          <a:solidFill>
                            <a:schemeClr val="tx1"/>
                          </a:solidFill>
                          <a:latin typeface="Gill Sans" panose="020B0604020202020204" charset="0"/>
                          <a:cs typeface="Gill Sans" panose="020B0604020202020204" charset="0"/>
                        </a:rPr>
                        <a:t>Standard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tx1"/>
                          </a:solidFill>
                          <a:latin typeface="Gill Sans" panose="020B0604020202020204" charset="0"/>
                          <a:cs typeface="Gill Sans" panose="020B0604020202020204" charset="0"/>
                        </a:rPr>
                        <a:t>Up to 100 kbps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583652"/>
                  </a:ext>
                </a:extLst>
              </a:tr>
              <a:tr h="364805">
                <a:tc>
                  <a:txBody>
                    <a:bodyPr/>
                    <a:lstStyle/>
                    <a:p>
                      <a:pPr algn="ctr"/>
                      <a:r>
                        <a:rPr lang="en-US" sz="1600" b="1" dirty="0">
                          <a:solidFill>
                            <a:schemeClr val="tx1"/>
                          </a:solidFill>
                          <a:latin typeface="Gill Sans" panose="020B0604020202020204" charset="0"/>
                          <a:cs typeface="Gill Sans" panose="020B0604020202020204" charset="0"/>
                        </a:rPr>
                        <a:t>Fast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tx1"/>
                          </a:solidFill>
                          <a:latin typeface="Gill Sans" panose="020B0604020202020204" charset="0"/>
                          <a:cs typeface="Gill Sans" panose="020B0604020202020204" charset="0"/>
                        </a:rPr>
                        <a:t>Up to 400 kbps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9478963"/>
                  </a:ext>
                </a:extLst>
              </a:tr>
              <a:tr h="364805">
                <a:tc>
                  <a:txBody>
                    <a:bodyPr/>
                    <a:lstStyle/>
                    <a:p>
                      <a:pPr algn="ctr"/>
                      <a:r>
                        <a:rPr lang="en-US" sz="1600" b="1" dirty="0">
                          <a:solidFill>
                            <a:schemeClr val="tx1"/>
                          </a:solidFill>
                          <a:latin typeface="Gill Sans" panose="020B0604020202020204" charset="0"/>
                          <a:cs typeface="Gill Sans" panose="020B0604020202020204" charset="0"/>
                        </a:rPr>
                        <a:t>Fast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tx1"/>
                          </a:solidFill>
                          <a:latin typeface="Gill Sans" panose="020B0604020202020204" charset="0"/>
                          <a:cs typeface="Gill Sans" panose="020B0604020202020204" charset="0"/>
                        </a:rPr>
                        <a:t>Up to 1 Mbps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016980"/>
                  </a:ext>
                </a:extLst>
              </a:tr>
              <a:tr h="364805">
                <a:tc>
                  <a:txBody>
                    <a:bodyPr/>
                    <a:lstStyle/>
                    <a:p>
                      <a:pPr algn="ctr"/>
                      <a:r>
                        <a:rPr lang="en-US" sz="1600" b="1" dirty="0">
                          <a:solidFill>
                            <a:schemeClr val="tx1"/>
                          </a:solidFill>
                          <a:latin typeface="Gill Sans" panose="020B0604020202020204" charset="0"/>
                          <a:cs typeface="Gill Sans" panose="020B0604020202020204" charset="0"/>
                        </a:rPr>
                        <a:t>High Speed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tx1"/>
                          </a:solidFill>
                          <a:latin typeface="Gill Sans" panose="020B0604020202020204" charset="0"/>
                          <a:cs typeface="Gill Sans" panose="020B0604020202020204" charset="0"/>
                        </a:rPr>
                        <a:t>Up to 3.4 Mbps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8398329"/>
                  </a:ext>
                </a:extLst>
              </a:tr>
            </a:tbl>
          </a:graphicData>
        </a:graphic>
      </p:graphicFrame>
      <p:sp>
        <p:nvSpPr>
          <p:cNvPr id="4" name="TextBox 3">
            <a:extLst>
              <a:ext uri="{FF2B5EF4-FFF2-40B4-BE49-F238E27FC236}">
                <a16:creationId xmlns:a16="http://schemas.microsoft.com/office/drawing/2014/main" id="{FF55B839-AF62-4D97-889C-A4205C881B79}"/>
              </a:ext>
            </a:extLst>
          </p:cNvPr>
          <p:cNvSpPr txBox="1"/>
          <p:nvPr/>
        </p:nvSpPr>
        <p:spPr>
          <a:xfrm>
            <a:off x="223757" y="1198815"/>
            <a:ext cx="7346624" cy="4554517"/>
          </a:xfrm>
          <a:prstGeom prst="rect">
            <a:avLst/>
          </a:prstGeom>
          <a:noFill/>
        </p:spPr>
        <p:txBody>
          <a:bodyPr wrap="square" rtlCol="0">
            <a:spAutoFit/>
          </a:bodyPr>
          <a:lstStyle/>
          <a:p>
            <a:pPr marL="457189" indent="-457189">
              <a:buFont typeface="Arial" panose="020B0604020202020204" pitchFamily="34" charset="0"/>
              <a:buChar char="•"/>
            </a:pPr>
            <a:r>
              <a:rPr lang="en-US" sz="2933" dirty="0">
                <a:latin typeface="Gill Sans" panose="020B0604020202020204" charset="0"/>
                <a:cs typeface="Gill Sans" panose="020B0604020202020204" charset="0"/>
              </a:rPr>
              <a:t>Standard mode devices are not upward compatible; they cannot communicate with the devices of fast mode or above.</a:t>
            </a:r>
          </a:p>
          <a:p>
            <a:endParaRPr lang="en-US" sz="1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933" dirty="0">
                <a:latin typeface="Gill Sans" panose="020B0604020202020204" charset="0"/>
                <a:cs typeface="Gill Sans" panose="020B0604020202020204" charset="0"/>
              </a:rPr>
              <a:t>Fast mode devices are downward-compatible and can communicate with standard mode devices in I2C-bus system.</a:t>
            </a:r>
          </a:p>
          <a:p>
            <a:endParaRPr lang="en-US" sz="14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933" dirty="0">
                <a:latin typeface="Gill Sans" panose="020B0604020202020204" charset="0"/>
                <a:cs typeface="Gill Sans" panose="020B0604020202020204" charset="0"/>
              </a:rPr>
              <a:t>Fast mode devices are not upward compatible; they cannot communicate with the devices of fast mode+ or above.</a:t>
            </a:r>
          </a:p>
        </p:txBody>
      </p:sp>
    </p:spTree>
    <p:extLst>
      <p:ext uri="{BB962C8B-B14F-4D97-AF65-F5344CB8AC3E}">
        <p14:creationId xmlns:p14="http://schemas.microsoft.com/office/powerpoint/2010/main" val="2078150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88A60C-A4B5-4962-AF30-C1B6E2D1BB4E}"/>
              </a:ext>
            </a:extLst>
          </p:cNvPr>
          <p:cNvSpPr txBox="1"/>
          <p:nvPr/>
        </p:nvSpPr>
        <p:spPr>
          <a:xfrm>
            <a:off x="1065379" y="238891"/>
            <a:ext cx="9834880" cy="748988"/>
          </a:xfrm>
          <a:prstGeom prst="rect">
            <a:avLst/>
          </a:prstGeom>
          <a:noFill/>
        </p:spPr>
        <p:txBody>
          <a:bodyPr wrap="square" rtlCol="0">
            <a:spAutoFit/>
          </a:bodyPr>
          <a:lstStyle/>
          <a:p>
            <a:pPr algn="ctr"/>
            <a:r>
              <a:rPr lang="en-US" sz="4267" b="1" dirty="0">
                <a:latin typeface="Helvetica Neue" panose="020B0604020202020204" charset="0"/>
                <a:cs typeface="Helvetica Neue" panose="020B0604020202020204" charset="0"/>
              </a:rPr>
              <a:t>I2C Protocol Frame Format</a:t>
            </a:r>
          </a:p>
        </p:txBody>
      </p:sp>
      <p:sp>
        <p:nvSpPr>
          <p:cNvPr id="3" name="Rectangle 2">
            <a:extLst>
              <a:ext uri="{FF2B5EF4-FFF2-40B4-BE49-F238E27FC236}">
                <a16:creationId xmlns:a16="http://schemas.microsoft.com/office/drawing/2014/main" id="{984D9491-8E86-446A-A4EA-460EFDDD9B82}"/>
              </a:ext>
            </a:extLst>
          </p:cNvPr>
          <p:cNvSpPr/>
          <p:nvPr/>
        </p:nvSpPr>
        <p:spPr>
          <a:xfrm>
            <a:off x="1105807" y="2697611"/>
            <a:ext cx="426720" cy="5181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S</a:t>
            </a:r>
          </a:p>
        </p:txBody>
      </p:sp>
      <p:sp>
        <p:nvSpPr>
          <p:cNvPr id="4" name="Rectangle 3">
            <a:extLst>
              <a:ext uri="{FF2B5EF4-FFF2-40B4-BE49-F238E27FC236}">
                <a16:creationId xmlns:a16="http://schemas.microsoft.com/office/drawing/2014/main" id="{6F90E387-6714-43FF-9281-48BF6444B199}"/>
              </a:ext>
            </a:extLst>
          </p:cNvPr>
          <p:cNvSpPr/>
          <p:nvPr/>
        </p:nvSpPr>
        <p:spPr>
          <a:xfrm>
            <a:off x="1573167" y="270777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A7</a:t>
            </a:r>
          </a:p>
        </p:txBody>
      </p:sp>
      <p:sp>
        <p:nvSpPr>
          <p:cNvPr id="5" name="Rectangle 4">
            <a:extLst>
              <a:ext uri="{FF2B5EF4-FFF2-40B4-BE49-F238E27FC236}">
                <a16:creationId xmlns:a16="http://schemas.microsoft.com/office/drawing/2014/main" id="{419564A2-73DA-4D96-BA9F-A64632D4EDF9}"/>
              </a:ext>
            </a:extLst>
          </p:cNvPr>
          <p:cNvSpPr/>
          <p:nvPr/>
        </p:nvSpPr>
        <p:spPr>
          <a:xfrm>
            <a:off x="2071007" y="270777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A6</a:t>
            </a:r>
          </a:p>
        </p:txBody>
      </p:sp>
      <p:sp>
        <p:nvSpPr>
          <p:cNvPr id="6" name="Rectangle 5">
            <a:extLst>
              <a:ext uri="{FF2B5EF4-FFF2-40B4-BE49-F238E27FC236}">
                <a16:creationId xmlns:a16="http://schemas.microsoft.com/office/drawing/2014/main" id="{394A719D-3075-4A00-A2BD-3ECEEFADE818}"/>
              </a:ext>
            </a:extLst>
          </p:cNvPr>
          <p:cNvSpPr/>
          <p:nvPr/>
        </p:nvSpPr>
        <p:spPr>
          <a:xfrm>
            <a:off x="2538367" y="270777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A5</a:t>
            </a:r>
          </a:p>
        </p:txBody>
      </p:sp>
      <p:sp>
        <p:nvSpPr>
          <p:cNvPr id="7" name="Rectangle 6">
            <a:extLst>
              <a:ext uri="{FF2B5EF4-FFF2-40B4-BE49-F238E27FC236}">
                <a16:creationId xmlns:a16="http://schemas.microsoft.com/office/drawing/2014/main" id="{599D0987-5E0F-4F46-8394-60368761E6D4}"/>
              </a:ext>
            </a:extLst>
          </p:cNvPr>
          <p:cNvSpPr/>
          <p:nvPr/>
        </p:nvSpPr>
        <p:spPr>
          <a:xfrm>
            <a:off x="3036207" y="271793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A4</a:t>
            </a:r>
          </a:p>
        </p:txBody>
      </p:sp>
      <p:sp>
        <p:nvSpPr>
          <p:cNvPr id="8" name="Rectangle 7">
            <a:extLst>
              <a:ext uri="{FF2B5EF4-FFF2-40B4-BE49-F238E27FC236}">
                <a16:creationId xmlns:a16="http://schemas.microsoft.com/office/drawing/2014/main" id="{296C5974-16BD-45F3-8AD5-7C4F08DA4FC9}"/>
              </a:ext>
            </a:extLst>
          </p:cNvPr>
          <p:cNvSpPr/>
          <p:nvPr/>
        </p:nvSpPr>
        <p:spPr>
          <a:xfrm>
            <a:off x="3523887" y="270777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A3</a:t>
            </a:r>
          </a:p>
        </p:txBody>
      </p:sp>
      <p:sp>
        <p:nvSpPr>
          <p:cNvPr id="9" name="Rectangle 8">
            <a:extLst>
              <a:ext uri="{FF2B5EF4-FFF2-40B4-BE49-F238E27FC236}">
                <a16:creationId xmlns:a16="http://schemas.microsoft.com/office/drawing/2014/main" id="{A3ABC813-DCD1-4A38-ADD6-84DC0BE1C40E}"/>
              </a:ext>
            </a:extLst>
          </p:cNvPr>
          <p:cNvSpPr/>
          <p:nvPr/>
        </p:nvSpPr>
        <p:spPr>
          <a:xfrm>
            <a:off x="4001407" y="270777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A2</a:t>
            </a:r>
          </a:p>
        </p:txBody>
      </p:sp>
      <p:sp>
        <p:nvSpPr>
          <p:cNvPr id="10" name="Rectangle 9">
            <a:extLst>
              <a:ext uri="{FF2B5EF4-FFF2-40B4-BE49-F238E27FC236}">
                <a16:creationId xmlns:a16="http://schemas.microsoft.com/office/drawing/2014/main" id="{94721185-73FE-47BD-9CB1-F2B0D9E5A72B}"/>
              </a:ext>
            </a:extLst>
          </p:cNvPr>
          <p:cNvSpPr/>
          <p:nvPr/>
        </p:nvSpPr>
        <p:spPr>
          <a:xfrm>
            <a:off x="4478927" y="2717931"/>
            <a:ext cx="426720" cy="518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A1</a:t>
            </a:r>
          </a:p>
        </p:txBody>
      </p:sp>
      <p:sp>
        <p:nvSpPr>
          <p:cNvPr id="11" name="Rectangle 10">
            <a:extLst>
              <a:ext uri="{FF2B5EF4-FFF2-40B4-BE49-F238E27FC236}">
                <a16:creationId xmlns:a16="http://schemas.microsoft.com/office/drawing/2014/main" id="{F43532EC-6E47-490A-AAC9-F9C9EDE8B194}"/>
              </a:ext>
            </a:extLst>
          </p:cNvPr>
          <p:cNvSpPr/>
          <p:nvPr/>
        </p:nvSpPr>
        <p:spPr>
          <a:xfrm>
            <a:off x="4956447" y="2717931"/>
            <a:ext cx="467360" cy="51816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Gill Sans" panose="020B0604020202020204" charset="0"/>
                <a:cs typeface="Gill Sans" panose="020B0604020202020204" charset="0"/>
              </a:rPr>
              <a:t>R/W</a:t>
            </a:r>
          </a:p>
        </p:txBody>
      </p:sp>
      <p:sp>
        <p:nvSpPr>
          <p:cNvPr id="12" name="Rectangle 11">
            <a:extLst>
              <a:ext uri="{FF2B5EF4-FFF2-40B4-BE49-F238E27FC236}">
                <a16:creationId xmlns:a16="http://schemas.microsoft.com/office/drawing/2014/main" id="{B2F0407C-2335-4BEC-BD43-08302BC1E73C}"/>
              </a:ext>
            </a:extLst>
          </p:cNvPr>
          <p:cNvSpPr/>
          <p:nvPr/>
        </p:nvSpPr>
        <p:spPr>
          <a:xfrm>
            <a:off x="5484767" y="2717931"/>
            <a:ext cx="426720" cy="5181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ACK</a:t>
            </a:r>
          </a:p>
        </p:txBody>
      </p:sp>
      <p:sp>
        <p:nvSpPr>
          <p:cNvPr id="13" name="Rectangle 12">
            <a:extLst>
              <a:ext uri="{FF2B5EF4-FFF2-40B4-BE49-F238E27FC236}">
                <a16:creationId xmlns:a16="http://schemas.microsoft.com/office/drawing/2014/main" id="{5B046C22-815C-4901-A9A7-338F1C644A21}"/>
              </a:ext>
            </a:extLst>
          </p:cNvPr>
          <p:cNvSpPr/>
          <p:nvPr/>
        </p:nvSpPr>
        <p:spPr>
          <a:xfrm>
            <a:off x="5972447" y="271793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D7</a:t>
            </a:r>
          </a:p>
        </p:txBody>
      </p:sp>
      <p:sp>
        <p:nvSpPr>
          <p:cNvPr id="14" name="Rectangle 13">
            <a:extLst>
              <a:ext uri="{FF2B5EF4-FFF2-40B4-BE49-F238E27FC236}">
                <a16:creationId xmlns:a16="http://schemas.microsoft.com/office/drawing/2014/main" id="{EC5C9C82-7E84-46A8-AAC5-277F0E36C49B}"/>
              </a:ext>
            </a:extLst>
          </p:cNvPr>
          <p:cNvSpPr/>
          <p:nvPr/>
        </p:nvSpPr>
        <p:spPr>
          <a:xfrm>
            <a:off x="6460127" y="272809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D6</a:t>
            </a:r>
          </a:p>
        </p:txBody>
      </p:sp>
      <p:sp>
        <p:nvSpPr>
          <p:cNvPr id="15" name="Rectangle 14">
            <a:extLst>
              <a:ext uri="{FF2B5EF4-FFF2-40B4-BE49-F238E27FC236}">
                <a16:creationId xmlns:a16="http://schemas.microsoft.com/office/drawing/2014/main" id="{3716926E-2F1C-4E6F-AEF7-164C9CF8F712}"/>
              </a:ext>
            </a:extLst>
          </p:cNvPr>
          <p:cNvSpPr/>
          <p:nvPr/>
        </p:nvSpPr>
        <p:spPr>
          <a:xfrm>
            <a:off x="6937647" y="272809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D5</a:t>
            </a:r>
          </a:p>
        </p:txBody>
      </p:sp>
      <p:sp>
        <p:nvSpPr>
          <p:cNvPr id="16" name="Rectangle 15">
            <a:extLst>
              <a:ext uri="{FF2B5EF4-FFF2-40B4-BE49-F238E27FC236}">
                <a16:creationId xmlns:a16="http://schemas.microsoft.com/office/drawing/2014/main" id="{CD3B75DD-1C99-4B73-B75C-4B95667D60A6}"/>
              </a:ext>
            </a:extLst>
          </p:cNvPr>
          <p:cNvSpPr/>
          <p:nvPr/>
        </p:nvSpPr>
        <p:spPr>
          <a:xfrm>
            <a:off x="7405007" y="271793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D4</a:t>
            </a:r>
          </a:p>
        </p:txBody>
      </p:sp>
      <p:sp>
        <p:nvSpPr>
          <p:cNvPr id="17" name="Rectangle 16">
            <a:extLst>
              <a:ext uri="{FF2B5EF4-FFF2-40B4-BE49-F238E27FC236}">
                <a16:creationId xmlns:a16="http://schemas.microsoft.com/office/drawing/2014/main" id="{AA1619DA-2E56-49A9-825F-DF694273C3CF}"/>
              </a:ext>
            </a:extLst>
          </p:cNvPr>
          <p:cNvSpPr/>
          <p:nvPr/>
        </p:nvSpPr>
        <p:spPr>
          <a:xfrm>
            <a:off x="7892687" y="271793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D3</a:t>
            </a:r>
          </a:p>
        </p:txBody>
      </p:sp>
      <p:sp>
        <p:nvSpPr>
          <p:cNvPr id="18" name="Rectangle 17">
            <a:extLst>
              <a:ext uri="{FF2B5EF4-FFF2-40B4-BE49-F238E27FC236}">
                <a16:creationId xmlns:a16="http://schemas.microsoft.com/office/drawing/2014/main" id="{DD5B2975-4600-4EC9-8E47-0B52D0FF580A}"/>
              </a:ext>
            </a:extLst>
          </p:cNvPr>
          <p:cNvSpPr/>
          <p:nvPr/>
        </p:nvSpPr>
        <p:spPr>
          <a:xfrm>
            <a:off x="8380367" y="272809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D2</a:t>
            </a:r>
          </a:p>
        </p:txBody>
      </p:sp>
      <p:sp>
        <p:nvSpPr>
          <p:cNvPr id="19" name="Rectangle 18">
            <a:extLst>
              <a:ext uri="{FF2B5EF4-FFF2-40B4-BE49-F238E27FC236}">
                <a16:creationId xmlns:a16="http://schemas.microsoft.com/office/drawing/2014/main" id="{FF606464-3D82-4CAA-8521-AF49BA611AC3}"/>
              </a:ext>
            </a:extLst>
          </p:cNvPr>
          <p:cNvSpPr/>
          <p:nvPr/>
        </p:nvSpPr>
        <p:spPr>
          <a:xfrm>
            <a:off x="8878207" y="272809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D1</a:t>
            </a:r>
          </a:p>
        </p:txBody>
      </p:sp>
      <p:sp>
        <p:nvSpPr>
          <p:cNvPr id="20" name="Rectangle 19">
            <a:extLst>
              <a:ext uri="{FF2B5EF4-FFF2-40B4-BE49-F238E27FC236}">
                <a16:creationId xmlns:a16="http://schemas.microsoft.com/office/drawing/2014/main" id="{8560B5A3-064A-484E-84FB-C65C2A130A8F}"/>
              </a:ext>
            </a:extLst>
          </p:cNvPr>
          <p:cNvSpPr/>
          <p:nvPr/>
        </p:nvSpPr>
        <p:spPr>
          <a:xfrm>
            <a:off x="9365887" y="2728091"/>
            <a:ext cx="426720" cy="518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D0</a:t>
            </a:r>
          </a:p>
        </p:txBody>
      </p:sp>
      <p:sp>
        <p:nvSpPr>
          <p:cNvPr id="21" name="Rectangle 20">
            <a:extLst>
              <a:ext uri="{FF2B5EF4-FFF2-40B4-BE49-F238E27FC236}">
                <a16:creationId xmlns:a16="http://schemas.microsoft.com/office/drawing/2014/main" id="{DD272643-92D9-4B74-8581-899FD5DB2E99}"/>
              </a:ext>
            </a:extLst>
          </p:cNvPr>
          <p:cNvSpPr/>
          <p:nvPr/>
        </p:nvSpPr>
        <p:spPr>
          <a:xfrm>
            <a:off x="9843407" y="2728091"/>
            <a:ext cx="426720" cy="51816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ACK</a:t>
            </a:r>
          </a:p>
        </p:txBody>
      </p:sp>
      <p:sp>
        <p:nvSpPr>
          <p:cNvPr id="22" name="Rectangle 21">
            <a:extLst>
              <a:ext uri="{FF2B5EF4-FFF2-40B4-BE49-F238E27FC236}">
                <a16:creationId xmlns:a16="http://schemas.microsoft.com/office/drawing/2014/main" id="{9F6442F5-D0EA-4D9F-B0F1-D1A30D27091B}"/>
              </a:ext>
            </a:extLst>
          </p:cNvPr>
          <p:cNvSpPr/>
          <p:nvPr/>
        </p:nvSpPr>
        <p:spPr>
          <a:xfrm>
            <a:off x="10351407" y="2738251"/>
            <a:ext cx="426720" cy="51816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67" b="1" dirty="0">
                <a:solidFill>
                  <a:schemeClr val="tx1"/>
                </a:solidFill>
                <a:latin typeface="Gill Sans" panose="020B0604020202020204" charset="0"/>
                <a:cs typeface="Gill Sans" panose="020B0604020202020204" charset="0"/>
              </a:rPr>
              <a:t>P</a:t>
            </a:r>
          </a:p>
        </p:txBody>
      </p:sp>
      <p:cxnSp>
        <p:nvCxnSpPr>
          <p:cNvPr id="24" name="Straight Connector 23">
            <a:extLst>
              <a:ext uri="{FF2B5EF4-FFF2-40B4-BE49-F238E27FC236}">
                <a16:creationId xmlns:a16="http://schemas.microsoft.com/office/drawing/2014/main" id="{AA832768-D48C-44FD-9425-33099E859C6F}"/>
              </a:ext>
            </a:extLst>
          </p:cNvPr>
          <p:cNvCxnSpPr/>
          <p:nvPr/>
        </p:nvCxnSpPr>
        <p:spPr>
          <a:xfrm>
            <a:off x="5119243" y="2979729"/>
            <a:ext cx="152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D0FCA4-38C7-4E50-82A7-9CB01200CD16}"/>
              </a:ext>
            </a:extLst>
          </p:cNvPr>
          <p:cNvCxnSpPr>
            <a:stCxn id="11" idx="0"/>
          </p:cNvCxnSpPr>
          <p:nvPr/>
        </p:nvCxnSpPr>
        <p:spPr>
          <a:xfrm flipV="1">
            <a:off x="5190127" y="1447931"/>
            <a:ext cx="0" cy="1270000"/>
          </a:xfrm>
          <a:prstGeom prst="line">
            <a:avLst/>
          </a:prstGeom>
          <a:ln w="381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0E102D4-F381-40EA-8C53-69C517128C7B}"/>
              </a:ext>
            </a:extLst>
          </p:cNvPr>
          <p:cNvCxnSpPr/>
          <p:nvPr/>
        </p:nvCxnSpPr>
        <p:spPr>
          <a:xfrm>
            <a:off x="4478927" y="1447931"/>
            <a:ext cx="1432560" cy="0"/>
          </a:xfrm>
          <a:prstGeom prst="straightConnector1">
            <a:avLst/>
          </a:prstGeom>
          <a:ln w="38100">
            <a:solidFill>
              <a:schemeClr val="tx1">
                <a:lumMod val="9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A125359-3BBC-480A-8E83-DE960C6AE059}"/>
              </a:ext>
            </a:extLst>
          </p:cNvPr>
          <p:cNvSpPr txBox="1"/>
          <p:nvPr/>
        </p:nvSpPr>
        <p:spPr>
          <a:xfrm>
            <a:off x="5830209" y="1122811"/>
            <a:ext cx="3931919" cy="584775"/>
          </a:xfrm>
          <a:prstGeom prst="rect">
            <a:avLst/>
          </a:prstGeom>
          <a:noFill/>
        </p:spPr>
        <p:txBody>
          <a:bodyPr wrap="square" rtlCol="0">
            <a:spAutoFit/>
          </a:bodyPr>
          <a:lstStyle/>
          <a:p>
            <a:r>
              <a:rPr lang="en-US" sz="1600" b="1" dirty="0">
                <a:latin typeface="Gill Sans" panose="020B0604020202020204" charset="0"/>
                <a:cs typeface="Gill Sans" panose="020B0604020202020204" charset="0"/>
              </a:rPr>
              <a:t>R/W = 0 indicates master wants to write/transmit the data to the slave</a:t>
            </a:r>
          </a:p>
        </p:txBody>
      </p:sp>
      <p:cxnSp>
        <p:nvCxnSpPr>
          <p:cNvPr id="32" name="Straight Connector 31">
            <a:extLst>
              <a:ext uri="{FF2B5EF4-FFF2-40B4-BE49-F238E27FC236}">
                <a16:creationId xmlns:a16="http://schemas.microsoft.com/office/drawing/2014/main" id="{DA3AFD18-52E5-415C-8F11-DA38002E345F}"/>
              </a:ext>
            </a:extLst>
          </p:cNvPr>
          <p:cNvCxnSpPr>
            <a:cxnSpLocks/>
          </p:cNvCxnSpPr>
          <p:nvPr/>
        </p:nvCxnSpPr>
        <p:spPr>
          <a:xfrm>
            <a:off x="6135007" y="1187788"/>
            <a:ext cx="2438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2A8FAAC-F042-48E8-8D21-962A19778806}"/>
              </a:ext>
            </a:extLst>
          </p:cNvPr>
          <p:cNvSpPr txBox="1"/>
          <p:nvPr/>
        </p:nvSpPr>
        <p:spPr>
          <a:xfrm>
            <a:off x="948207" y="1141006"/>
            <a:ext cx="3931919" cy="584775"/>
          </a:xfrm>
          <a:prstGeom prst="rect">
            <a:avLst/>
          </a:prstGeom>
          <a:noFill/>
        </p:spPr>
        <p:txBody>
          <a:bodyPr wrap="square" rtlCol="0">
            <a:spAutoFit/>
          </a:bodyPr>
          <a:lstStyle/>
          <a:p>
            <a:r>
              <a:rPr lang="en-US" sz="1600" b="1" dirty="0">
                <a:latin typeface="Gill Sans" panose="020B0604020202020204" charset="0"/>
                <a:cs typeface="Gill Sans" panose="020B0604020202020204" charset="0"/>
              </a:rPr>
              <a:t>R/W = 1 indicates master wants to read/receive the data from the slave</a:t>
            </a:r>
          </a:p>
        </p:txBody>
      </p:sp>
      <p:cxnSp>
        <p:nvCxnSpPr>
          <p:cNvPr id="35" name="Straight Connector 34">
            <a:extLst>
              <a:ext uri="{FF2B5EF4-FFF2-40B4-BE49-F238E27FC236}">
                <a16:creationId xmlns:a16="http://schemas.microsoft.com/office/drawing/2014/main" id="{6E99B111-8F2C-4408-95BE-8FA7CD86142B}"/>
              </a:ext>
            </a:extLst>
          </p:cNvPr>
          <p:cNvCxnSpPr>
            <a:cxnSpLocks/>
          </p:cNvCxnSpPr>
          <p:nvPr/>
        </p:nvCxnSpPr>
        <p:spPr>
          <a:xfrm>
            <a:off x="1253004" y="1189680"/>
            <a:ext cx="2438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531EF36-C4D3-4907-B889-8B07F44E09EC}"/>
              </a:ext>
            </a:extLst>
          </p:cNvPr>
          <p:cNvCxnSpPr/>
          <p:nvPr/>
        </p:nvCxnSpPr>
        <p:spPr>
          <a:xfrm flipV="1">
            <a:off x="1319167" y="3251331"/>
            <a:ext cx="0" cy="655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8" name="Left Brace 37">
            <a:extLst>
              <a:ext uri="{FF2B5EF4-FFF2-40B4-BE49-F238E27FC236}">
                <a16:creationId xmlns:a16="http://schemas.microsoft.com/office/drawing/2014/main" id="{4E72FAD5-85FC-43AF-A755-C456D3953FE1}"/>
              </a:ext>
            </a:extLst>
          </p:cNvPr>
          <p:cNvSpPr/>
          <p:nvPr/>
        </p:nvSpPr>
        <p:spPr>
          <a:xfrm rot="16200000">
            <a:off x="2985043" y="2030609"/>
            <a:ext cx="426720" cy="2979943"/>
          </a:xfrm>
          <a:prstGeom prst="leftBrace">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b="1">
              <a:latin typeface="Gill Sans" panose="020B0604020202020204" charset="0"/>
              <a:cs typeface="Gill Sans" panose="020B0604020202020204" charset="0"/>
            </a:endParaRPr>
          </a:p>
        </p:txBody>
      </p:sp>
      <p:sp>
        <p:nvSpPr>
          <p:cNvPr id="40" name="Left Brace 39">
            <a:extLst>
              <a:ext uri="{FF2B5EF4-FFF2-40B4-BE49-F238E27FC236}">
                <a16:creationId xmlns:a16="http://schemas.microsoft.com/office/drawing/2014/main" id="{55979C3C-0F52-443E-BB5E-636EF5BC42FD}"/>
              </a:ext>
            </a:extLst>
          </p:cNvPr>
          <p:cNvSpPr/>
          <p:nvPr/>
        </p:nvSpPr>
        <p:spPr>
          <a:xfrm rot="16200000">
            <a:off x="7623443" y="1822685"/>
            <a:ext cx="518160" cy="3373111"/>
          </a:xfrm>
          <a:prstGeom prst="leftBrac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b="1">
              <a:latin typeface="Gill Sans" panose="020B0604020202020204" charset="0"/>
              <a:cs typeface="Gill Sans" panose="020B0604020202020204" charset="0"/>
            </a:endParaRPr>
          </a:p>
        </p:txBody>
      </p:sp>
      <p:sp>
        <p:nvSpPr>
          <p:cNvPr id="41" name="TextBox 40">
            <a:extLst>
              <a:ext uri="{FF2B5EF4-FFF2-40B4-BE49-F238E27FC236}">
                <a16:creationId xmlns:a16="http://schemas.microsoft.com/office/drawing/2014/main" id="{E0236EAA-1E94-4D5F-BF73-624A2CF36EA8}"/>
              </a:ext>
            </a:extLst>
          </p:cNvPr>
          <p:cNvSpPr txBox="1"/>
          <p:nvPr/>
        </p:nvSpPr>
        <p:spPr>
          <a:xfrm>
            <a:off x="719735" y="3987931"/>
            <a:ext cx="1209031" cy="584775"/>
          </a:xfrm>
          <a:prstGeom prst="rect">
            <a:avLst/>
          </a:prstGeom>
          <a:noFill/>
        </p:spPr>
        <p:txBody>
          <a:bodyPr wrap="square" rtlCol="0">
            <a:spAutoFit/>
          </a:bodyPr>
          <a:lstStyle/>
          <a:p>
            <a:pPr algn="ctr"/>
            <a:r>
              <a:rPr lang="en-US" sz="1600" b="1" dirty="0">
                <a:latin typeface="Gill Sans" panose="020B0604020202020204" charset="0"/>
                <a:cs typeface="Gill Sans" panose="020B0604020202020204" charset="0"/>
              </a:rPr>
              <a:t>Start Condition</a:t>
            </a:r>
          </a:p>
        </p:txBody>
      </p:sp>
      <p:sp>
        <p:nvSpPr>
          <p:cNvPr id="42" name="TextBox 41">
            <a:extLst>
              <a:ext uri="{FF2B5EF4-FFF2-40B4-BE49-F238E27FC236}">
                <a16:creationId xmlns:a16="http://schemas.microsoft.com/office/drawing/2014/main" id="{D66DE528-9B5E-45D2-8F84-618F7E036157}"/>
              </a:ext>
            </a:extLst>
          </p:cNvPr>
          <p:cNvSpPr txBox="1"/>
          <p:nvPr/>
        </p:nvSpPr>
        <p:spPr>
          <a:xfrm>
            <a:off x="2065336" y="3801975"/>
            <a:ext cx="2301243" cy="584775"/>
          </a:xfrm>
          <a:prstGeom prst="rect">
            <a:avLst/>
          </a:prstGeom>
          <a:noFill/>
        </p:spPr>
        <p:txBody>
          <a:bodyPr wrap="square" rtlCol="0">
            <a:spAutoFit/>
          </a:bodyPr>
          <a:lstStyle/>
          <a:p>
            <a:r>
              <a:rPr lang="en-US" sz="1600" b="1" dirty="0">
                <a:latin typeface="Gill Sans" panose="020B0604020202020204" charset="0"/>
                <a:cs typeface="Gill Sans" panose="020B0604020202020204" charset="0"/>
              </a:rPr>
              <a:t>7 or 10 – bit Address of the slave device</a:t>
            </a:r>
          </a:p>
        </p:txBody>
      </p:sp>
      <p:cxnSp>
        <p:nvCxnSpPr>
          <p:cNvPr id="43" name="Straight Arrow Connector 42">
            <a:extLst>
              <a:ext uri="{FF2B5EF4-FFF2-40B4-BE49-F238E27FC236}">
                <a16:creationId xmlns:a16="http://schemas.microsoft.com/office/drawing/2014/main" id="{5AE6ED72-879C-4BE6-8597-31FEFF03030B}"/>
              </a:ext>
            </a:extLst>
          </p:cNvPr>
          <p:cNvCxnSpPr/>
          <p:nvPr/>
        </p:nvCxnSpPr>
        <p:spPr>
          <a:xfrm flipV="1">
            <a:off x="5159647" y="3261491"/>
            <a:ext cx="0" cy="655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D2EE831-4977-475B-85E3-B1A498BCF446}"/>
              </a:ext>
            </a:extLst>
          </p:cNvPr>
          <p:cNvSpPr txBox="1"/>
          <p:nvPr/>
        </p:nvSpPr>
        <p:spPr>
          <a:xfrm>
            <a:off x="4435928" y="3927206"/>
            <a:ext cx="1432560" cy="584775"/>
          </a:xfrm>
          <a:prstGeom prst="rect">
            <a:avLst/>
          </a:prstGeom>
          <a:noFill/>
        </p:spPr>
        <p:txBody>
          <a:bodyPr wrap="square" rtlCol="0">
            <a:spAutoFit/>
          </a:bodyPr>
          <a:lstStyle/>
          <a:p>
            <a:pPr algn="ctr"/>
            <a:r>
              <a:rPr lang="en-US" sz="1600" b="1" dirty="0">
                <a:latin typeface="Gill Sans" panose="020B0604020202020204" charset="0"/>
                <a:cs typeface="Gill Sans" panose="020B0604020202020204" charset="0"/>
              </a:rPr>
              <a:t>Read/Write bit</a:t>
            </a:r>
          </a:p>
        </p:txBody>
      </p:sp>
      <p:cxnSp>
        <p:nvCxnSpPr>
          <p:cNvPr id="45" name="Straight Arrow Connector 44">
            <a:extLst>
              <a:ext uri="{FF2B5EF4-FFF2-40B4-BE49-F238E27FC236}">
                <a16:creationId xmlns:a16="http://schemas.microsoft.com/office/drawing/2014/main" id="{84A66A8D-D3AB-49B5-834E-81D738B97191}"/>
              </a:ext>
            </a:extLst>
          </p:cNvPr>
          <p:cNvCxnSpPr/>
          <p:nvPr/>
        </p:nvCxnSpPr>
        <p:spPr>
          <a:xfrm flipV="1">
            <a:off x="10056767" y="3271651"/>
            <a:ext cx="0" cy="655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B9BC702-B3E7-476D-A2FE-EE18AA186157}"/>
              </a:ext>
            </a:extLst>
          </p:cNvPr>
          <p:cNvSpPr txBox="1"/>
          <p:nvPr/>
        </p:nvSpPr>
        <p:spPr>
          <a:xfrm>
            <a:off x="9244679" y="4008251"/>
            <a:ext cx="1637995" cy="584775"/>
          </a:xfrm>
          <a:prstGeom prst="rect">
            <a:avLst/>
          </a:prstGeom>
          <a:noFill/>
        </p:spPr>
        <p:txBody>
          <a:bodyPr wrap="square" rtlCol="0">
            <a:spAutoFit/>
          </a:bodyPr>
          <a:lstStyle/>
          <a:p>
            <a:pPr algn="ctr"/>
            <a:r>
              <a:rPr lang="en-US" sz="1600" b="1" dirty="0">
                <a:latin typeface="Gill Sans" panose="020B0604020202020204" charset="0"/>
                <a:cs typeface="Gill Sans" panose="020B0604020202020204" charset="0"/>
              </a:rPr>
              <a:t>Data Acknowledge bit</a:t>
            </a:r>
          </a:p>
        </p:txBody>
      </p:sp>
      <p:cxnSp>
        <p:nvCxnSpPr>
          <p:cNvPr id="47" name="Straight Arrow Connector 46">
            <a:extLst>
              <a:ext uri="{FF2B5EF4-FFF2-40B4-BE49-F238E27FC236}">
                <a16:creationId xmlns:a16="http://schemas.microsoft.com/office/drawing/2014/main" id="{E4C49D86-4B78-40B5-8F81-168BC09FFA26}"/>
              </a:ext>
            </a:extLst>
          </p:cNvPr>
          <p:cNvCxnSpPr>
            <a:cxnSpLocks/>
          </p:cNvCxnSpPr>
          <p:nvPr/>
        </p:nvCxnSpPr>
        <p:spPr>
          <a:xfrm flipV="1">
            <a:off x="10571143" y="3210691"/>
            <a:ext cx="0" cy="3302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569F012-7DB0-49E0-AA25-CB5C6294E2ED}"/>
              </a:ext>
            </a:extLst>
          </p:cNvPr>
          <p:cNvSpPr txBox="1"/>
          <p:nvPr/>
        </p:nvSpPr>
        <p:spPr>
          <a:xfrm>
            <a:off x="9943357" y="3540892"/>
            <a:ext cx="1351263" cy="338554"/>
          </a:xfrm>
          <a:prstGeom prst="rect">
            <a:avLst/>
          </a:prstGeom>
          <a:noFill/>
        </p:spPr>
        <p:txBody>
          <a:bodyPr wrap="square" rtlCol="0">
            <a:spAutoFit/>
          </a:bodyPr>
          <a:lstStyle/>
          <a:p>
            <a:pPr algn="ctr"/>
            <a:r>
              <a:rPr lang="en-US" sz="1600" b="1" dirty="0">
                <a:latin typeface="Gill Sans" panose="020B0604020202020204" charset="0"/>
                <a:cs typeface="Gill Sans" panose="020B0604020202020204" charset="0"/>
              </a:rPr>
              <a:t>Stop bit</a:t>
            </a:r>
          </a:p>
        </p:txBody>
      </p:sp>
      <p:cxnSp>
        <p:nvCxnSpPr>
          <p:cNvPr id="50" name="Straight Arrow Connector 49">
            <a:extLst>
              <a:ext uri="{FF2B5EF4-FFF2-40B4-BE49-F238E27FC236}">
                <a16:creationId xmlns:a16="http://schemas.microsoft.com/office/drawing/2014/main" id="{1AAC4C3A-0747-450A-8E96-51CEC8ECE2E6}"/>
              </a:ext>
            </a:extLst>
          </p:cNvPr>
          <p:cNvCxnSpPr>
            <a:cxnSpLocks/>
          </p:cNvCxnSpPr>
          <p:nvPr/>
        </p:nvCxnSpPr>
        <p:spPr>
          <a:xfrm flipV="1">
            <a:off x="5814968" y="3337691"/>
            <a:ext cx="5081" cy="12903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AB852F6-FAA3-4230-9B94-77D1AF8D5FF6}"/>
              </a:ext>
            </a:extLst>
          </p:cNvPr>
          <p:cNvSpPr txBox="1"/>
          <p:nvPr/>
        </p:nvSpPr>
        <p:spPr>
          <a:xfrm>
            <a:off x="4701260" y="4628011"/>
            <a:ext cx="2255520" cy="584775"/>
          </a:xfrm>
          <a:prstGeom prst="rect">
            <a:avLst/>
          </a:prstGeom>
          <a:noFill/>
        </p:spPr>
        <p:txBody>
          <a:bodyPr wrap="square" rtlCol="0">
            <a:spAutoFit/>
          </a:bodyPr>
          <a:lstStyle/>
          <a:p>
            <a:pPr algn="ctr"/>
            <a:r>
              <a:rPr lang="en-US" sz="1600" b="1" dirty="0">
                <a:latin typeface="Gill Sans" panose="020B0604020202020204" charset="0"/>
                <a:cs typeface="Gill Sans" panose="020B0604020202020204" charset="0"/>
              </a:rPr>
              <a:t>Address matching Slave acknowledges </a:t>
            </a:r>
          </a:p>
        </p:txBody>
      </p:sp>
      <p:sp>
        <p:nvSpPr>
          <p:cNvPr id="54" name="TextBox 53">
            <a:extLst>
              <a:ext uri="{FF2B5EF4-FFF2-40B4-BE49-F238E27FC236}">
                <a16:creationId xmlns:a16="http://schemas.microsoft.com/office/drawing/2014/main" id="{11AD01B0-BE39-43B1-AE86-A68FCEAF8ED0}"/>
              </a:ext>
            </a:extLst>
          </p:cNvPr>
          <p:cNvSpPr txBox="1"/>
          <p:nvPr/>
        </p:nvSpPr>
        <p:spPr>
          <a:xfrm>
            <a:off x="1270012" y="5282968"/>
            <a:ext cx="10794413" cy="1323632"/>
          </a:xfrm>
          <a:prstGeom prst="rect">
            <a:avLst/>
          </a:prstGeom>
          <a:noFill/>
        </p:spPr>
        <p:txBody>
          <a:bodyPr wrap="square" rtlCol="0">
            <a:spAutoFit/>
          </a:bodyPr>
          <a:lstStyle/>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Every byte put on SDA line must be 8-bit long</a:t>
            </a:r>
          </a:p>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Each byte must be followed by an acknowledgement bit</a:t>
            </a:r>
          </a:p>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Data is transferred with the MSB first</a:t>
            </a:r>
          </a:p>
        </p:txBody>
      </p:sp>
      <p:sp>
        <p:nvSpPr>
          <p:cNvPr id="49" name="TextBox 48">
            <a:extLst>
              <a:ext uri="{FF2B5EF4-FFF2-40B4-BE49-F238E27FC236}">
                <a16:creationId xmlns:a16="http://schemas.microsoft.com/office/drawing/2014/main" id="{E64C284E-5B01-403B-94F7-854BE5E2DD88}"/>
              </a:ext>
            </a:extLst>
          </p:cNvPr>
          <p:cNvSpPr txBox="1"/>
          <p:nvPr/>
        </p:nvSpPr>
        <p:spPr>
          <a:xfrm>
            <a:off x="7226141" y="3758270"/>
            <a:ext cx="1351263" cy="338554"/>
          </a:xfrm>
          <a:prstGeom prst="rect">
            <a:avLst/>
          </a:prstGeom>
          <a:noFill/>
        </p:spPr>
        <p:txBody>
          <a:bodyPr wrap="square" rtlCol="0">
            <a:spAutoFit/>
          </a:bodyPr>
          <a:lstStyle/>
          <a:p>
            <a:pPr algn="ctr"/>
            <a:r>
              <a:rPr lang="en-IN" sz="1600" b="1" dirty="0">
                <a:latin typeface="Gill Sans" panose="020B0604020202020204" charset="0"/>
                <a:cs typeface="Gill Sans" panose="020B0604020202020204" charset="0"/>
              </a:rPr>
              <a:t>D</a:t>
            </a:r>
            <a:r>
              <a:rPr lang="en-US" sz="1600" b="1" dirty="0">
                <a:latin typeface="Gill Sans" panose="020B0604020202020204" charset="0"/>
                <a:cs typeface="Gill Sans" panose="020B0604020202020204" charset="0"/>
              </a:rPr>
              <a:t>ata bits</a:t>
            </a:r>
          </a:p>
        </p:txBody>
      </p:sp>
    </p:spTree>
    <p:extLst>
      <p:ext uri="{BB962C8B-B14F-4D97-AF65-F5344CB8AC3E}">
        <p14:creationId xmlns:p14="http://schemas.microsoft.com/office/powerpoint/2010/main" val="4094190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6DAB1A-574B-4922-861A-CB34D43D6FBD}"/>
              </a:ext>
            </a:extLst>
          </p:cNvPr>
          <p:cNvSpPr txBox="1"/>
          <p:nvPr/>
        </p:nvSpPr>
        <p:spPr>
          <a:xfrm>
            <a:off x="1015639" y="346389"/>
            <a:ext cx="10154919" cy="748988"/>
          </a:xfrm>
          <a:prstGeom prst="rect">
            <a:avLst/>
          </a:prstGeom>
          <a:noFill/>
        </p:spPr>
        <p:txBody>
          <a:bodyPr wrap="square" rtlCol="0">
            <a:spAutoFit/>
          </a:bodyPr>
          <a:lstStyle/>
          <a:p>
            <a:pPr algn="ctr"/>
            <a:r>
              <a:rPr lang="en-US" sz="4267" b="1" dirty="0">
                <a:latin typeface="Helvetica Neue" panose="020B0604020202020204" charset="0"/>
                <a:cs typeface="Helvetica Neue" panose="020B0604020202020204" charset="0"/>
              </a:rPr>
              <a:t>I2C START and STOP Conditions</a:t>
            </a:r>
          </a:p>
        </p:txBody>
      </p:sp>
      <p:sp>
        <p:nvSpPr>
          <p:cNvPr id="3" name="TextBox 2">
            <a:extLst>
              <a:ext uri="{FF2B5EF4-FFF2-40B4-BE49-F238E27FC236}">
                <a16:creationId xmlns:a16="http://schemas.microsoft.com/office/drawing/2014/main" id="{D1054D4F-A7A0-4BAB-9F8D-2ED3E2798808}"/>
              </a:ext>
            </a:extLst>
          </p:cNvPr>
          <p:cNvSpPr txBox="1"/>
          <p:nvPr/>
        </p:nvSpPr>
        <p:spPr>
          <a:xfrm>
            <a:off x="623777" y="3879069"/>
            <a:ext cx="10873561" cy="2574807"/>
          </a:xfrm>
          <a:prstGeom prst="rect">
            <a:avLst/>
          </a:prstGeom>
          <a:noFill/>
        </p:spPr>
        <p:txBody>
          <a:bodyPr wrap="square" rtlCol="0">
            <a:spAutoFit/>
          </a:bodyPr>
          <a:lstStyle/>
          <a:p>
            <a:pPr marL="342891" indent="-342891">
              <a:buFont typeface="Arial" panose="020B0604020202020204" pitchFamily="34" charset="0"/>
              <a:buChar char="•"/>
            </a:pPr>
            <a:r>
              <a:rPr lang="en-US" sz="2933" dirty="0">
                <a:latin typeface="Gill Sans" panose="020B0604020202020204" charset="0"/>
                <a:cs typeface="Gill Sans" panose="020B0604020202020204" charset="0"/>
              </a:rPr>
              <a:t>A HIGH to LOW transition on the SDA line while SCL is HIGH defines a START condition.</a:t>
            </a:r>
          </a:p>
          <a:p>
            <a:pPr marL="342891" indent="-342891">
              <a:buFont typeface="Arial" panose="020B0604020202020204" pitchFamily="34" charset="0"/>
              <a:buChar char="•"/>
            </a:pPr>
            <a:endParaRPr lang="en-US" sz="800"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2933" dirty="0">
                <a:latin typeface="Gill Sans" panose="020B0604020202020204" charset="0"/>
                <a:cs typeface="Gill Sans" panose="020B0604020202020204" charset="0"/>
              </a:rPr>
              <a:t>A LOW to HIGH transition on the SDA line while SCL is HIGH defines a STOP condition.</a:t>
            </a:r>
          </a:p>
          <a:p>
            <a:pPr marL="342891" indent="-342891">
              <a:buFont typeface="Arial" panose="020B0604020202020204" pitchFamily="34" charset="0"/>
              <a:buChar char="•"/>
            </a:pPr>
            <a:endParaRPr lang="en-US" sz="667"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2933" dirty="0">
                <a:latin typeface="Gill Sans" panose="020B0604020202020204" charset="0"/>
                <a:cs typeface="Gill Sans" panose="020B0604020202020204" charset="0"/>
              </a:rPr>
              <a:t>After bus is released both the SDA and SCL lines stays HIGH</a:t>
            </a:r>
          </a:p>
        </p:txBody>
      </p:sp>
      <p:pic>
        <p:nvPicPr>
          <p:cNvPr id="5" name="Picture 4">
            <a:extLst>
              <a:ext uri="{FF2B5EF4-FFF2-40B4-BE49-F238E27FC236}">
                <a16:creationId xmlns:a16="http://schemas.microsoft.com/office/drawing/2014/main" id="{73DB0879-E5E3-4EFA-B39E-D69BC9815A4E}"/>
              </a:ext>
            </a:extLst>
          </p:cNvPr>
          <p:cNvPicPr>
            <a:picLocks noChangeAspect="1"/>
          </p:cNvPicPr>
          <p:nvPr/>
        </p:nvPicPr>
        <p:blipFill>
          <a:blip r:embed="rId3"/>
          <a:stretch>
            <a:fillRect/>
          </a:stretch>
        </p:blipFill>
        <p:spPr>
          <a:xfrm>
            <a:off x="2352150" y="1190845"/>
            <a:ext cx="7231321" cy="2605841"/>
          </a:xfrm>
          <a:prstGeom prst="rect">
            <a:avLst/>
          </a:prstGeom>
        </p:spPr>
      </p:pic>
    </p:spTree>
    <p:extLst>
      <p:ext uri="{BB962C8B-B14F-4D97-AF65-F5344CB8AC3E}">
        <p14:creationId xmlns:p14="http://schemas.microsoft.com/office/powerpoint/2010/main" val="3254355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Rounded Corners 44">
            <a:extLst>
              <a:ext uri="{FF2B5EF4-FFF2-40B4-BE49-F238E27FC236}">
                <a16:creationId xmlns:a16="http://schemas.microsoft.com/office/drawing/2014/main" id="{8F77BE28-A5D9-405E-9740-1FF9D91059DE}"/>
              </a:ext>
            </a:extLst>
          </p:cNvPr>
          <p:cNvSpPr/>
          <p:nvPr/>
        </p:nvSpPr>
        <p:spPr>
          <a:xfrm>
            <a:off x="7756836" y="2459357"/>
            <a:ext cx="4352261" cy="2381692"/>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7" name="TextBox 6">
            <a:extLst>
              <a:ext uri="{FF2B5EF4-FFF2-40B4-BE49-F238E27FC236}">
                <a16:creationId xmlns:a16="http://schemas.microsoft.com/office/drawing/2014/main" id="{E5045C5D-A499-4CC6-8073-C3FBEAFB148F}"/>
              </a:ext>
            </a:extLst>
          </p:cNvPr>
          <p:cNvSpPr txBox="1"/>
          <p:nvPr/>
        </p:nvSpPr>
        <p:spPr>
          <a:xfrm>
            <a:off x="429601" y="1239515"/>
            <a:ext cx="7261079" cy="5376536"/>
          </a:xfrm>
          <a:prstGeom prst="rect">
            <a:avLst/>
          </a:prstGeom>
          <a:noFill/>
        </p:spPr>
        <p:txBody>
          <a:bodyPr wrap="square">
            <a:spAutoFit/>
          </a:bodyPr>
          <a:lstStyle/>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ACK means SDA line is pulled to LOW while SCL is HIGH.</a:t>
            </a:r>
          </a:p>
          <a:p>
            <a:endParaRPr lang="en-US" sz="1400"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NACK means SDA line is pulled to HIGH while SCL is HIGH.</a:t>
            </a:r>
          </a:p>
          <a:p>
            <a:endParaRPr lang="en-US" sz="1600"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When master receives NACK then either it abnormally terminates the transaction by generating STOP condition or generates repeated START condition to start a new transfer.</a:t>
            </a:r>
          </a:p>
          <a:p>
            <a:endParaRPr lang="en-US" sz="1600"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2667" dirty="0">
                <a:latin typeface="Gill Sans" panose="020B0604020202020204" charset="0"/>
                <a:cs typeface="Gill Sans" panose="020B0604020202020204" charset="0"/>
              </a:rPr>
              <a:t>The acknowledgement takes place after every byte.</a:t>
            </a:r>
          </a:p>
        </p:txBody>
      </p:sp>
      <p:sp>
        <p:nvSpPr>
          <p:cNvPr id="8" name="TextBox 7">
            <a:extLst>
              <a:ext uri="{FF2B5EF4-FFF2-40B4-BE49-F238E27FC236}">
                <a16:creationId xmlns:a16="http://schemas.microsoft.com/office/drawing/2014/main" id="{69512409-2EAE-427C-84F0-E5D1697C6B10}"/>
              </a:ext>
            </a:extLst>
          </p:cNvPr>
          <p:cNvSpPr txBox="1"/>
          <p:nvPr/>
        </p:nvSpPr>
        <p:spPr>
          <a:xfrm>
            <a:off x="1366522" y="398832"/>
            <a:ext cx="10154919" cy="748988"/>
          </a:xfrm>
          <a:prstGeom prst="rect">
            <a:avLst/>
          </a:prstGeom>
          <a:noFill/>
        </p:spPr>
        <p:txBody>
          <a:bodyPr wrap="square" rtlCol="0">
            <a:spAutoFit/>
          </a:bodyPr>
          <a:lstStyle/>
          <a:p>
            <a:pPr algn="ctr"/>
            <a:r>
              <a:rPr lang="en-US" sz="4267" b="1" dirty="0">
                <a:latin typeface="Helvetica Neue" panose="020B0604020202020204" charset="0"/>
                <a:cs typeface="Helvetica Neue" panose="020B0604020202020204" charset="0"/>
              </a:rPr>
              <a:t>ACK and NACK Conditions</a:t>
            </a:r>
          </a:p>
        </p:txBody>
      </p:sp>
      <p:cxnSp>
        <p:nvCxnSpPr>
          <p:cNvPr id="6" name="Straight Connector 5">
            <a:extLst>
              <a:ext uri="{FF2B5EF4-FFF2-40B4-BE49-F238E27FC236}">
                <a16:creationId xmlns:a16="http://schemas.microsoft.com/office/drawing/2014/main" id="{52A0605F-EEBC-4B76-A56C-7804B07FB903}"/>
              </a:ext>
            </a:extLst>
          </p:cNvPr>
          <p:cNvCxnSpPr>
            <a:cxnSpLocks/>
          </p:cNvCxnSpPr>
          <p:nvPr/>
        </p:nvCxnSpPr>
        <p:spPr>
          <a:xfrm>
            <a:off x="8820092" y="2785419"/>
            <a:ext cx="212652" cy="0"/>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340FCAD-89E9-4435-82A6-93372FF91E22}"/>
              </a:ext>
            </a:extLst>
          </p:cNvPr>
          <p:cNvCxnSpPr/>
          <p:nvPr/>
        </p:nvCxnSpPr>
        <p:spPr>
          <a:xfrm>
            <a:off x="9032744" y="2785419"/>
            <a:ext cx="226828" cy="496187"/>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74DF043-C724-4E83-908E-CD6EAE99993F}"/>
              </a:ext>
            </a:extLst>
          </p:cNvPr>
          <p:cNvCxnSpPr>
            <a:cxnSpLocks/>
          </p:cNvCxnSpPr>
          <p:nvPr/>
        </p:nvCxnSpPr>
        <p:spPr>
          <a:xfrm flipV="1">
            <a:off x="9250121" y="3267429"/>
            <a:ext cx="562343" cy="14177"/>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32370E9-A905-44B5-89B2-18B74F576E7D}"/>
              </a:ext>
            </a:extLst>
          </p:cNvPr>
          <p:cNvCxnSpPr>
            <a:cxnSpLocks/>
          </p:cNvCxnSpPr>
          <p:nvPr/>
        </p:nvCxnSpPr>
        <p:spPr>
          <a:xfrm flipH="1">
            <a:off x="9803021" y="2785419"/>
            <a:ext cx="179567" cy="500912"/>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3391C64-88F5-4CC4-9FE5-2865F95598B5}"/>
              </a:ext>
            </a:extLst>
          </p:cNvPr>
          <p:cNvCxnSpPr>
            <a:cxnSpLocks/>
          </p:cNvCxnSpPr>
          <p:nvPr/>
        </p:nvCxnSpPr>
        <p:spPr>
          <a:xfrm>
            <a:off x="9958962" y="2804313"/>
            <a:ext cx="1313709" cy="0"/>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DD25531-C45A-486A-BF98-1FC0CA0A26C9}"/>
              </a:ext>
            </a:extLst>
          </p:cNvPr>
          <p:cNvCxnSpPr>
            <a:cxnSpLocks/>
          </p:cNvCxnSpPr>
          <p:nvPr/>
        </p:nvCxnSpPr>
        <p:spPr>
          <a:xfrm>
            <a:off x="9037469" y="4207831"/>
            <a:ext cx="212652" cy="0"/>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FC2AC9E-7131-4A87-BF15-87647BE441D8}"/>
              </a:ext>
            </a:extLst>
          </p:cNvPr>
          <p:cNvCxnSpPr>
            <a:cxnSpLocks/>
          </p:cNvCxnSpPr>
          <p:nvPr/>
        </p:nvCxnSpPr>
        <p:spPr>
          <a:xfrm flipH="1">
            <a:off x="9235949" y="3725812"/>
            <a:ext cx="198472" cy="500912"/>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81648DE-20BC-4CD0-909F-FE145E0E15E3}"/>
              </a:ext>
            </a:extLst>
          </p:cNvPr>
          <p:cNvCxnSpPr/>
          <p:nvPr/>
        </p:nvCxnSpPr>
        <p:spPr>
          <a:xfrm>
            <a:off x="9406059" y="3739981"/>
            <a:ext cx="368595" cy="0"/>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812A3D7-4251-4631-B537-23D5B9F5B9DC}"/>
              </a:ext>
            </a:extLst>
          </p:cNvPr>
          <p:cNvCxnSpPr>
            <a:cxnSpLocks/>
          </p:cNvCxnSpPr>
          <p:nvPr/>
        </p:nvCxnSpPr>
        <p:spPr>
          <a:xfrm>
            <a:off x="9788836" y="3725812"/>
            <a:ext cx="203204" cy="500912"/>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7937C12-776B-46B0-90F9-8234B38DFA82}"/>
              </a:ext>
            </a:extLst>
          </p:cNvPr>
          <p:cNvCxnSpPr>
            <a:cxnSpLocks/>
          </p:cNvCxnSpPr>
          <p:nvPr/>
        </p:nvCxnSpPr>
        <p:spPr>
          <a:xfrm flipV="1">
            <a:off x="9996764" y="4184191"/>
            <a:ext cx="619053" cy="33079"/>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4A2A97A-F118-4773-8BE3-A23048B15DBA}"/>
              </a:ext>
            </a:extLst>
          </p:cNvPr>
          <p:cNvCxnSpPr>
            <a:cxnSpLocks/>
          </p:cNvCxnSpPr>
          <p:nvPr/>
        </p:nvCxnSpPr>
        <p:spPr>
          <a:xfrm flipH="1">
            <a:off x="10587469" y="3688000"/>
            <a:ext cx="198472" cy="500912"/>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4C497D5-1C9B-4658-964C-898C25E4381E}"/>
              </a:ext>
            </a:extLst>
          </p:cNvPr>
          <p:cNvCxnSpPr/>
          <p:nvPr/>
        </p:nvCxnSpPr>
        <p:spPr>
          <a:xfrm>
            <a:off x="10757579" y="3702169"/>
            <a:ext cx="368595" cy="0"/>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94EE833-9786-445F-8771-37460602D41B}"/>
              </a:ext>
            </a:extLst>
          </p:cNvPr>
          <p:cNvCxnSpPr>
            <a:cxnSpLocks/>
          </p:cNvCxnSpPr>
          <p:nvPr/>
        </p:nvCxnSpPr>
        <p:spPr>
          <a:xfrm>
            <a:off x="11140356" y="3688000"/>
            <a:ext cx="203204" cy="500912"/>
          </a:xfrm>
          <a:prstGeom prst="line">
            <a:avLst/>
          </a:prstGeom>
          <a:ln w="19050"/>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507580-E153-48D0-BE9C-3D5C2527CA79}"/>
              </a:ext>
            </a:extLst>
          </p:cNvPr>
          <p:cNvCxnSpPr>
            <a:cxnSpLocks/>
          </p:cNvCxnSpPr>
          <p:nvPr/>
        </p:nvCxnSpPr>
        <p:spPr>
          <a:xfrm flipV="1">
            <a:off x="8494028" y="2766527"/>
            <a:ext cx="3459127" cy="18892"/>
          </a:xfrm>
          <a:prstGeom prst="line">
            <a:avLst/>
          </a:prstGeom>
          <a:ln w="19050">
            <a:prstDash val="sysDash"/>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CA687F0-50F1-4E77-866D-6EFAAE701207}"/>
              </a:ext>
            </a:extLst>
          </p:cNvPr>
          <p:cNvCxnSpPr>
            <a:cxnSpLocks/>
          </p:cNvCxnSpPr>
          <p:nvPr/>
        </p:nvCxnSpPr>
        <p:spPr>
          <a:xfrm flipV="1">
            <a:off x="8498748" y="3253266"/>
            <a:ext cx="3459127" cy="18892"/>
          </a:xfrm>
          <a:prstGeom prst="line">
            <a:avLst/>
          </a:prstGeom>
          <a:ln w="19050">
            <a:prstDash val="sysDash"/>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0C4DCFD-F8A8-4AA7-90A7-811511E7C754}"/>
              </a:ext>
            </a:extLst>
          </p:cNvPr>
          <p:cNvCxnSpPr>
            <a:cxnSpLocks/>
          </p:cNvCxnSpPr>
          <p:nvPr/>
        </p:nvCxnSpPr>
        <p:spPr>
          <a:xfrm flipV="1">
            <a:off x="8460941" y="3697475"/>
            <a:ext cx="3459127" cy="18892"/>
          </a:xfrm>
          <a:prstGeom prst="line">
            <a:avLst/>
          </a:prstGeom>
          <a:ln w="19050">
            <a:prstDash val="sysDash"/>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BC5852C7-E7A6-456F-B289-005488930BC1}"/>
              </a:ext>
            </a:extLst>
          </p:cNvPr>
          <p:cNvCxnSpPr>
            <a:cxnSpLocks/>
          </p:cNvCxnSpPr>
          <p:nvPr/>
        </p:nvCxnSpPr>
        <p:spPr>
          <a:xfrm flipV="1">
            <a:off x="8465665" y="4198391"/>
            <a:ext cx="3459127" cy="18892"/>
          </a:xfrm>
          <a:prstGeom prst="line">
            <a:avLst/>
          </a:prstGeom>
          <a:ln w="19050">
            <a:prstDash val="sysDash"/>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BEC7493-5CD6-4B50-ADAE-62BE1566A474}"/>
              </a:ext>
            </a:extLst>
          </p:cNvPr>
          <p:cNvSpPr txBox="1"/>
          <p:nvPr/>
        </p:nvSpPr>
        <p:spPr>
          <a:xfrm>
            <a:off x="9179237" y="4344858"/>
            <a:ext cx="874231" cy="338554"/>
          </a:xfrm>
          <a:prstGeom prst="rect">
            <a:avLst/>
          </a:prstGeom>
          <a:noFill/>
        </p:spPr>
        <p:txBody>
          <a:bodyPr wrap="square" rtlCol="0">
            <a:spAutoFit/>
          </a:bodyPr>
          <a:lstStyle/>
          <a:p>
            <a:pPr algn="ctr"/>
            <a:r>
              <a:rPr lang="en-IN" sz="1600" b="1" dirty="0"/>
              <a:t>ACK</a:t>
            </a:r>
            <a:endParaRPr lang="en-US" sz="1600" b="1" dirty="0"/>
          </a:p>
        </p:txBody>
      </p:sp>
      <p:sp>
        <p:nvSpPr>
          <p:cNvPr id="46" name="TextBox 45">
            <a:extLst>
              <a:ext uri="{FF2B5EF4-FFF2-40B4-BE49-F238E27FC236}">
                <a16:creationId xmlns:a16="http://schemas.microsoft.com/office/drawing/2014/main" id="{17CB2985-FD68-47A3-A43F-ADD4EC6B39A3}"/>
              </a:ext>
            </a:extLst>
          </p:cNvPr>
          <p:cNvSpPr txBox="1"/>
          <p:nvPr/>
        </p:nvSpPr>
        <p:spPr>
          <a:xfrm>
            <a:off x="10530757" y="4335403"/>
            <a:ext cx="874231" cy="338554"/>
          </a:xfrm>
          <a:prstGeom prst="rect">
            <a:avLst/>
          </a:prstGeom>
          <a:noFill/>
        </p:spPr>
        <p:txBody>
          <a:bodyPr wrap="square" rtlCol="0">
            <a:spAutoFit/>
          </a:bodyPr>
          <a:lstStyle/>
          <a:p>
            <a:pPr algn="ctr"/>
            <a:r>
              <a:rPr lang="en-IN" sz="1600" b="1" dirty="0"/>
              <a:t>NACK</a:t>
            </a:r>
            <a:endParaRPr lang="en-US" sz="1600" b="1" dirty="0"/>
          </a:p>
        </p:txBody>
      </p:sp>
      <p:sp>
        <p:nvSpPr>
          <p:cNvPr id="47" name="TextBox 46">
            <a:extLst>
              <a:ext uri="{FF2B5EF4-FFF2-40B4-BE49-F238E27FC236}">
                <a16:creationId xmlns:a16="http://schemas.microsoft.com/office/drawing/2014/main" id="{2DC4E1F4-7BCB-458D-B4D1-C2A72781634F}"/>
              </a:ext>
            </a:extLst>
          </p:cNvPr>
          <p:cNvSpPr txBox="1"/>
          <p:nvPr/>
        </p:nvSpPr>
        <p:spPr>
          <a:xfrm>
            <a:off x="7695404" y="3810870"/>
            <a:ext cx="874231" cy="338554"/>
          </a:xfrm>
          <a:prstGeom prst="rect">
            <a:avLst/>
          </a:prstGeom>
          <a:noFill/>
        </p:spPr>
        <p:txBody>
          <a:bodyPr wrap="square" rtlCol="0">
            <a:spAutoFit/>
          </a:bodyPr>
          <a:lstStyle/>
          <a:p>
            <a:pPr algn="ctr"/>
            <a:r>
              <a:rPr lang="en-IN" sz="1600" b="1" dirty="0"/>
              <a:t>SDA</a:t>
            </a:r>
            <a:endParaRPr lang="en-US" sz="1600" b="1" dirty="0"/>
          </a:p>
        </p:txBody>
      </p:sp>
      <p:sp>
        <p:nvSpPr>
          <p:cNvPr id="50" name="TextBox 49">
            <a:extLst>
              <a:ext uri="{FF2B5EF4-FFF2-40B4-BE49-F238E27FC236}">
                <a16:creationId xmlns:a16="http://schemas.microsoft.com/office/drawing/2014/main" id="{557309C0-63AF-43C8-8B6B-8C9FBC3FC895}"/>
              </a:ext>
            </a:extLst>
          </p:cNvPr>
          <p:cNvSpPr txBox="1"/>
          <p:nvPr/>
        </p:nvSpPr>
        <p:spPr>
          <a:xfrm>
            <a:off x="7733207" y="2870472"/>
            <a:ext cx="874231" cy="338554"/>
          </a:xfrm>
          <a:prstGeom prst="rect">
            <a:avLst/>
          </a:prstGeom>
          <a:noFill/>
        </p:spPr>
        <p:txBody>
          <a:bodyPr wrap="square" rtlCol="0">
            <a:spAutoFit/>
          </a:bodyPr>
          <a:lstStyle/>
          <a:p>
            <a:pPr algn="ctr"/>
            <a:r>
              <a:rPr lang="en-IN" sz="1600" b="1" dirty="0"/>
              <a:t>SCL</a:t>
            </a:r>
            <a:endParaRPr lang="en-US" sz="1600" b="1" dirty="0"/>
          </a:p>
        </p:txBody>
      </p:sp>
    </p:spTree>
    <p:extLst>
      <p:ext uri="{BB962C8B-B14F-4D97-AF65-F5344CB8AC3E}">
        <p14:creationId xmlns:p14="http://schemas.microsoft.com/office/powerpoint/2010/main" val="2463067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E3872-4731-4130-8D53-D45D3EA40E7D}"/>
              </a:ext>
            </a:extLst>
          </p:cNvPr>
          <p:cNvSpPr txBox="1"/>
          <p:nvPr/>
        </p:nvSpPr>
        <p:spPr>
          <a:xfrm>
            <a:off x="751374" y="3596066"/>
            <a:ext cx="10760148" cy="2923877"/>
          </a:xfrm>
          <a:prstGeom prst="rect">
            <a:avLst/>
          </a:prstGeom>
          <a:noFill/>
        </p:spPr>
        <p:txBody>
          <a:bodyPr wrap="square" rtlCol="0">
            <a:spAutoFit/>
          </a:bodyPr>
          <a:lstStyle/>
          <a:p>
            <a:pPr marL="342891" indent="-342891">
              <a:buFont typeface="Arial" panose="020B0604020202020204" pitchFamily="34" charset="0"/>
              <a:buChar char="•"/>
            </a:pPr>
            <a:r>
              <a:rPr lang="en-US" sz="3200" dirty="0">
                <a:latin typeface="Gill Sans" panose="020B0604020202020204" charset="0"/>
                <a:cs typeface="Gill Sans" panose="020B0604020202020204" charset="0"/>
              </a:rPr>
              <a:t>The data on the SDA line must be stable during the SCL is HIGH.</a:t>
            </a:r>
          </a:p>
          <a:p>
            <a:endParaRPr lang="en-US" sz="2400" dirty="0">
              <a:latin typeface="Gill Sans" panose="020B0604020202020204" charset="0"/>
              <a:cs typeface="Gill Sans" panose="020B0604020202020204" charset="0"/>
            </a:endParaRPr>
          </a:p>
          <a:p>
            <a:pPr marL="342891" indent="-342891">
              <a:buFont typeface="Arial" panose="020B0604020202020204" pitchFamily="34" charset="0"/>
              <a:buChar char="•"/>
            </a:pPr>
            <a:r>
              <a:rPr lang="en-US" sz="3200" dirty="0">
                <a:latin typeface="Gill Sans" panose="020B0604020202020204" charset="0"/>
                <a:cs typeface="Gill Sans" panose="020B0604020202020204" charset="0"/>
              </a:rPr>
              <a:t>The HIGH or LOW state of the data line can only change when the clock signal on the SCL line is LOW. One clock pulse is generated for each data bit is transferred. </a:t>
            </a:r>
          </a:p>
        </p:txBody>
      </p:sp>
      <p:sp>
        <p:nvSpPr>
          <p:cNvPr id="5" name="TextBox 4">
            <a:extLst>
              <a:ext uri="{FF2B5EF4-FFF2-40B4-BE49-F238E27FC236}">
                <a16:creationId xmlns:a16="http://schemas.microsoft.com/office/drawing/2014/main" id="{630D03B3-14FC-4931-9A5D-C8D75252F906}"/>
              </a:ext>
            </a:extLst>
          </p:cNvPr>
          <p:cNvSpPr txBox="1"/>
          <p:nvPr/>
        </p:nvSpPr>
        <p:spPr>
          <a:xfrm>
            <a:off x="3048000" y="334900"/>
            <a:ext cx="6096000" cy="748988"/>
          </a:xfrm>
          <a:prstGeom prst="rect">
            <a:avLst/>
          </a:prstGeom>
          <a:noFill/>
        </p:spPr>
        <p:txBody>
          <a:bodyPr wrap="square">
            <a:spAutoFit/>
          </a:bodyPr>
          <a:lstStyle/>
          <a:p>
            <a:pPr algn="ctr"/>
            <a:r>
              <a:rPr lang="en-US" sz="4267" b="1" dirty="0">
                <a:latin typeface="Helvetica Neue" panose="020B0604020202020204" charset="0"/>
                <a:cs typeface="Helvetica Neue" panose="020B0604020202020204" charset="0"/>
              </a:rPr>
              <a:t>Data Validity</a:t>
            </a:r>
          </a:p>
        </p:txBody>
      </p:sp>
      <p:pic>
        <p:nvPicPr>
          <p:cNvPr id="4" name="Picture 3">
            <a:extLst>
              <a:ext uri="{FF2B5EF4-FFF2-40B4-BE49-F238E27FC236}">
                <a16:creationId xmlns:a16="http://schemas.microsoft.com/office/drawing/2014/main" id="{36C454A3-45A9-4C63-9CC1-70DE39EF86E6}"/>
              </a:ext>
            </a:extLst>
          </p:cNvPr>
          <p:cNvPicPr>
            <a:picLocks noChangeAspect="1"/>
          </p:cNvPicPr>
          <p:nvPr/>
        </p:nvPicPr>
        <p:blipFill>
          <a:blip r:embed="rId3"/>
          <a:stretch>
            <a:fillRect/>
          </a:stretch>
        </p:blipFill>
        <p:spPr>
          <a:xfrm>
            <a:off x="2698750" y="1142557"/>
            <a:ext cx="6794500" cy="2458337"/>
          </a:xfrm>
          <a:prstGeom prst="rect">
            <a:avLst/>
          </a:prstGeom>
        </p:spPr>
      </p:pic>
    </p:spTree>
    <p:extLst>
      <p:ext uri="{BB962C8B-B14F-4D97-AF65-F5344CB8AC3E}">
        <p14:creationId xmlns:p14="http://schemas.microsoft.com/office/powerpoint/2010/main" val="2373905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19F732-67B8-4255-B8FB-EA27CD958DE1}"/>
              </a:ext>
            </a:extLst>
          </p:cNvPr>
          <p:cNvSpPr txBox="1"/>
          <p:nvPr/>
        </p:nvSpPr>
        <p:spPr>
          <a:xfrm>
            <a:off x="443011" y="891963"/>
            <a:ext cx="11635571" cy="4934749"/>
          </a:xfrm>
          <a:prstGeom prst="rect">
            <a:avLst/>
          </a:prstGeom>
          <a:noFill/>
        </p:spPr>
        <p:txBody>
          <a:bodyPr wrap="square" rtlCol="0">
            <a:spAutoFit/>
          </a:bodyPr>
          <a:lstStyle/>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The master generates all the clock pulses.</a:t>
            </a:r>
          </a:p>
          <a:p>
            <a:endParaRPr lang="en-US" sz="1467"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START and STOP conditions are always generated by the master.</a:t>
            </a:r>
          </a:p>
          <a:p>
            <a:endParaRPr lang="en-US" sz="1467"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The bus is considered to be busy after the START condition.</a:t>
            </a:r>
          </a:p>
          <a:p>
            <a:endParaRPr lang="en-US" sz="1600"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The bus is considered to be free after the STOP condition.</a:t>
            </a:r>
          </a:p>
          <a:p>
            <a:endParaRPr lang="en-US" sz="1600"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When the bus is free another master(if any) can get the chance to claim the bus.</a:t>
            </a:r>
          </a:p>
          <a:p>
            <a:endParaRPr lang="en-US" sz="1600"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The bus stays busy if a repeated START is generated without STOP condition.</a:t>
            </a:r>
          </a:p>
          <a:p>
            <a:endParaRPr lang="en-US" sz="1333"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Most of the MCU’s I2C peripherals supports both master or slave modes.</a:t>
            </a:r>
          </a:p>
        </p:txBody>
      </p:sp>
      <p:sp>
        <p:nvSpPr>
          <p:cNvPr id="3" name="TextBox 2">
            <a:extLst>
              <a:ext uri="{FF2B5EF4-FFF2-40B4-BE49-F238E27FC236}">
                <a16:creationId xmlns:a16="http://schemas.microsoft.com/office/drawing/2014/main" id="{AB9E8AF0-835E-4EE3-A8C2-17B10666C4C4}"/>
              </a:ext>
            </a:extLst>
          </p:cNvPr>
          <p:cNvSpPr txBox="1"/>
          <p:nvPr/>
        </p:nvSpPr>
        <p:spPr>
          <a:xfrm>
            <a:off x="3317362" y="184298"/>
            <a:ext cx="5514753" cy="748988"/>
          </a:xfrm>
          <a:prstGeom prst="rect">
            <a:avLst/>
          </a:prstGeom>
          <a:noFill/>
        </p:spPr>
        <p:txBody>
          <a:bodyPr wrap="square" rtlCol="0">
            <a:spAutoFit/>
          </a:bodyPr>
          <a:lstStyle/>
          <a:p>
            <a:r>
              <a:rPr lang="en-IN" sz="4267" b="1" dirty="0">
                <a:latin typeface="Helvetica Neue" panose="020B0604020202020204" charset="0"/>
                <a:cs typeface="Helvetica Neue" panose="020B0604020202020204" charset="0"/>
              </a:rPr>
              <a:t>Points to Remember</a:t>
            </a:r>
            <a:endParaRPr lang="en-US" sz="4267" b="1" dirty="0">
              <a:latin typeface="Helvetica Neue" panose="020B0604020202020204" charset="0"/>
              <a:cs typeface="Helvetica Neue" panose="020B0604020202020204" charset="0"/>
            </a:endParaRPr>
          </a:p>
        </p:txBody>
      </p:sp>
    </p:spTree>
    <p:extLst>
      <p:ext uri="{BB962C8B-B14F-4D97-AF65-F5344CB8AC3E}">
        <p14:creationId xmlns:p14="http://schemas.microsoft.com/office/powerpoint/2010/main" val="38358678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19F732-67B8-4255-B8FB-EA27CD958DE1}"/>
              </a:ext>
            </a:extLst>
          </p:cNvPr>
          <p:cNvSpPr txBox="1"/>
          <p:nvPr/>
        </p:nvSpPr>
        <p:spPr>
          <a:xfrm>
            <a:off x="598960" y="977730"/>
            <a:ext cx="10884200" cy="4811445"/>
          </a:xfrm>
          <a:prstGeom prst="rect">
            <a:avLst/>
          </a:prstGeom>
          <a:noFill/>
        </p:spPr>
        <p:txBody>
          <a:bodyPr wrap="square" rtlCol="0">
            <a:spAutoFit/>
          </a:bodyPr>
          <a:lstStyle/>
          <a:p>
            <a:pPr marL="285744" indent="-285744">
              <a:buFont typeface="Arial" panose="020B0604020202020204" pitchFamily="34" charset="0"/>
              <a:buChar char="•"/>
            </a:pPr>
            <a:r>
              <a:rPr lang="en-US" sz="2800" dirty="0">
                <a:latin typeface="Gill Sans" panose="020B0604020202020204" charset="0"/>
                <a:cs typeface="Gill Sans" panose="020B0604020202020204" charset="0"/>
              </a:rPr>
              <a:t>We no need to configure the mode because when the device generates the START condition it automatically becomes master and when it generates the STOP condition it goes back to the slave mode. </a:t>
            </a:r>
          </a:p>
          <a:p>
            <a:endParaRPr lang="en-US" sz="1333"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b="1" i="1" dirty="0">
                <a:latin typeface="Gill Sans" panose="020B0604020202020204" charset="0"/>
                <a:cs typeface="Gill Sans" panose="020B0604020202020204" charset="0"/>
              </a:rPr>
              <a:t>Clock-stretching:</a:t>
            </a:r>
            <a:r>
              <a:rPr lang="en-US" sz="2800" dirty="0">
                <a:latin typeface="Gill Sans" panose="020B0604020202020204" charset="0"/>
                <a:cs typeface="Gill Sans" panose="020B0604020202020204" charset="0"/>
              </a:rPr>
              <a:t>  When slave is busy in receiving data it will pull the SCL line to LOW so that master cannot send the data</a:t>
            </a:r>
          </a:p>
          <a:p>
            <a:endParaRPr lang="en-US" sz="1333" dirty="0">
              <a:latin typeface="Gill Sans" panose="020B0604020202020204" charset="0"/>
              <a:cs typeface="Gill Sans" panose="020B0604020202020204" charset="0"/>
            </a:endParaRPr>
          </a:p>
          <a:p>
            <a:pPr marL="285744" indent="-285744">
              <a:buFont typeface="Arial" panose="020B0604020202020204" pitchFamily="34" charset="0"/>
              <a:buChar char="•"/>
            </a:pPr>
            <a:r>
              <a:rPr lang="en-US" sz="2800" b="1" i="1" dirty="0">
                <a:latin typeface="Gill Sans" panose="020B0604020202020204" charset="0"/>
                <a:cs typeface="Gill Sans" panose="020B0604020202020204" charset="0"/>
              </a:rPr>
              <a:t>Bus arbitration:</a:t>
            </a:r>
            <a:r>
              <a:rPr lang="en-US" sz="2800" dirty="0">
                <a:latin typeface="Gill Sans" panose="020B0604020202020204" charset="0"/>
                <a:cs typeface="Gill Sans" panose="020B0604020202020204" charset="0"/>
              </a:rPr>
              <a:t>  It may happen that two masters start a transfer at the same time. During the transfer, the masters constantly monitor SDA and SCL. If one of them detects that SDA is low when it should actually be high, it assumes that another master is active and immediately stops its transfer. This process is called arbitration.</a:t>
            </a:r>
          </a:p>
        </p:txBody>
      </p:sp>
      <p:sp>
        <p:nvSpPr>
          <p:cNvPr id="3" name="TextBox 2">
            <a:extLst>
              <a:ext uri="{FF2B5EF4-FFF2-40B4-BE49-F238E27FC236}">
                <a16:creationId xmlns:a16="http://schemas.microsoft.com/office/drawing/2014/main" id="{AB9E8AF0-835E-4EE3-A8C2-17B10666C4C4}"/>
              </a:ext>
            </a:extLst>
          </p:cNvPr>
          <p:cNvSpPr txBox="1"/>
          <p:nvPr/>
        </p:nvSpPr>
        <p:spPr>
          <a:xfrm>
            <a:off x="3246478" y="269361"/>
            <a:ext cx="5514753" cy="748988"/>
          </a:xfrm>
          <a:prstGeom prst="rect">
            <a:avLst/>
          </a:prstGeom>
          <a:noFill/>
        </p:spPr>
        <p:txBody>
          <a:bodyPr wrap="square" rtlCol="0">
            <a:spAutoFit/>
          </a:bodyPr>
          <a:lstStyle/>
          <a:p>
            <a:r>
              <a:rPr lang="en-IN" sz="4267" b="1" dirty="0">
                <a:latin typeface="Helvetica Neue" panose="020B0604020202020204" charset="0"/>
                <a:cs typeface="Helvetica Neue" panose="020B0604020202020204" charset="0"/>
              </a:rPr>
              <a:t>Points to Remember</a:t>
            </a:r>
            <a:endParaRPr lang="en-US" sz="4267" b="1" dirty="0">
              <a:latin typeface="Helvetica Neue" panose="020B0604020202020204" charset="0"/>
              <a:cs typeface="Helvetica Neue" panose="020B0604020202020204" charset="0"/>
            </a:endParaRPr>
          </a:p>
        </p:txBody>
      </p:sp>
    </p:spTree>
    <p:extLst>
      <p:ext uri="{BB962C8B-B14F-4D97-AF65-F5344CB8AC3E}">
        <p14:creationId xmlns:p14="http://schemas.microsoft.com/office/powerpoint/2010/main" val="18304714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1247544"/>
            <a:ext cx="10515600" cy="4352261"/>
          </a:xfrm>
        </p:spPr>
        <p:txBody>
          <a:bodyPr/>
          <a:lstStyle/>
          <a:p>
            <a:pPr algn="ctr">
              <a:lnSpc>
                <a:spcPct val="115000"/>
              </a:lnSpc>
              <a:tabLst>
                <a:tab pos="609585" algn="l"/>
              </a:tabLst>
            </a:pPr>
            <a:r>
              <a:rPr lang="en-IN" sz="4800" b="1" dirty="0">
                <a:solidFill>
                  <a:schemeClr val="dk1"/>
                </a:solidFill>
                <a:latin typeface="Helvetica Neue" panose="020B0604020202020204" charset="0"/>
                <a:cs typeface="Gill Sans"/>
              </a:rPr>
              <a:t>Difference between I2C and SPI</a:t>
            </a:r>
            <a:endParaRPr lang="en-US" sz="4800" b="1" dirty="0">
              <a:solidFill>
                <a:schemeClr val="dk1"/>
              </a:solidFill>
              <a:latin typeface="Helvetica Neue" panose="020B0604020202020204" charset="0"/>
              <a:cs typeface="Gill Sans"/>
            </a:endParaRPr>
          </a:p>
        </p:txBody>
      </p:sp>
    </p:spTree>
    <p:extLst>
      <p:ext uri="{BB962C8B-B14F-4D97-AF65-F5344CB8AC3E}">
        <p14:creationId xmlns:p14="http://schemas.microsoft.com/office/powerpoint/2010/main" val="1922741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4D61A-AC23-4F07-8163-21B7A910BA06}"/>
              </a:ext>
            </a:extLst>
          </p:cNvPr>
          <p:cNvSpPr>
            <a:spLocks noGrp="1"/>
          </p:cNvSpPr>
          <p:nvPr>
            <p:ph type="title"/>
          </p:nvPr>
        </p:nvSpPr>
        <p:spPr>
          <a:xfrm>
            <a:off x="768646" y="-279920"/>
            <a:ext cx="10515600" cy="1325600"/>
          </a:xfrm>
        </p:spPr>
        <p:txBody>
          <a:bodyPr/>
          <a:lstStyle/>
          <a:p>
            <a:pPr algn="ctr"/>
            <a:r>
              <a:rPr lang="en-IN" sz="4267" b="1" dirty="0">
                <a:solidFill>
                  <a:schemeClr val="dk1"/>
                </a:solidFill>
                <a:latin typeface="Helvetica Neue" panose="020B0604020202020204" charset="0"/>
                <a:cs typeface="Gill Sans"/>
              </a:rPr>
              <a:t>Difference between I2C and SPI</a:t>
            </a:r>
            <a:endParaRPr lang="en-US" dirty="0"/>
          </a:p>
        </p:txBody>
      </p:sp>
      <p:graphicFrame>
        <p:nvGraphicFramePr>
          <p:cNvPr id="4" name="Table 4">
            <a:extLst>
              <a:ext uri="{FF2B5EF4-FFF2-40B4-BE49-F238E27FC236}">
                <a16:creationId xmlns:a16="http://schemas.microsoft.com/office/drawing/2014/main" id="{A1CEEAEE-A1D4-4973-BC1C-96AE1F8113B2}"/>
              </a:ext>
            </a:extLst>
          </p:cNvPr>
          <p:cNvGraphicFramePr>
            <a:graphicFrameLocks noGrp="1"/>
          </p:cNvGraphicFramePr>
          <p:nvPr>
            <p:extLst>
              <p:ext uri="{D42A27DB-BD31-4B8C-83A1-F6EECF244321}">
                <p14:modId xmlns:p14="http://schemas.microsoft.com/office/powerpoint/2010/main" val="1896501105"/>
              </p:ext>
            </p:extLst>
          </p:nvPr>
        </p:nvGraphicFramePr>
        <p:xfrm>
          <a:off x="594713" y="734541"/>
          <a:ext cx="11173220" cy="6036618"/>
        </p:xfrm>
        <a:graphic>
          <a:graphicData uri="http://schemas.openxmlformats.org/drawingml/2006/table">
            <a:tbl>
              <a:tblPr firstRow="1" bandRow="1">
                <a:tableStyleId>{21E4AEA4-8DFA-4A89-87EB-49C32662AFE0}</a:tableStyleId>
              </a:tblPr>
              <a:tblGrid>
                <a:gridCol w="5586610">
                  <a:extLst>
                    <a:ext uri="{9D8B030D-6E8A-4147-A177-3AD203B41FA5}">
                      <a16:colId xmlns:a16="http://schemas.microsoft.com/office/drawing/2014/main" val="2442748841"/>
                    </a:ext>
                  </a:extLst>
                </a:gridCol>
                <a:gridCol w="5586610">
                  <a:extLst>
                    <a:ext uri="{9D8B030D-6E8A-4147-A177-3AD203B41FA5}">
                      <a16:colId xmlns:a16="http://schemas.microsoft.com/office/drawing/2014/main" val="3905412950"/>
                    </a:ext>
                  </a:extLst>
                </a:gridCol>
              </a:tblGrid>
              <a:tr h="494453">
                <a:tc>
                  <a:txBody>
                    <a:bodyPr/>
                    <a:lstStyle/>
                    <a:p>
                      <a:pPr algn="ctr"/>
                      <a:r>
                        <a:rPr lang="en-IN" sz="2000" dirty="0">
                          <a:latin typeface="Gill Sans" panose="020B0604020202020204" charset="0"/>
                          <a:cs typeface="Gill Sans" panose="020B0604020202020204" charset="0"/>
                        </a:rPr>
                        <a:t>I2C</a:t>
                      </a:r>
                      <a:endParaRPr lang="en-US" sz="2000" dirty="0">
                        <a:latin typeface="Gill Sans" panose="020B0604020202020204" charset="0"/>
                        <a:cs typeface="Gill Sans" panose="020B0604020202020204" charset="0"/>
                      </a:endParaRPr>
                    </a:p>
                  </a:txBody>
                  <a:tcPr marL="121920" marR="121920" marT="60960" marB="60960"/>
                </a:tc>
                <a:tc>
                  <a:txBody>
                    <a:bodyPr/>
                    <a:lstStyle/>
                    <a:p>
                      <a:pPr algn="ctr"/>
                      <a:r>
                        <a:rPr lang="en-IN" sz="2000" dirty="0">
                          <a:latin typeface="Gill Sans" panose="020B0604020202020204" charset="0"/>
                          <a:cs typeface="Gill Sans" panose="020B0604020202020204" charset="0"/>
                        </a:rPr>
                        <a:t>SPI</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4028087847"/>
                  </a:ext>
                </a:extLst>
              </a:tr>
              <a:tr h="853440">
                <a:tc>
                  <a:txBody>
                    <a:bodyPr/>
                    <a:lstStyle/>
                    <a:p>
                      <a:r>
                        <a:rPr lang="en-IN" sz="2000" dirty="0">
                          <a:latin typeface="Gill Sans" panose="020B0604020202020204" charset="0"/>
                          <a:cs typeface="Gill Sans" panose="020B0604020202020204" charset="0"/>
                        </a:rPr>
                        <a:t>I2C have dedicated specification developed by NXP.</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have no dedicated specification so companies can develop their own spec</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636552501"/>
                  </a:ext>
                </a:extLst>
              </a:tr>
              <a:tr h="720610">
                <a:tc>
                  <a:txBody>
                    <a:bodyPr/>
                    <a:lstStyle/>
                    <a:p>
                      <a:r>
                        <a:rPr lang="en-IN" sz="2000" dirty="0">
                          <a:latin typeface="Gill Sans" panose="020B0604020202020204" charset="0"/>
                          <a:cs typeface="Gill Sans" panose="020B0604020202020204" charset="0"/>
                        </a:rPr>
                        <a:t>I2C is multi-master communication protocol</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don’t have any multi-master capability but manufacturers can achieve this from S/W side.</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3929382623"/>
                  </a:ext>
                </a:extLst>
              </a:tr>
              <a:tr h="512965">
                <a:tc>
                  <a:txBody>
                    <a:bodyPr/>
                    <a:lstStyle/>
                    <a:p>
                      <a:r>
                        <a:rPr lang="en-IN" sz="2000" dirty="0">
                          <a:latin typeface="Gill Sans" panose="020B0604020202020204" charset="0"/>
                          <a:cs typeface="Gill Sans" panose="020B0604020202020204" charset="0"/>
                        </a:rPr>
                        <a:t>I2C needs only 2 pins for communications</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needs 4 or more pins for communications</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2215639792"/>
                  </a:ext>
                </a:extLst>
              </a:tr>
              <a:tr h="723900">
                <a:tc>
                  <a:txBody>
                    <a:bodyPr/>
                    <a:lstStyle/>
                    <a:p>
                      <a:r>
                        <a:rPr lang="en-IN" sz="2000" dirty="0">
                          <a:latin typeface="Gill Sans" panose="020B0604020202020204" charset="0"/>
                          <a:cs typeface="Gill Sans" panose="020B0604020202020204" charset="0"/>
                        </a:rPr>
                        <a:t>I2C master communication with the slave based on address.</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master communicates with the slave based on Chip Select line.</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3037464307"/>
                  </a:ext>
                </a:extLst>
              </a:tr>
              <a:tr h="494453">
                <a:tc>
                  <a:txBody>
                    <a:bodyPr/>
                    <a:lstStyle/>
                    <a:p>
                      <a:r>
                        <a:rPr lang="en-IN" sz="2000" dirty="0">
                          <a:latin typeface="Gill Sans" panose="020B0604020202020204" charset="0"/>
                          <a:cs typeface="Gill Sans" panose="020B0604020202020204" charset="0"/>
                        </a:rPr>
                        <a:t>I2C can operate on half-duplex mode</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can operate in full-duplex mode</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3574074759"/>
                  </a:ext>
                </a:extLst>
              </a:tr>
              <a:tr h="850477">
                <a:tc>
                  <a:txBody>
                    <a:bodyPr/>
                    <a:lstStyle/>
                    <a:p>
                      <a:r>
                        <a:rPr lang="en-IN" sz="2000" dirty="0">
                          <a:latin typeface="Gill Sans" panose="020B0604020202020204" charset="0"/>
                          <a:cs typeface="Gill Sans" panose="020B0604020202020204" charset="0"/>
                        </a:rPr>
                        <a:t>I2C H/W automatically sends ACKs for every data byte received.</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H/W don’t have automatic ACK facility but from S/W side developer can program it</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3505520654"/>
                  </a:ext>
                </a:extLst>
              </a:tr>
              <a:tr h="514350">
                <a:tc>
                  <a:txBody>
                    <a:bodyPr/>
                    <a:lstStyle/>
                    <a:p>
                      <a:r>
                        <a:rPr lang="en-IN" sz="2000" dirty="0">
                          <a:latin typeface="Gill Sans" panose="020B0604020202020204" charset="0"/>
                          <a:cs typeface="Gill Sans" panose="020B0604020202020204" charset="0"/>
                        </a:rPr>
                        <a:t>I2C supports maximum speed of 4MHz</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speed depends on clock (i.e., </a:t>
                      </a:r>
                      <a:r>
                        <a:rPr lang="en-IN" sz="2000" dirty="0" err="1">
                          <a:latin typeface="Gill Sans" panose="020B0604020202020204" charset="0"/>
                          <a:cs typeface="Gill Sans" panose="020B0604020202020204" charset="0"/>
                        </a:rPr>
                        <a:t>fpclk</a:t>
                      </a:r>
                      <a:r>
                        <a:rPr lang="en-IN" sz="2000" dirty="0">
                          <a:latin typeface="Gill Sans" panose="020B0604020202020204" charset="0"/>
                          <a:cs typeface="Gill Sans" panose="020B0604020202020204" charset="0"/>
                        </a:rPr>
                        <a:t> / 2)</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1781753786"/>
                  </a:ext>
                </a:extLst>
              </a:tr>
              <a:tr h="853440">
                <a:tc>
                  <a:txBody>
                    <a:bodyPr/>
                    <a:lstStyle/>
                    <a:p>
                      <a:r>
                        <a:rPr lang="en-IN" sz="2000" dirty="0">
                          <a:latin typeface="Gill Sans" panose="020B0604020202020204" charset="0"/>
                          <a:cs typeface="Gill Sans" panose="020B0604020202020204" charset="0"/>
                        </a:rPr>
                        <a:t>I2C slave have control over clock (clock stretching feature)</a:t>
                      </a:r>
                      <a:endParaRPr lang="en-US" sz="2000" dirty="0">
                        <a:latin typeface="Gill Sans" panose="020B0604020202020204" charset="0"/>
                        <a:cs typeface="Gill Sans" panose="020B0604020202020204" charset="0"/>
                      </a:endParaRPr>
                    </a:p>
                  </a:txBody>
                  <a:tcPr marL="121920" marR="121920" marT="60960" marB="60960"/>
                </a:tc>
                <a:tc>
                  <a:txBody>
                    <a:bodyPr/>
                    <a:lstStyle/>
                    <a:p>
                      <a:r>
                        <a:rPr lang="en-IN" sz="2000" dirty="0">
                          <a:latin typeface="Gill Sans" panose="020B0604020202020204" charset="0"/>
                          <a:cs typeface="Gill Sans" panose="020B0604020202020204" charset="0"/>
                        </a:rPr>
                        <a:t>SPI slave doesn’t have any control over the clock.</a:t>
                      </a:r>
                      <a:endParaRPr lang="en-US" sz="2000" dirty="0">
                        <a:latin typeface="Gill Sans" panose="020B0604020202020204" charset="0"/>
                        <a:cs typeface="Gill Sans" panose="020B0604020202020204" charset="0"/>
                      </a:endParaRPr>
                    </a:p>
                  </a:txBody>
                  <a:tcPr marL="121920" marR="121920" marT="60960" marB="60960"/>
                </a:tc>
                <a:extLst>
                  <a:ext uri="{0D108BD9-81ED-4DB2-BD59-A6C34878D82A}">
                    <a16:rowId xmlns:a16="http://schemas.microsoft.com/office/drawing/2014/main" val="2005533482"/>
                  </a:ext>
                </a:extLst>
              </a:tr>
            </a:tbl>
          </a:graphicData>
        </a:graphic>
      </p:graphicFrame>
    </p:spTree>
    <p:extLst>
      <p:ext uri="{BB962C8B-B14F-4D97-AF65-F5344CB8AC3E}">
        <p14:creationId xmlns:p14="http://schemas.microsoft.com/office/powerpoint/2010/main" val="3636313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964006"/>
            <a:ext cx="10515600" cy="4352261"/>
          </a:xfrm>
        </p:spPr>
        <p:txBody>
          <a:bodyPr/>
          <a:lstStyle/>
          <a:p>
            <a:pPr algn="ctr">
              <a:lnSpc>
                <a:spcPct val="115000"/>
              </a:lnSpc>
              <a:tabLst>
                <a:tab pos="609585" algn="l"/>
              </a:tabLst>
            </a:pPr>
            <a:r>
              <a:rPr lang="en-US" sz="4800" b="1" dirty="0">
                <a:solidFill>
                  <a:schemeClr val="dk1"/>
                </a:solidFill>
                <a:latin typeface="Helvetica Neue" panose="020B0604020202020204" charset="0"/>
                <a:cs typeface="Gill Sans"/>
              </a:rPr>
              <a:t>I2C Block Diagram</a:t>
            </a:r>
          </a:p>
        </p:txBody>
      </p:sp>
    </p:spTree>
    <p:extLst>
      <p:ext uri="{BB962C8B-B14F-4D97-AF65-F5344CB8AC3E}">
        <p14:creationId xmlns:p14="http://schemas.microsoft.com/office/powerpoint/2010/main" val="671695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F7BA-49BC-4AF4-9863-B0F7BD952EC1}"/>
              </a:ext>
            </a:extLst>
          </p:cNvPr>
          <p:cNvSpPr>
            <a:spLocks noGrp="1"/>
          </p:cNvSpPr>
          <p:nvPr>
            <p:ph type="title"/>
          </p:nvPr>
        </p:nvSpPr>
        <p:spPr>
          <a:xfrm>
            <a:off x="838200" y="10703"/>
            <a:ext cx="10515600" cy="1325600"/>
          </a:xfrm>
        </p:spPr>
        <p:txBody>
          <a:bodyPr/>
          <a:lstStyle/>
          <a:p>
            <a:pPr algn="ctr"/>
            <a:r>
              <a:rPr lang="en-US" sz="4267" b="1" dirty="0">
                <a:solidFill>
                  <a:schemeClr val="dk1"/>
                </a:solidFill>
                <a:latin typeface="Helvetica Neue" panose="020B0604020202020204" charset="0"/>
                <a:cs typeface="Gill Sans"/>
              </a:rPr>
              <a:t>I2C Block Diagram</a:t>
            </a:r>
            <a:endParaRPr lang="en-US" dirty="0"/>
          </a:p>
        </p:txBody>
      </p:sp>
      <p:pic>
        <p:nvPicPr>
          <p:cNvPr id="5" name="Picture 4">
            <a:extLst>
              <a:ext uri="{FF2B5EF4-FFF2-40B4-BE49-F238E27FC236}">
                <a16:creationId xmlns:a16="http://schemas.microsoft.com/office/drawing/2014/main" id="{64C6B67B-5A65-4016-A0DE-4B7FDEF307A0}"/>
              </a:ext>
            </a:extLst>
          </p:cNvPr>
          <p:cNvPicPr>
            <a:picLocks noChangeAspect="1"/>
          </p:cNvPicPr>
          <p:nvPr/>
        </p:nvPicPr>
        <p:blipFill>
          <a:blip r:embed="rId3"/>
          <a:stretch>
            <a:fillRect/>
          </a:stretch>
        </p:blipFill>
        <p:spPr>
          <a:xfrm>
            <a:off x="2211576" y="1054255"/>
            <a:ext cx="7710081" cy="5736411"/>
          </a:xfrm>
          <a:prstGeom prst="rect">
            <a:avLst/>
          </a:prstGeom>
        </p:spPr>
      </p:pic>
    </p:spTree>
    <p:extLst>
      <p:ext uri="{BB962C8B-B14F-4D97-AF65-F5344CB8AC3E}">
        <p14:creationId xmlns:p14="http://schemas.microsoft.com/office/powerpoint/2010/main" val="2805510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2519992"/>
            <a:ext cx="10515600" cy="2144152"/>
          </a:xfrm>
        </p:spPr>
        <p:txBody>
          <a:bodyPr/>
          <a:lstStyle/>
          <a:p>
            <a:pPr algn="ctr"/>
            <a:r>
              <a:rPr lang="en-IN" sz="4800" b="1" dirty="0">
                <a:solidFill>
                  <a:schemeClr val="dk1"/>
                </a:solidFill>
                <a:latin typeface="Helvetica Neue" panose="020B0604020202020204" charset="0"/>
                <a:cs typeface="Gill Sans"/>
              </a:rPr>
              <a:t>Understand the UART protocol</a:t>
            </a:r>
            <a:endParaRPr lang="en-US" sz="4800" b="1" dirty="0">
              <a:solidFill>
                <a:schemeClr val="bg2"/>
              </a:solidFill>
              <a:latin typeface="Helvetica Neue" panose="020B0604020202020204" charset="0"/>
              <a:cs typeface="Helvetica Neue" panose="020B0604020202020204" charset="0"/>
              <a:sym typeface="Gill Sans"/>
            </a:endParaRPr>
          </a:p>
        </p:txBody>
      </p:sp>
    </p:spTree>
    <p:extLst>
      <p:ext uri="{BB962C8B-B14F-4D97-AF65-F5344CB8AC3E}">
        <p14:creationId xmlns:p14="http://schemas.microsoft.com/office/powerpoint/2010/main" val="617601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F754-DF04-4F9D-824F-2815A2CE6C7E}"/>
              </a:ext>
            </a:extLst>
          </p:cNvPr>
          <p:cNvSpPr>
            <a:spLocks noGrp="1"/>
          </p:cNvSpPr>
          <p:nvPr>
            <p:ph type="title"/>
          </p:nvPr>
        </p:nvSpPr>
        <p:spPr>
          <a:xfrm>
            <a:off x="838200" y="248165"/>
            <a:ext cx="10515600" cy="1325600"/>
          </a:xfrm>
        </p:spPr>
        <p:txBody>
          <a:bodyPr/>
          <a:lstStyle/>
          <a:p>
            <a:pPr algn="ctr"/>
            <a:r>
              <a:rPr lang="en-IN" sz="4000" b="1" dirty="0">
                <a:solidFill>
                  <a:schemeClr val="dk1"/>
                </a:solidFill>
                <a:latin typeface="Helvetica Neue" panose="020B0604020202020204" charset="0"/>
                <a:cs typeface="Gill Sans"/>
              </a:rPr>
              <a:t>USART vs UART protocol</a:t>
            </a:r>
            <a:endParaRPr lang="en-US" sz="4000" dirty="0"/>
          </a:p>
        </p:txBody>
      </p:sp>
      <p:sp>
        <p:nvSpPr>
          <p:cNvPr id="4" name="Rectangle: Rounded Corners 3">
            <a:extLst>
              <a:ext uri="{FF2B5EF4-FFF2-40B4-BE49-F238E27FC236}">
                <a16:creationId xmlns:a16="http://schemas.microsoft.com/office/drawing/2014/main" id="{76CE20E8-785D-4338-9F06-9FE064579912}"/>
              </a:ext>
            </a:extLst>
          </p:cNvPr>
          <p:cNvSpPr/>
          <p:nvPr/>
        </p:nvSpPr>
        <p:spPr>
          <a:xfrm>
            <a:off x="838200" y="1775789"/>
            <a:ext cx="2153093" cy="2080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2000" b="1" dirty="0">
                <a:latin typeface="Gill Sans" panose="020B0604020202020204" charset="0"/>
                <a:cs typeface="Gill Sans" panose="020B0604020202020204" charset="0"/>
              </a:rPr>
              <a:t>USART</a:t>
            </a:r>
            <a:endParaRPr lang="en-US" sz="2000" b="1" dirty="0">
              <a:latin typeface="Gill Sans" panose="020B0604020202020204" charset="0"/>
              <a:cs typeface="Gill Sans" panose="020B0604020202020204" charset="0"/>
            </a:endParaRPr>
          </a:p>
        </p:txBody>
      </p:sp>
      <p:sp>
        <p:nvSpPr>
          <p:cNvPr id="5" name="TextBox 4">
            <a:extLst>
              <a:ext uri="{FF2B5EF4-FFF2-40B4-BE49-F238E27FC236}">
                <a16:creationId xmlns:a16="http://schemas.microsoft.com/office/drawing/2014/main" id="{CF4A51B8-332C-4594-B467-AA33DCFB1FBC}"/>
              </a:ext>
            </a:extLst>
          </p:cNvPr>
          <p:cNvSpPr txBox="1"/>
          <p:nvPr/>
        </p:nvSpPr>
        <p:spPr>
          <a:xfrm>
            <a:off x="1446025" y="1800445"/>
            <a:ext cx="992372" cy="400110"/>
          </a:xfrm>
          <a:prstGeom prst="rect">
            <a:avLst/>
          </a:prstGeom>
          <a:noFill/>
        </p:spPr>
        <p:txBody>
          <a:bodyPr wrap="square" rtlCol="0">
            <a:spAutoFit/>
          </a:bodyPr>
          <a:lstStyle/>
          <a:p>
            <a:pPr algn="ctr"/>
            <a:r>
              <a:rPr lang="en-IN" sz="2000" b="1" dirty="0">
                <a:latin typeface="Gill Sans" panose="020B0604020202020204" charset="0"/>
                <a:cs typeface="Gill Sans" panose="020B0604020202020204" charset="0"/>
              </a:rPr>
              <a:t>MCU</a:t>
            </a:r>
            <a:endParaRPr lang="en-US" sz="2000" b="1" dirty="0">
              <a:latin typeface="Gill Sans" panose="020B0604020202020204" charset="0"/>
              <a:cs typeface="Gill Sans" panose="020B0604020202020204" charset="0"/>
            </a:endParaRPr>
          </a:p>
        </p:txBody>
      </p:sp>
      <p:cxnSp>
        <p:nvCxnSpPr>
          <p:cNvPr id="7" name="Straight Arrow Connector 6">
            <a:extLst>
              <a:ext uri="{FF2B5EF4-FFF2-40B4-BE49-F238E27FC236}">
                <a16:creationId xmlns:a16="http://schemas.microsoft.com/office/drawing/2014/main" id="{CF5C7224-B82C-43D7-B403-92C1D71FA47B}"/>
              </a:ext>
            </a:extLst>
          </p:cNvPr>
          <p:cNvCxnSpPr>
            <a:cxnSpLocks/>
          </p:cNvCxnSpPr>
          <p:nvPr/>
        </p:nvCxnSpPr>
        <p:spPr>
          <a:xfrm flipV="1">
            <a:off x="3005471" y="1995152"/>
            <a:ext cx="992376" cy="82078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3563D70-A9EC-496B-BA6A-5C9773D2B581}"/>
              </a:ext>
            </a:extLst>
          </p:cNvPr>
          <p:cNvCxnSpPr>
            <a:cxnSpLocks/>
          </p:cNvCxnSpPr>
          <p:nvPr/>
        </p:nvCxnSpPr>
        <p:spPr>
          <a:xfrm flipV="1">
            <a:off x="3010196" y="2448808"/>
            <a:ext cx="959297" cy="40020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3AAE075-25FD-4B98-87D3-6A156C0A2E7C}"/>
              </a:ext>
            </a:extLst>
          </p:cNvPr>
          <p:cNvCxnSpPr>
            <a:cxnSpLocks/>
            <a:endCxn id="26" idx="1"/>
          </p:cNvCxnSpPr>
          <p:nvPr/>
        </p:nvCxnSpPr>
        <p:spPr>
          <a:xfrm flipV="1">
            <a:off x="2981839" y="2741391"/>
            <a:ext cx="987653" cy="12179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BC6EA0-2E47-4BB6-AF15-CBFA6DFDA907}"/>
              </a:ext>
            </a:extLst>
          </p:cNvPr>
          <p:cNvCxnSpPr>
            <a:cxnSpLocks/>
            <a:endCxn id="27" idx="1"/>
          </p:cNvCxnSpPr>
          <p:nvPr/>
        </p:nvCxnSpPr>
        <p:spPr>
          <a:xfrm>
            <a:off x="2986563" y="2882083"/>
            <a:ext cx="997106" cy="31295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7C8CD3F-EB62-4476-8BFA-8EE2109EE03E}"/>
              </a:ext>
            </a:extLst>
          </p:cNvPr>
          <p:cNvCxnSpPr>
            <a:cxnSpLocks/>
            <a:endCxn id="28" idx="1"/>
          </p:cNvCxnSpPr>
          <p:nvPr/>
        </p:nvCxnSpPr>
        <p:spPr>
          <a:xfrm>
            <a:off x="2958204" y="2866634"/>
            <a:ext cx="973475" cy="73007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5CB34A1-88A8-4151-B57F-AA99E3790486}"/>
              </a:ext>
            </a:extLst>
          </p:cNvPr>
          <p:cNvSpPr txBox="1"/>
          <p:nvPr/>
        </p:nvSpPr>
        <p:spPr>
          <a:xfrm>
            <a:off x="3983670" y="1789967"/>
            <a:ext cx="1006549"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UART</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25" name="TextBox 24">
            <a:extLst>
              <a:ext uri="{FF2B5EF4-FFF2-40B4-BE49-F238E27FC236}">
                <a16:creationId xmlns:a16="http://schemas.microsoft.com/office/drawing/2014/main" id="{34281A80-7848-420F-AC74-AD569312ABAA}"/>
              </a:ext>
            </a:extLst>
          </p:cNvPr>
          <p:cNvSpPr txBox="1"/>
          <p:nvPr/>
        </p:nvSpPr>
        <p:spPr>
          <a:xfrm>
            <a:off x="3955315" y="2186914"/>
            <a:ext cx="1573616"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Smart Card</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26" name="TextBox 25">
            <a:extLst>
              <a:ext uri="{FF2B5EF4-FFF2-40B4-BE49-F238E27FC236}">
                <a16:creationId xmlns:a16="http://schemas.microsoft.com/office/drawing/2014/main" id="{C89CF9CE-5954-4A3D-92B5-FE247F166BCB}"/>
              </a:ext>
            </a:extLst>
          </p:cNvPr>
          <p:cNvSpPr txBox="1"/>
          <p:nvPr/>
        </p:nvSpPr>
        <p:spPr>
          <a:xfrm>
            <a:off x="3969492" y="2541336"/>
            <a:ext cx="1006549"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LIN</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27" name="TextBox 26">
            <a:extLst>
              <a:ext uri="{FF2B5EF4-FFF2-40B4-BE49-F238E27FC236}">
                <a16:creationId xmlns:a16="http://schemas.microsoft.com/office/drawing/2014/main" id="{8DC0F617-36A6-437C-AB4F-4B71513C8393}"/>
              </a:ext>
            </a:extLst>
          </p:cNvPr>
          <p:cNvSpPr txBox="1"/>
          <p:nvPr/>
        </p:nvSpPr>
        <p:spPr>
          <a:xfrm>
            <a:off x="3983669" y="2994979"/>
            <a:ext cx="1318440"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IrDA SIR</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28" name="TextBox 27">
            <a:extLst>
              <a:ext uri="{FF2B5EF4-FFF2-40B4-BE49-F238E27FC236}">
                <a16:creationId xmlns:a16="http://schemas.microsoft.com/office/drawing/2014/main" id="{1A4E7BBB-449D-4465-BEF7-EC72D7B5ED83}"/>
              </a:ext>
            </a:extLst>
          </p:cNvPr>
          <p:cNvSpPr txBox="1"/>
          <p:nvPr/>
        </p:nvSpPr>
        <p:spPr>
          <a:xfrm>
            <a:off x="3931679" y="3396658"/>
            <a:ext cx="1370431"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Modbus</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34" name="Rectangle: Rounded Corners 33">
            <a:extLst>
              <a:ext uri="{FF2B5EF4-FFF2-40B4-BE49-F238E27FC236}">
                <a16:creationId xmlns:a16="http://schemas.microsoft.com/office/drawing/2014/main" id="{1B894F52-A704-4200-B0FF-E02ADE572AA6}"/>
              </a:ext>
            </a:extLst>
          </p:cNvPr>
          <p:cNvSpPr/>
          <p:nvPr/>
        </p:nvSpPr>
        <p:spPr>
          <a:xfrm>
            <a:off x="6542000" y="1752159"/>
            <a:ext cx="2153093" cy="2080288"/>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sz="2000" b="1" dirty="0">
                <a:latin typeface="Gill Sans" panose="020B0604020202020204" charset="0"/>
                <a:cs typeface="Gill Sans" panose="020B0604020202020204" charset="0"/>
              </a:rPr>
              <a:t>UART</a:t>
            </a:r>
            <a:endParaRPr lang="en-US" sz="2000" b="1" dirty="0">
              <a:latin typeface="Gill Sans" panose="020B0604020202020204" charset="0"/>
              <a:cs typeface="Gill Sans" panose="020B0604020202020204" charset="0"/>
            </a:endParaRPr>
          </a:p>
        </p:txBody>
      </p:sp>
      <p:sp>
        <p:nvSpPr>
          <p:cNvPr id="35" name="TextBox 34">
            <a:extLst>
              <a:ext uri="{FF2B5EF4-FFF2-40B4-BE49-F238E27FC236}">
                <a16:creationId xmlns:a16="http://schemas.microsoft.com/office/drawing/2014/main" id="{CA48ED56-0B67-4952-B0FF-06C0A0584108}"/>
              </a:ext>
            </a:extLst>
          </p:cNvPr>
          <p:cNvSpPr txBox="1"/>
          <p:nvPr/>
        </p:nvSpPr>
        <p:spPr>
          <a:xfrm>
            <a:off x="7149825" y="1776814"/>
            <a:ext cx="992372" cy="400110"/>
          </a:xfrm>
          <a:prstGeom prst="rect">
            <a:avLst/>
          </a:prstGeom>
          <a:noFill/>
        </p:spPr>
        <p:txBody>
          <a:bodyPr wrap="square" rtlCol="0">
            <a:spAutoFit/>
          </a:bodyPr>
          <a:lstStyle/>
          <a:p>
            <a:pPr algn="ctr"/>
            <a:r>
              <a:rPr lang="en-IN" sz="2000" b="1" dirty="0">
                <a:latin typeface="Gill Sans" panose="020B0604020202020204" charset="0"/>
                <a:cs typeface="Gill Sans" panose="020B0604020202020204" charset="0"/>
              </a:rPr>
              <a:t>MCU</a:t>
            </a:r>
            <a:endParaRPr lang="en-US" sz="2000" b="1" dirty="0">
              <a:latin typeface="Gill Sans" panose="020B0604020202020204" charset="0"/>
              <a:cs typeface="Gill Sans" panose="020B0604020202020204" charset="0"/>
            </a:endParaRPr>
          </a:p>
        </p:txBody>
      </p:sp>
      <p:cxnSp>
        <p:nvCxnSpPr>
          <p:cNvPr id="36" name="Straight Arrow Connector 35">
            <a:extLst>
              <a:ext uri="{FF2B5EF4-FFF2-40B4-BE49-F238E27FC236}">
                <a16:creationId xmlns:a16="http://schemas.microsoft.com/office/drawing/2014/main" id="{8AAA149A-A35A-4C8B-8BA8-4A0B8D4D7591}"/>
              </a:ext>
            </a:extLst>
          </p:cNvPr>
          <p:cNvCxnSpPr>
            <a:cxnSpLocks/>
            <a:endCxn id="41" idx="1"/>
          </p:cNvCxnSpPr>
          <p:nvPr/>
        </p:nvCxnSpPr>
        <p:spPr>
          <a:xfrm flipV="1">
            <a:off x="8709271" y="2193223"/>
            <a:ext cx="978198" cy="59908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9D3390E-25BC-4A0F-93F5-2F34D08A3231}"/>
              </a:ext>
            </a:extLst>
          </p:cNvPr>
          <p:cNvCxnSpPr>
            <a:cxnSpLocks/>
            <a:endCxn id="42" idx="1"/>
          </p:cNvCxnSpPr>
          <p:nvPr/>
        </p:nvCxnSpPr>
        <p:spPr>
          <a:xfrm flipV="1">
            <a:off x="8699818" y="2646878"/>
            <a:ext cx="959297" cy="16432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BF5ECEC-9657-4652-8BBC-287EC3C81C9B}"/>
              </a:ext>
            </a:extLst>
          </p:cNvPr>
          <p:cNvCxnSpPr>
            <a:cxnSpLocks/>
            <a:endCxn id="43" idx="1"/>
          </p:cNvCxnSpPr>
          <p:nvPr/>
        </p:nvCxnSpPr>
        <p:spPr>
          <a:xfrm>
            <a:off x="8685639" y="2825379"/>
            <a:ext cx="987652" cy="23263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5DA91E8-4B41-4E35-B019-D9A1D0652C63}"/>
              </a:ext>
            </a:extLst>
          </p:cNvPr>
          <p:cNvCxnSpPr>
            <a:cxnSpLocks/>
          </p:cNvCxnSpPr>
          <p:nvPr/>
        </p:nvCxnSpPr>
        <p:spPr>
          <a:xfrm>
            <a:off x="8690364" y="2846933"/>
            <a:ext cx="997104" cy="66737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777F4AA-808E-4621-980B-3BD9B4A17E43}"/>
              </a:ext>
            </a:extLst>
          </p:cNvPr>
          <p:cNvSpPr txBox="1"/>
          <p:nvPr/>
        </p:nvSpPr>
        <p:spPr>
          <a:xfrm>
            <a:off x="9687469" y="1993168"/>
            <a:ext cx="2688828"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Debugging</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42" name="TextBox 41">
            <a:extLst>
              <a:ext uri="{FF2B5EF4-FFF2-40B4-BE49-F238E27FC236}">
                <a16:creationId xmlns:a16="http://schemas.microsoft.com/office/drawing/2014/main" id="{0667281F-267A-481A-B833-FE3015C37FEF}"/>
              </a:ext>
            </a:extLst>
          </p:cNvPr>
          <p:cNvSpPr txBox="1"/>
          <p:nvPr/>
        </p:nvSpPr>
        <p:spPr>
          <a:xfrm>
            <a:off x="9659115" y="2446823"/>
            <a:ext cx="2586685"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Mouse / Monitor</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43" name="TextBox 42">
            <a:extLst>
              <a:ext uri="{FF2B5EF4-FFF2-40B4-BE49-F238E27FC236}">
                <a16:creationId xmlns:a16="http://schemas.microsoft.com/office/drawing/2014/main" id="{59E259A3-1901-499E-BD36-73FAB259254A}"/>
              </a:ext>
            </a:extLst>
          </p:cNvPr>
          <p:cNvSpPr txBox="1"/>
          <p:nvPr/>
        </p:nvSpPr>
        <p:spPr>
          <a:xfrm>
            <a:off x="9673291" y="2857954"/>
            <a:ext cx="1559439"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Printer</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44" name="TextBox 43">
            <a:extLst>
              <a:ext uri="{FF2B5EF4-FFF2-40B4-BE49-F238E27FC236}">
                <a16:creationId xmlns:a16="http://schemas.microsoft.com/office/drawing/2014/main" id="{054F411B-EE5E-452B-9586-4DB1F999380D}"/>
              </a:ext>
            </a:extLst>
          </p:cNvPr>
          <p:cNvSpPr txBox="1"/>
          <p:nvPr/>
        </p:nvSpPr>
        <p:spPr>
          <a:xfrm>
            <a:off x="9687468" y="3311598"/>
            <a:ext cx="2025483"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Serial Ports</a:t>
            </a:r>
            <a:endParaRPr lang="en-US" sz="2000" b="1" dirty="0">
              <a:solidFill>
                <a:schemeClr val="accent5">
                  <a:lumMod val="50000"/>
                </a:schemeClr>
              </a:solidFill>
              <a:latin typeface="Gill Sans" panose="020B0604020202020204" charset="0"/>
              <a:cs typeface="Gill Sans" panose="020B0604020202020204" charset="0"/>
            </a:endParaRPr>
          </a:p>
        </p:txBody>
      </p:sp>
      <p:sp>
        <p:nvSpPr>
          <p:cNvPr id="49" name="TextBox 48">
            <a:extLst>
              <a:ext uri="{FF2B5EF4-FFF2-40B4-BE49-F238E27FC236}">
                <a16:creationId xmlns:a16="http://schemas.microsoft.com/office/drawing/2014/main" id="{C5715D86-D0EE-4D17-BD5C-2F139FBA1E40}"/>
              </a:ext>
            </a:extLst>
          </p:cNvPr>
          <p:cNvSpPr txBox="1"/>
          <p:nvPr/>
        </p:nvSpPr>
        <p:spPr>
          <a:xfrm>
            <a:off x="3936400" y="3727454"/>
            <a:ext cx="1573616"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SPI Master</a:t>
            </a:r>
            <a:endParaRPr lang="en-US" sz="2000" b="1" dirty="0">
              <a:solidFill>
                <a:schemeClr val="accent5">
                  <a:lumMod val="50000"/>
                </a:schemeClr>
              </a:solidFill>
              <a:latin typeface="Gill Sans" panose="020B0604020202020204" charset="0"/>
              <a:cs typeface="Gill Sans" panose="020B0604020202020204" charset="0"/>
            </a:endParaRPr>
          </a:p>
        </p:txBody>
      </p:sp>
      <p:cxnSp>
        <p:nvCxnSpPr>
          <p:cNvPr id="50" name="Straight Arrow Connector 49">
            <a:extLst>
              <a:ext uri="{FF2B5EF4-FFF2-40B4-BE49-F238E27FC236}">
                <a16:creationId xmlns:a16="http://schemas.microsoft.com/office/drawing/2014/main" id="{C40F513F-657E-4258-8C5F-9E25F796B1F5}"/>
              </a:ext>
            </a:extLst>
          </p:cNvPr>
          <p:cNvCxnSpPr>
            <a:cxnSpLocks/>
            <a:endCxn id="49" idx="1"/>
          </p:cNvCxnSpPr>
          <p:nvPr/>
        </p:nvCxnSpPr>
        <p:spPr>
          <a:xfrm>
            <a:off x="2966770" y="2861201"/>
            <a:ext cx="969630" cy="106630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5959C9A0-72C7-42A3-B00B-2B6DFEC538EF}"/>
              </a:ext>
            </a:extLst>
          </p:cNvPr>
          <p:cNvSpPr/>
          <p:nvPr/>
        </p:nvSpPr>
        <p:spPr>
          <a:xfrm>
            <a:off x="978191" y="4253023"/>
            <a:ext cx="2821179" cy="241004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chemeClr val="accent6">
                    <a:lumMod val="75000"/>
                  </a:schemeClr>
                </a:solidFill>
                <a:latin typeface="Gill Sans" panose="020B0604020202020204" charset="0"/>
                <a:cs typeface="Gill Sans" panose="020B0604020202020204" charset="0"/>
              </a:rPr>
              <a:t>U</a:t>
            </a:r>
            <a:r>
              <a:rPr lang="en-IN" sz="2000" dirty="0">
                <a:solidFill>
                  <a:schemeClr val="accent6">
                    <a:lumMod val="75000"/>
                  </a:schemeClr>
                </a:solidFill>
                <a:latin typeface="Gill Sans" panose="020B0604020202020204" charset="0"/>
                <a:cs typeface="Gill Sans" panose="020B0604020202020204" charset="0"/>
              </a:rPr>
              <a:t>niversal</a:t>
            </a:r>
          </a:p>
          <a:p>
            <a:endParaRPr lang="en-IN" sz="7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S</a:t>
            </a:r>
            <a:r>
              <a:rPr lang="en-IN" sz="2000" dirty="0">
                <a:solidFill>
                  <a:schemeClr val="accent6">
                    <a:lumMod val="75000"/>
                  </a:schemeClr>
                </a:solidFill>
                <a:latin typeface="Gill Sans" panose="020B0604020202020204" charset="0"/>
                <a:cs typeface="Gill Sans" panose="020B0604020202020204" charset="0"/>
              </a:rPr>
              <a:t>ynchronous</a:t>
            </a:r>
          </a:p>
          <a:p>
            <a:endParaRPr lang="en-IN" sz="7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A</a:t>
            </a:r>
            <a:r>
              <a:rPr lang="en-IN" sz="2000" dirty="0">
                <a:solidFill>
                  <a:schemeClr val="accent6">
                    <a:lumMod val="75000"/>
                  </a:schemeClr>
                </a:solidFill>
                <a:latin typeface="Gill Sans" panose="020B0604020202020204" charset="0"/>
                <a:cs typeface="Gill Sans" panose="020B0604020202020204" charset="0"/>
              </a:rPr>
              <a:t>synchronous</a:t>
            </a:r>
          </a:p>
          <a:p>
            <a:endParaRPr lang="en-IN" sz="7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R</a:t>
            </a:r>
            <a:r>
              <a:rPr lang="en-IN" sz="2000" dirty="0">
                <a:solidFill>
                  <a:schemeClr val="accent6">
                    <a:lumMod val="75000"/>
                  </a:schemeClr>
                </a:solidFill>
                <a:latin typeface="Gill Sans" panose="020B0604020202020204" charset="0"/>
                <a:cs typeface="Gill Sans" panose="020B0604020202020204" charset="0"/>
              </a:rPr>
              <a:t>eceiver</a:t>
            </a:r>
          </a:p>
          <a:p>
            <a:endParaRPr lang="en-IN" sz="4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T</a:t>
            </a:r>
            <a:r>
              <a:rPr lang="en-IN" sz="2000" dirty="0">
                <a:solidFill>
                  <a:schemeClr val="accent6">
                    <a:lumMod val="75000"/>
                  </a:schemeClr>
                </a:solidFill>
                <a:latin typeface="Gill Sans" panose="020B0604020202020204" charset="0"/>
                <a:cs typeface="Gill Sans" panose="020B0604020202020204" charset="0"/>
              </a:rPr>
              <a:t>ransmitter</a:t>
            </a:r>
            <a:endParaRPr lang="en-US" sz="2000" dirty="0">
              <a:solidFill>
                <a:schemeClr val="accent6">
                  <a:lumMod val="75000"/>
                </a:schemeClr>
              </a:solidFill>
              <a:latin typeface="Gill Sans" panose="020B0604020202020204" charset="0"/>
              <a:cs typeface="Gill Sans" panose="020B0604020202020204" charset="0"/>
            </a:endParaRPr>
          </a:p>
        </p:txBody>
      </p:sp>
      <p:sp>
        <p:nvSpPr>
          <p:cNvPr id="56" name="Rectangle: Rounded Corners 55">
            <a:extLst>
              <a:ext uri="{FF2B5EF4-FFF2-40B4-BE49-F238E27FC236}">
                <a16:creationId xmlns:a16="http://schemas.microsoft.com/office/drawing/2014/main" id="{17209EE3-976C-4E09-8AB0-2AFD392454D8}"/>
              </a:ext>
            </a:extLst>
          </p:cNvPr>
          <p:cNvSpPr/>
          <p:nvPr/>
        </p:nvSpPr>
        <p:spPr>
          <a:xfrm>
            <a:off x="6738695" y="4257747"/>
            <a:ext cx="2821179" cy="241004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chemeClr val="accent6">
                    <a:lumMod val="75000"/>
                  </a:schemeClr>
                </a:solidFill>
                <a:latin typeface="Gill Sans" panose="020B0604020202020204" charset="0"/>
                <a:cs typeface="Gill Sans" panose="020B0604020202020204" charset="0"/>
              </a:rPr>
              <a:t>U</a:t>
            </a:r>
            <a:r>
              <a:rPr lang="en-IN" sz="2000" dirty="0">
                <a:solidFill>
                  <a:schemeClr val="accent6">
                    <a:lumMod val="75000"/>
                  </a:schemeClr>
                </a:solidFill>
                <a:latin typeface="Gill Sans" panose="020B0604020202020204" charset="0"/>
                <a:cs typeface="Gill Sans" panose="020B0604020202020204" charset="0"/>
              </a:rPr>
              <a:t>niversal</a:t>
            </a:r>
          </a:p>
          <a:p>
            <a:endParaRPr lang="en-IN" sz="7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A</a:t>
            </a:r>
            <a:r>
              <a:rPr lang="en-IN" sz="2000" dirty="0">
                <a:solidFill>
                  <a:schemeClr val="accent6">
                    <a:lumMod val="75000"/>
                  </a:schemeClr>
                </a:solidFill>
                <a:latin typeface="Gill Sans" panose="020B0604020202020204" charset="0"/>
                <a:cs typeface="Gill Sans" panose="020B0604020202020204" charset="0"/>
              </a:rPr>
              <a:t>synchronous</a:t>
            </a:r>
          </a:p>
          <a:p>
            <a:endParaRPr lang="en-IN" sz="7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R</a:t>
            </a:r>
            <a:r>
              <a:rPr lang="en-IN" sz="2000" dirty="0">
                <a:solidFill>
                  <a:schemeClr val="accent6">
                    <a:lumMod val="75000"/>
                  </a:schemeClr>
                </a:solidFill>
                <a:latin typeface="Gill Sans" panose="020B0604020202020204" charset="0"/>
                <a:cs typeface="Gill Sans" panose="020B0604020202020204" charset="0"/>
              </a:rPr>
              <a:t>eceiver</a:t>
            </a:r>
          </a:p>
          <a:p>
            <a:endParaRPr lang="en-IN" sz="400" dirty="0">
              <a:solidFill>
                <a:schemeClr val="accent6">
                  <a:lumMod val="75000"/>
                </a:schemeClr>
              </a:solidFill>
              <a:latin typeface="Gill Sans" panose="020B0604020202020204" charset="0"/>
              <a:cs typeface="Gill Sans" panose="020B0604020202020204" charset="0"/>
            </a:endParaRPr>
          </a:p>
          <a:p>
            <a:r>
              <a:rPr lang="en-IN" sz="2000" b="1" dirty="0">
                <a:solidFill>
                  <a:schemeClr val="accent6">
                    <a:lumMod val="75000"/>
                  </a:schemeClr>
                </a:solidFill>
                <a:latin typeface="Gill Sans" panose="020B0604020202020204" charset="0"/>
                <a:cs typeface="Gill Sans" panose="020B0604020202020204" charset="0"/>
              </a:rPr>
              <a:t>T</a:t>
            </a:r>
            <a:r>
              <a:rPr lang="en-IN" sz="2000" dirty="0">
                <a:solidFill>
                  <a:schemeClr val="accent6">
                    <a:lumMod val="75000"/>
                  </a:schemeClr>
                </a:solidFill>
                <a:latin typeface="Gill Sans" panose="020B0604020202020204" charset="0"/>
                <a:cs typeface="Gill Sans" panose="020B0604020202020204" charset="0"/>
              </a:rPr>
              <a:t>ransmitter</a:t>
            </a:r>
            <a:endParaRPr lang="en-US" sz="2000" dirty="0">
              <a:solidFill>
                <a:schemeClr val="accent6">
                  <a:lumMod val="75000"/>
                </a:schemeClr>
              </a:solidFill>
              <a:latin typeface="Gill Sans" panose="020B0604020202020204" charset="0"/>
              <a:cs typeface="Gill Sans" panose="020B0604020202020204" charset="0"/>
            </a:endParaRPr>
          </a:p>
        </p:txBody>
      </p:sp>
      <p:cxnSp>
        <p:nvCxnSpPr>
          <p:cNvPr id="29" name="Straight Arrow Connector 28">
            <a:extLst>
              <a:ext uri="{FF2B5EF4-FFF2-40B4-BE49-F238E27FC236}">
                <a16:creationId xmlns:a16="http://schemas.microsoft.com/office/drawing/2014/main" id="{8597FD81-C759-4385-81FE-3AD12B666C92}"/>
              </a:ext>
            </a:extLst>
          </p:cNvPr>
          <p:cNvCxnSpPr>
            <a:cxnSpLocks/>
          </p:cNvCxnSpPr>
          <p:nvPr/>
        </p:nvCxnSpPr>
        <p:spPr>
          <a:xfrm flipV="1">
            <a:off x="8699819" y="1882688"/>
            <a:ext cx="860055" cy="85763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A426D64-AE11-40EF-9FC4-9A68802B2FBE}"/>
              </a:ext>
            </a:extLst>
          </p:cNvPr>
          <p:cNvSpPr txBox="1"/>
          <p:nvPr/>
        </p:nvSpPr>
        <p:spPr>
          <a:xfrm>
            <a:off x="9635483" y="1615117"/>
            <a:ext cx="2688828" cy="400110"/>
          </a:xfrm>
          <a:prstGeom prst="rect">
            <a:avLst/>
          </a:prstGeom>
          <a:noFill/>
        </p:spPr>
        <p:txBody>
          <a:bodyPr wrap="square" rtlCol="0">
            <a:spAutoFit/>
          </a:bodyPr>
          <a:lstStyle/>
          <a:p>
            <a:r>
              <a:rPr lang="en-IN" sz="2000" b="1" dirty="0">
                <a:solidFill>
                  <a:schemeClr val="accent5">
                    <a:lumMod val="50000"/>
                  </a:schemeClr>
                </a:solidFill>
                <a:latin typeface="Gill Sans" panose="020B0604020202020204" charset="0"/>
                <a:cs typeface="Gill Sans" panose="020B0604020202020204" charset="0"/>
              </a:rPr>
              <a:t>GSM/GPRS modules</a:t>
            </a:r>
            <a:endParaRPr lang="en-US" sz="2000" b="1" dirty="0">
              <a:solidFill>
                <a:schemeClr val="accent5">
                  <a:lumMod val="50000"/>
                </a:schemeClr>
              </a:solidFill>
              <a:latin typeface="Gill Sans" panose="020B0604020202020204" charset="0"/>
              <a:cs typeface="Gill Sans" panose="020B0604020202020204" charset="0"/>
            </a:endParaRPr>
          </a:p>
        </p:txBody>
      </p:sp>
    </p:spTree>
    <p:extLst>
      <p:ext uri="{BB962C8B-B14F-4D97-AF65-F5344CB8AC3E}">
        <p14:creationId xmlns:p14="http://schemas.microsoft.com/office/powerpoint/2010/main" val="281876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304B05-10BA-41A8-AB0C-8026328039FD}"/>
              </a:ext>
            </a:extLst>
          </p:cNvPr>
          <p:cNvSpPr>
            <a:spLocks noGrp="1"/>
          </p:cNvSpPr>
          <p:nvPr>
            <p:ph type="body" idx="1"/>
          </p:nvPr>
        </p:nvSpPr>
        <p:spPr>
          <a:xfrm>
            <a:off x="838200" y="1277669"/>
            <a:ext cx="10515600" cy="5418687"/>
          </a:xfrm>
        </p:spPr>
        <p:txBody>
          <a:bodyPr>
            <a:normAutofit/>
          </a:bodyPr>
          <a:lstStyle/>
          <a:p>
            <a:pPr marL="457189" indent="-457189">
              <a:spcAft>
                <a:spcPts val="400"/>
              </a:spcAft>
              <a:buSzPct val="100000"/>
            </a:pPr>
            <a:r>
              <a:rPr lang="en-US" dirty="0">
                <a:latin typeface="Gill Sans" panose="020B0604020202020204" charset="0"/>
                <a:cs typeface="Gill Sans" panose="020B0604020202020204" charset="0"/>
              </a:rPr>
              <a:t>UART/USART converts parallel data into serial.</a:t>
            </a:r>
          </a:p>
          <a:p>
            <a:pPr marL="457189" indent="-457189">
              <a:spcAft>
                <a:spcPts val="400"/>
              </a:spcAft>
              <a:buSzPct val="100000"/>
            </a:pPr>
            <a:r>
              <a:rPr lang="en-US" dirty="0">
                <a:latin typeface="Gill Sans" panose="020B0604020202020204" charset="0"/>
                <a:cs typeface="Gill Sans" panose="020B0604020202020204" charset="0"/>
              </a:rPr>
              <a:t>UART peripheral supports only asynchronous mode.</a:t>
            </a:r>
          </a:p>
          <a:p>
            <a:pPr marL="457189" indent="-457189">
              <a:spcAft>
                <a:spcPts val="400"/>
              </a:spcAft>
              <a:buSzPct val="100000"/>
            </a:pPr>
            <a:r>
              <a:rPr lang="en-US" dirty="0">
                <a:latin typeface="Gill Sans" panose="020B0604020202020204" charset="0"/>
                <a:cs typeface="Gill Sans" panose="020B0604020202020204" charset="0"/>
              </a:rPr>
              <a:t>USART peripheral supports both synchronous and asynchronous mode.</a:t>
            </a:r>
          </a:p>
          <a:p>
            <a:pPr marL="457189" indent="-457189">
              <a:spcAft>
                <a:spcPts val="400"/>
              </a:spcAft>
              <a:buSzPct val="100000"/>
            </a:pPr>
            <a:r>
              <a:rPr lang="en-US" dirty="0">
                <a:latin typeface="Gill Sans" panose="020B0604020202020204" charset="0"/>
                <a:cs typeface="Gill Sans" panose="020B0604020202020204" charset="0"/>
              </a:rPr>
              <a:t>There is no specific port for USART communication. They are commonly used in conjunction with protocols like RS-232, RS-434,USB, etc.</a:t>
            </a:r>
          </a:p>
          <a:p>
            <a:pPr marL="457189" indent="-457189">
              <a:spcAft>
                <a:spcPts val="400"/>
              </a:spcAft>
              <a:buSzPct val="100000"/>
            </a:pPr>
            <a:r>
              <a:rPr lang="en-US" dirty="0">
                <a:latin typeface="Gill Sans" panose="020B0604020202020204" charset="0"/>
                <a:cs typeface="Gill Sans" panose="020B0604020202020204" charset="0"/>
              </a:rPr>
              <a:t>In case of USART for synchronous communication, the clock is sent separately from the data stream and no start/stop bits are used.</a:t>
            </a:r>
          </a:p>
        </p:txBody>
      </p:sp>
      <p:sp>
        <p:nvSpPr>
          <p:cNvPr id="4" name="Title 1">
            <a:extLst>
              <a:ext uri="{FF2B5EF4-FFF2-40B4-BE49-F238E27FC236}">
                <a16:creationId xmlns:a16="http://schemas.microsoft.com/office/drawing/2014/main" id="{8B80C3AD-7A62-4E3D-8033-213053D4E58A}"/>
              </a:ext>
            </a:extLst>
          </p:cNvPr>
          <p:cNvSpPr>
            <a:spLocks noGrp="1"/>
          </p:cNvSpPr>
          <p:nvPr>
            <p:ph type="title"/>
          </p:nvPr>
        </p:nvSpPr>
        <p:spPr>
          <a:xfrm>
            <a:off x="838200" y="153857"/>
            <a:ext cx="10515600" cy="1325600"/>
          </a:xfrm>
        </p:spPr>
        <p:txBody>
          <a:bodyPr>
            <a:normAutofit/>
          </a:bodyPr>
          <a:lstStyle/>
          <a:p>
            <a:pPr algn="ctr"/>
            <a:r>
              <a:rPr lang="en-IN" sz="4000" b="1" dirty="0">
                <a:latin typeface="Helvetica Neue" panose="020B0604020202020204" charset="0"/>
                <a:cs typeface="Gill Sans"/>
              </a:rPr>
              <a:t>USART vs UART protocol</a:t>
            </a:r>
            <a:endParaRPr lang="en-US" sz="4000" dirty="0"/>
          </a:p>
        </p:txBody>
      </p:sp>
    </p:spTree>
    <p:extLst>
      <p:ext uri="{BB962C8B-B14F-4D97-AF65-F5344CB8AC3E}">
        <p14:creationId xmlns:p14="http://schemas.microsoft.com/office/powerpoint/2010/main" val="3077517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F754-DF04-4F9D-824F-2815A2CE6C7E}"/>
              </a:ext>
            </a:extLst>
          </p:cNvPr>
          <p:cNvSpPr>
            <a:spLocks noGrp="1"/>
          </p:cNvSpPr>
          <p:nvPr>
            <p:ph type="title"/>
          </p:nvPr>
        </p:nvSpPr>
        <p:spPr>
          <a:xfrm>
            <a:off x="838200" y="248165"/>
            <a:ext cx="10515600" cy="1325600"/>
          </a:xfrm>
        </p:spPr>
        <p:txBody>
          <a:bodyPr/>
          <a:lstStyle/>
          <a:p>
            <a:pPr algn="ctr"/>
            <a:r>
              <a:rPr lang="en-IN" sz="4267" b="1" dirty="0">
                <a:solidFill>
                  <a:schemeClr val="dk1"/>
                </a:solidFill>
                <a:latin typeface="Helvetica Neue" panose="020B0604020202020204" charset="0"/>
                <a:cs typeface="Gill Sans"/>
              </a:rPr>
              <a:t>UART pins</a:t>
            </a:r>
            <a:endParaRPr lang="en-US" dirty="0"/>
          </a:p>
        </p:txBody>
      </p:sp>
      <p:sp>
        <p:nvSpPr>
          <p:cNvPr id="34" name="Rectangle: Rounded Corners 33">
            <a:extLst>
              <a:ext uri="{FF2B5EF4-FFF2-40B4-BE49-F238E27FC236}">
                <a16:creationId xmlns:a16="http://schemas.microsoft.com/office/drawing/2014/main" id="{1B894F52-A704-4200-B0FF-E02ADE572AA6}"/>
              </a:ext>
            </a:extLst>
          </p:cNvPr>
          <p:cNvSpPr/>
          <p:nvPr/>
        </p:nvSpPr>
        <p:spPr>
          <a:xfrm>
            <a:off x="2288971" y="1573766"/>
            <a:ext cx="2998955" cy="42387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en-IN" sz="2400" b="1" dirty="0">
                <a:latin typeface="Gill Sans" panose="020B0604020202020204" charset="0"/>
                <a:cs typeface="Gill Sans" panose="020B0604020202020204" charset="0"/>
              </a:rPr>
              <a:t>UART</a:t>
            </a:r>
            <a:endParaRPr lang="en-US" sz="2400" b="1" dirty="0">
              <a:latin typeface="Gill Sans" panose="020B0604020202020204" charset="0"/>
              <a:cs typeface="Gill Sans" panose="020B0604020202020204" charset="0"/>
            </a:endParaRPr>
          </a:p>
        </p:txBody>
      </p:sp>
      <p:sp>
        <p:nvSpPr>
          <p:cNvPr id="3" name="Rectangle: Rounded Corners 2">
            <a:extLst>
              <a:ext uri="{FF2B5EF4-FFF2-40B4-BE49-F238E27FC236}">
                <a16:creationId xmlns:a16="http://schemas.microsoft.com/office/drawing/2014/main" id="{67DA48A0-E36F-4BB9-8248-EBBB0F75FCFC}"/>
              </a:ext>
            </a:extLst>
          </p:cNvPr>
          <p:cNvSpPr/>
          <p:nvPr/>
        </p:nvSpPr>
        <p:spPr>
          <a:xfrm>
            <a:off x="3771018" y="2197396"/>
            <a:ext cx="1474381" cy="14318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Data Control</a:t>
            </a:r>
            <a:endParaRPr lang="en-US" sz="2400" dirty="0"/>
          </a:p>
        </p:txBody>
      </p:sp>
      <p:sp>
        <p:nvSpPr>
          <p:cNvPr id="30" name="Rectangle: Rounded Corners 29">
            <a:extLst>
              <a:ext uri="{FF2B5EF4-FFF2-40B4-BE49-F238E27FC236}">
                <a16:creationId xmlns:a16="http://schemas.microsoft.com/office/drawing/2014/main" id="{B6F5A17F-711D-4D82-95C0-6B011E47BCEE}"/>
              </a:ext>
            </a:extLst>
          </p:cNvPr>
          <p:cNvSpPr/>
          <p:nvPr/>
        </p:nvSpPr>
        <p:spPr>
          <a:xfrm>
            <a:off x="3775742" y="3775745"/>
            <a:ext cx="1474381" cy="143185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Hardware Control</a:t>
            </a:r>
            <a:endParaRPr lang="en-US" sz="2400" dirty="0"/>
          </a:p>
        </p:txBody>
      </p:sp>
      <p:cxnSp>
        <p:nvCxnSpPr>
          <p:cNvPr id="9" name="Straight Arrow Connector 8">
            <a:extLst>
              <a:ext uri="{FF2B5EF4-FFF2-40B4-BE49-F238E27FC236}">
                <a16:creationId xmlns:a16="http://schemas.microsoft.com/office/drawing/2014/main" id="{910A81E4-778A-41FD-9E7A-1B03E480D8E5}"/>
              </a:ext>
            </a:extLst>
          </p:cNvPr>
          <p:cNvCxnSpPr/>
          <p:nvPr/>
        </p:nvCxnSpPr>
        <p:spPr>
          <a:xfrm>
            <a:off x="5245400" y="2580168"/>
            <a:ext cx="130425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CF04FED-0FBF-45D9-B239-F40B1E37A9A4}"/>
              </a:ext>
            </a:extLst>
          </p:cNvPr>
          <p:cNvCxnSpPr>
            <a:cxnSpLocks/>
          </p:cNvCxnSpPr>
          <p:nvPr/>
        </p:nvCxnSpPr>
        <p:spPr>
          <a:xfrm flipH="1">
            <a:off x="5231221" y="3166145"/>
            <a:ext cx="132316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B14C22-2FDE-47A0-B3DD-B1E9B9E463FA}"/>
              </a:ext>
            </a:extLst>
          </p:cNvPr>
          <p:cNvSpPr txBox="1"/>
          <p:nvPr/>
        </p:nvSpPr>
        <p:spPr>
          <a:xfrm>
            <a:off x="6478771" y="2367518"/>
            <a:ext cx="609600" cy="461665"/>
          </a:xfrm>
          <a:prstGeom prst="rect">
            <a:avLst/>
          </a:prstGeom>
          <a:noFill/>
        </p:spPr>
        <p:txBody>
          <a:bodyPr wrap="square" rtlCol="0">
            <a:spAutoFit/>
          </a:bodyPr>
          <a:lstStyle/>
          <a:p>
            <a:r>
              <a:rPr lang="en-IN" sz="2400" b="1" dirty="0">
                <a:solidFill>
                  <a:schemeClr val="accent6">
                    <a:lumMod val="50000"/>
                  </a:schemeClr>
                </a:solidFill>
              </a:rPr>
              <a:t>Tx</a:t>
            </a:r>
            <a:endParaRPr lang="en-US" sz="2400" b="1" dirty="0">
              <a:solidFill>
                <a:schemeClr val="accent6">
                  <a:lumMod val="50000"/>
                </a:schemeClr>
              </a:solidFill>
            </a:endParaRPr>
          </a:p>
        </p:txBody>
      </p:sp>
      <p:sp>
        <p:nvSpPr>
          <p:cNvPr id="46" name="TextBox 45">
            <a:extLst>
              <a:ext uri="{FF2B5EF4-FFF2-40B4-BE49-F238E27FC236}">
                <a16:creationId xmlns:a16="http://schemas.microsoft.com/office/drawing/2014/main" id="{A0F71CB1-F8A6-4FF9-8FA7-2F80E831D0C4}"/>
              </a:ext>
            </a:extLst>
          </p:cNvPr>
          <p:cNvSpPr txBox="1"/>
          <p:nvPr/>
        </p:nvSpPr>
        <p:spPr>
          <a:xfrm>
            <a:off x="6483495" y="2939321"/>
            <a:ext cx="609600" cy="461665"/>
          </a:xfrm>
          <a:prstGeom prst="rect">
            <a:avLst/>
          </a:prstGeom>
          <a:noFill/>
        </p:spPr>
        <p:txBody>
          <a:bodyPr wrap="square" rtlCol="0">
            <a:spAutoFit/>
          </a:bodyPr>
          <a:lstStyle/>
          <a:p>
            <a:r>
              <a:rPr lang="en-IN" sz="2400" b="1" dirty="0">
                <a:solidFill>
                  <a:schemeClr val="accent6">
                    <a:lumMod val="50000"/>
                  </a:schemeClr>
                </a:solidFill>
              </a:rPr>
              <a:t>Rx</a:t>
            </a:r>
            <a:endParaRPr lang="en-US" sz="2400" b="1" dirty="0">
              <a:solidFill>
                <a:schemeClr val="accent6">
                  <a:lumMod val="50000"/>
                </a:schemeClr>
              </a:solidFill>
            </a:endParaRPr>
          </a:p>
        </p:txBody>
      </p:sp>
      <p:cxnSp>
        <p:nvCxnSpPr>
          <p:cNvPr id="47" name="Straight Arrow Connector 46">
            <a:extLst>
              <a:ext uri="{FF2B5EF4-FFF2-40B4-BE49-F238E27FC236}">
                <a16:creationId xmlns:a16="http://schemas.microsoft.com/office/drawing/2014/main" id="{E4A95F3C-70CD-47D7-965C-F898A21E15BB}"/>
              </a:ext>
            </a:extLst>
          </p:cNvPr>
          <p:cNvCxnSpPr/>
          <p:nvPr/>
        </p:nvCxnSpPr>
        <p:spPr>
          <a:xfrm>
            <a:off x="5278474" y="4158517"/>
            <a:ext cx="1304257" cy="0"/>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8AC27A39-3148-42D2-A79D-20A83793EAFB}"/>
              </a:ext>
            </a:extLst>
          </p:cNvPr>
          <p:cNvCxnSpPr>
            <a:cxnSpLocks/>
          </p:cNvCxnSpPr>
          <p:nvPr/>
        </p:nvCxnSpPr>
        <p:spPr>
          <a:xfrm flipH="1">
            <a:off x="5264295" y="4744495"/>
            <a:ext cx="1323167" cy="0"/>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455EC632-1A85-4536-930A-476F8F461397}"/>
              </a:ext>
            </a:extLst>
          </p:cNvPr>
          <p:cNvSpPr txBox="1"/>
          <p:nvPr/>
        </p:nvSpPr>
        <p:spPr>
          <a:xfrm>
            <a:off x="6511845" y="3945868"/>
            <a:ext cx="902592" cy="461665"/>
          </a:xfrm>
          <a:prstGeom prst="rect">
            <a:avLst/>
          </a:prstGeom>
          <a:noFill/>
        </p:spPr>
        <p:txBody>
          <a:bodyPr wrap="square" rtlCol="0">
            <a:spAutoFit/>
          </a:bodyPr>
          <a:lstStyle/>
          <a:p>
            <a:r>
              <a:rPr lang="en-IN" sz="2400" b="1" dirty="0">
                <a:solidFill>
                  <a:schemeClr val="accent6">
                    <a:lumMod val="50000"/>
                  </a:schemeClr>
                </a:solidFill>
              </a:rPr>
              <a:t>RTS</a:t>
            </a:r>
            <a:endParaRPr lang="en-US" sz="2400" b="1" dirty="0">
              <a:solidFill>
                <a:schemeClr val="accent6">
                  <a:lumMod val="50000"/>
                </a:schemeClr>
              </a:solidFill>
            </a:endParaRPr>
          </a:p>
        </p:txBody>
      </p:sp>
      <p:sp>
        <p:nvSpPr>
          <p:cNvPr id="52" name="TextBox 51">
            <a:extLst>
              <a:ext uri="{FF2B5EF4-FFF2-40B4-BE49-F238E27FC236}">
                <a16:creationId xmlns:a16="http://schemas.microsoft.com/office/drawing/2014/main" id="{DB52CA9E-F9D6-4C54-AFAD-43F78BDBFC6B}"/>
              </a:ext>
            </a:extLst>
          </p:cNvPr>
          <p:cNvSpPr txBox="1"/>
          <p:nvPr/>
        </p:nvSpPr>
        <p:spPr>
          <a:xfrm>
            <a:off x="6516569" y="4517670"/>
            <a:ext cx="798632" cy="461665"/>
          </a:xfrm>
          <a:prstGeom prst="rect">
            <a:avLst/>
          </a:prstGeom>
          <a:noFill/>
        </p:spPr>
        <p:txBody>
          <a:bodyPr wrap="square" rtlCol="0">
            <a:spAutoFit/>
          </a:bodyPr>
          <a:lstStyle/>
          <a:p>
            <a:r>
              <a:rPr lang="en-IN" sz="2400" b="1" dirty="0">
                <a:solidFill>
                  <a:schemeClr val="accent6">
                    <a:lumMod val="50000"/>
                  </a:schemeClr>
                </a:solidFill>
              </a:rPr>
              <a:t>CTS</a:t>
            </a:r>
            <a:endParaRPr lang="en-US" sz="2400" b="1" dirty="0">
              <a:solidFill>
                <a:schemeClr val="accent6">
                  <a:lumMod val="50000"/>
                </a:schemeClr>
              </a:solidFill>
            </a:endParaRPr>
          </a:p>
        </p:txBody>
      </p:sp>
    </p:spTree>
    <p:extLst>
      <p:ext uri="{BB962C8B-B14F-4D97-AF65-F5344CB8AC3E}">
        <p14:creationId xmlns:p14="http://schemas.microsoft.com/office/powerpoint/2010/main" val="2865127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F754-DF04-4F9D-824F-2815A2CE6C7E}"/>
              </a:ext>
            </a:extLst>
          </p:cNvPr>
          <p:cNvSpPr>
            <a:spLocks noGrp="1"/>
          </p:cNvSpPr>
          <p:nvPr>
            <p:ph type="title"/>
          </p:nvPr>
        </p:nvSpPr>
        <p:spPr>
          <a:xfrm>
            <a:off x="838200" y="205635"/>
            <a:ext cx="10515600" cy="1325600"/>
          </a:xfrm>
        </p:spPr>
        <p:txBody>
          <a:bodyPr/>
          <a:lstStyle/>
          <a:p>
            <a:pPr algn="ctr"/>
            <a:r>
              <a:rPr lang="en-IN" sz="4267" b="1" dirty="0">
                <a:solidFill>
                  <a:schemeClr val="dk1"/>
                </a:solidFill>
                <a:latin typeface="Helvetica Neue" panose="020B0604020202020204" charset="0"/>
                <a:cs typeface="Gill Sans"/>
              </a:rPr>
              <a:t>UART Communication</a:t>
            </a:r>
            <a:endParaRPr lang="en-US" dirty="0"/>
          </a:p>
        </p:txBody>
      </p:sp>
      <p:sp>
        <p:nvSpPr>
          <p:cNvPr id="34" name="Rectangle: Rounded Corners 33">
            <a:extLst>
              <a:ext uri="{FF2B5EF4-FFF2-40B4-BE49-F238E27FC236}">
                <a16:creationId xmlns:a16="http://schemas.microsoft.com/office/drawing/2014/main" id="{1B894F52-A704-4200-B0FF-E02ADE572AA6}"/>
              </a:ext>
            </a:extLst>
          </p:cNvPr>
          <p:cNvSpPr/>
          <p:nvPr/>
        </p:nvSpPr>
        <p:spPr>
          <a:xfrm>
            <a:off x="1565951" y="1431994"/>
            <a:ext cx="2998955" cy="42387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en-IN" sz="2400" b="1" dirty="0">
                <a:latin typeface="Gill Sans" panose="020B0604020202020204" charset="0"/>
                <a:cs typeface="Gill Sans" panose="020B0604020202020204" charset="0"/>
              </a:rPr>
              <a:t>UART1</a:t>
            </a:r>
            <a:endParaRPr lang="en-US" sz="2400" b="1" dirty="0">
              <a:latin typeface="Gill Sans" panose="020B0604020202020204" charset="0"/>
              <a:cs typeface="Gill Sans" panose="020B0604020202020204" charset="0"/>
            </a:endParaRPr>
          </a:p>
        </p:txBody>
      </p:sp>
      <p:sp>
        <p:nvSpPr>
          <p:cNvPr id="3" name="Rectangle: Rounded Corners 2">
            <a:extLst>
              <a:ext uri="{FF2B5EF4-FFF2-40B4-BE49-F238E27FC236}">
                <a16:creationId xmlns:a16="http://schemas.microsoft.com/office/drawing/2014/main" id="{67DA48A0-E36F-4BB9-8248-EBBB0F75FCFC}"/>
              </a:ext>
            </a:extLst>
          </p:cNvPr>
          <p:cNvSpPr/>
          <p:nvPr/>
        </p:nvSpPr>
        <p:spPr>
          <a:xfrm>
            <a:off x="3047998" y="2055624"/>
            <a:ext cx="1474381" cy="14318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Data Control</a:t>
            </a:r>
            <a:endParaRPr lang="en-US" sz="2400" dirty="0"/>
          </a:p>
        </p:txBody>
      </p:sp>
      <p:sp>
        <p:nvSpPr>
          <p:cNvPr id="30" name="Rectangle: Rounded Corners 29">
            <a:extLst>
              <a:ext uri="{FF2B5EF4-FFF2-40B4-BE49-F238E27FC236}">
                <a16:creationId xmlns:a16="http://schemas.microsoft.com/office/drawing/2014/main" id="{B6F5A17F-711D-4D82-95C0-6B011E47BCEE}"/>
              </a:ext>
            </a:extLst>
          </p:cNvPr>
          <p:cNvSpPr/>
          <p:nvPr/>
        </p:nvSpPr>
        <p:spPr>
          <a:xfrm>
            <a:off x="3052722" y="3633973"/>
            <a:ext cx="1474381" cy="143185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Hardware Control</a:t>
            </a:r>
            <a:endParaRPr lang="en-US" sz="2400" dirty="0"/>
          </a:p>
        </p:txBody>
      </p:sp>
      <p:cxnSp>
        <p:nvCxnSpPr>
          <p:cNvPr id="9" name="Straight Arrow Connector 8">
            <a:extLst>
              <a:ext uri="{FF2B5EF4-FFF2-40B4-BE49-F238E27FC236}">
                <a16:creationId xmlns:a16="http://schemas.microsoft.com/office/drawing/2014/main" id="{910A81E4-778A-41FD-9E7A-1B03E480D8E5}"/>
              </a:ext>
            </a:extLst>
          </p:cNvPr>
          <p:cNvCxnSpPr>
            <a:cxnSpLocks/>
          </p:cNvCxnSpPr>
          <p:nvPr/>
        </p:nvCxnSpPr>
        <p:spPr>
          <a:xfrm>
            <a:off x="4522380" y="2438396"/>
            <a:ext cx="878961" cy="2560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CF04FED-0FBF-45D9-B239-F40B1E37A9A4}"/>
              </a:ext>
            </a:extLst>
          </p:cNvPr>
          <p:cNvCxnSpPr>
            <a:cxnSpLocks/>
          </p:cNvCxnSpPr>
          <p:nvPr/>
        </p:nvCxnSpPr>
        <p:spPr>
          <a:xfrm flipH="1">
            <a:off x="4508202" y="3024373"/>
            <a:ext cx="77972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B14C22-2FDE-47A0-B3DD-B1E9B9E463FA}"/>
              </a:ext>
            </a:extLst>
          </p:cNvPr>
          <p:cNvSpPr txBox="1"/>
          <p:nvPr/>
        </p:nvSpPr>
        <p:spPr>
          <a:xfrm>
            <a:off x="4536541" y="2069801"/>
            <a:ext cx="609600" cy="461665"/>
          </a:xfrm>
          <a:prstGeom prst="rect">
            <a:avLst/>
          </a:prstGeom>
          <a:noFill/>
        </p:spPr>
        <p:txBody>
          <a:bodyPr wrap="square" rtlCol="0">
            <a:spAutoFit/>
          </a:bodyPr>
          <a:lstStyle/>
          <a:p>
            <a:r>
              <a:rPr lang="en-IN" sz="2400" b="1" dirty="0">
                <a:solidFill>
                  <a:schemeClr val="accent6">
                    <a:lumMod val="50000"/>
                  </a:schemeClr>
                </a:solidFill>
              </a:rPr>
              <a:t>Tx</a:t>
            </a:r>
            <a:endParaRPr lang="en-US" sz="2400" b="1" dirty="0">
              <a:solidFill>
                <a:schemeClr val="accent6">
                  <a:lumMod val="50000"/>
                </a:schemeClr>
              </a:solidFill>
            </a:endParaRPr>
          </a:p>
        </p:txBody>
      </p:sp>
      <p:sp>
        <p:nvSpPr>
          <p:cNvPr id="46" name="TextBox 45">
            <a:extLst>
              <a:ext uri="{FF2B5EF4-FFF2-40B4-BE49-F238E27FC236}">
                <a16:creationId xmlns:a16="http://schemas.microsoft.com/office/drawing/2014/main" id="{A0F71CB1-F8A6-4FF9-8FA7-2F80E831D0C4}"/>
              </a:ext>
            </a:extLst>
          </p:cNvPr>
          <p:cNvSpPr txBox="1"/>
          <p:nvPr/>
        </p:nvSpPr>
        <p:spPr>
          <a:xfrm>
            <a:off x="4536541" y="2641603"/>
            <a:ext cx="609600" cy="461665"/>
          </a:xfrm>
          <a:prstGeom prst="rect">
            <a:avLst/>
          </a:prstGeom>
          <a:noFill/>
        </p:spPr>
        <p:txBody>
          <a:bodyPr wrap="square" rtlCol="0">
            <a:spAutoFit/>
          </a:bodyPr>
          <a:lstStyle/>
          <a:p>
            <a:r>
              <a:rPr lang="en-IN" sz="2400" b="1" dirty="0">
                <a:solidFill>
                  <a:schemeClr val="accent6">
                    <a:lumMod val="50000"/>
                  </a:schemeClr>
                </a:solidFill>
              </a:rPr>
              <a:t>Rx</a:t>
            </a:r>
            <a:endParaRPr lang="en-US" sz="2400" b="1" dirty="0">
              <a:solidFill>
                <a:schemeClr val="accent6">
                  <a:lumMod val="50000"/>
                </a:schemeClr>
              </a:solidFill>
            </a:endParaRPr>
          </a:p>
        </p:txBody>
      </p:sp>
      <p:cxnSp>
        <p:nvCxnSpPr>
          <p:cNvPr id="47" name="Straight Arrow Connector 46">
            <a:extLst>
              <a:ext uri="{FF2B5EF4-FFF2-40B4-BE49-F238E27FC236}">
                <a16:creationId xmlns:a16="http://schemas.microsoft.com/office/drawing/2014/main" id="{E4A95F3C-70CD-47D7-965C-F898A21E15BB}"/>
              </a:ext>
            </a:extLst>
          </p:cNvPr>
          <p:cNvCxnSpPr>
            <a:cxnSpLocks/>
          </p:cNvCxnSpPr>
          <p:nvPr/>
        </p:nvCxnSpPr>
        <p:spPr>
          <a:xfrm>
            <a:off x="4555454" y="4016745"/>
            <a:ext cx="845887" cy="0"/>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8AC27A39-3148-42D2-A79D-20A83793EAFB}"/>
              </a:ext>
            </a:extLst>
          </p:cNvPr>
          <p:cNvCxnSpPr>
            <a:cxnSpLocks/>
          </p:cNvCxnSpPr>
          <p:nvPr/>
        </p:nvCxnSpPr>
        <p:spPr>
          <a:xfrm flipH="1" flipV="1">
            <a:off x="4541277" y="4602723"/>
            <a:ext cx="746649" cy="4715"/>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455EC632-1A85-4536-930A-476F8F461397}"/>
              </a:ext>
            </a:extLst>
          </p:cNvPr>
          <p:cNvSpPr txBox="1"/>
          <p:nvPr/>
        </p:nvSpPr>
        <p:spPr>
          <a:xfrm>
            <a:off x="4569616" y="3648150"/>
            <a:ext cx="902592" cy="461665"/>
          </a:xfrm>
          <a:prstGeom prst="rect">
            <a:avLst/>
          </a:prstGeom>
          <a:noFill/>
        </p:spPr>
        <p:txBody>
          <a:bodyPr wrap="square" rtlCol="0">
            <a:spAutoFit/>
          </a:bodyPr>
          <a:lstStyle/>
          <a:p>
            <a:r>
              <a:rPr lang="en-IN" sz="2400" b="1" dirty="0">
                <a:solidFill>
                  <a:schemeClr val="accent6">
                    <a:lumMod val="50000"/>
                  </a:schemeClr>
                </a:solidFill>
              </a:rPr>
              <a:t>RTS</a:t>
            </a:r>
            <a:endParaRPr lang="en-US" sz="2400" b="1" dirty="0">
              <a:solidFill>
                <a:schemeClr val="accent6">
                  <a:lumMod val="50000"/>
                </a:schemeClr>
              </a:solidFill>
            </a:endParaRPr>
          </a:p>
        </p:txBody>
      </p:sp>
      <p:sp>
        <p:nvSpPr>
          <p:cNvPr id="52" name="TextBox 51">
            <a:extLst>
              <a:ext uri="{FF2B5EF4-FFF2-40B4-BE49-F238E27FC236}">
                <a16:creationId xmlns:a16="http://schemas.microsoft.com/office/drawing/2014/main" id="{DB52CA9E-F9D6-4C54-AFAD-43F78BDBFC6B}"/>
              </a:ext>
            </a:extLst>
          </p:cNvPr>
          <p:cNvSpPr txBox="1"/>
          <p:nvPr/>
        </p:nvSpPr>
        <p:spPr>
          <a:xfrm>
            <a:off x="4574340" y="4219953"/>
            <a:ext cx="798632" cy="461665"/>
          </a:xfrm>
          <a:prstGeom prst="rect">
            <a:avLst/>
          </a:prstGeom>
          <a:noFill/>
        </p:spPr>
        <p:txBody>
          <a:bodyPr wrap="square" rtlCol="0">
            <a:spAutoFit/>
          </a:bodyPr>
          <a:lstStyle/>
          <a:p>
            <a:r>
              <a:rPr lang="en-IN" sz="2400" b="1" dirty="0">
                <a:solidFill>
                  <a:schemeClr val="accent6">
                    <a:lumMod val="50000"/>
                  </a:schemeClr>
                </a:solidFill>
              </a:rPr>
              <a:t>CTS</a:t>
            </a:r>
            <a:endParaRPr lang="en-US" sz="2400" b="1" dirty="0">
              <a:solidFill>
                <a:schemeClr val="accent6">
                  <a:lumMod val="50000"/>
                </a:schemeClr>
              </a:solidFill>
            </a:endParaRPr>
          </a:p>
        </p:txBody>
      </p:sp>
      <p:sp>
        <p:nvSpPr>
          <p:cNvPr id="14" name="Rectangle: Rounded Corners 13">
            <a:extLst>
              <a:ext uri="{FF2B5EF4-FFF2-40B4-BE49-F238E27FC236}">
                <a16:creationId xmlns:a16="http://schemas.microsoft.com/office/drawing/2014/main" id="{F84A9388-4743-45AF-A587-4E07B73D8F21}"/>
              </a:ext>
            </a:extLst>
          </p:cNvPr>
          <p:cNvSpPr/>
          <p:nvPr/>
        </p:nvSpPr>
        <p:spPr>
          <a:xfrm>
            <a:off x="7496575" y="1465069"/>
            <a:ext cx="2998955" cy="42387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en-IN" sz="2400" b="1" dirty="0">
                <a:latin typeface="Gill Sans" panose="020B0604020202020204" charset="0"/>
                <a:cs typeface="Gill Sans" panose="020B0604020202020204" charset="0"/>
              </a:rPr>
              <a:t>UART2</a:t>
            </a:r>
            <a:endParaRPr lang="en-US" sz="2400" b="1" dirty="0">
              <a:latin typeface="Gill Sans" panose="020B0604020202020204" charset="0"/>
              <a:cs typeface="Gill Sans" panose="020B0604020202020204" charset="0"/>
            </a:endParaRPr>
          </a:p>
        </p:txBody>
      </p:sp>
      <p:sp>
        <p:nvSpPr>
          <p:cNvPr id="15" name="Rectangle: Rounded Corners 14">
            <a:extLst>
              <a:ext uri="{FF2B5EF4-FFF2-40B4-BE49-F238E27FC236}">
                <a16:creationId xmlns:a16="http://schemas.microsoft.com/office/drawing/2014/main" id="{3C229A49-2056-4803-AE2F-ACFCBB24F7D5}"/>
              </a:ext>
            </a:extLst>
          </p:cNvPr>
          <p:cNvSpPr/>
          <p:nvPr/>
        </p:nvSpPr>
        <p:spPr>
          <a:xfrm>
            <a:off x="7504234" y="2088699"/>
            <a:ext cx="1474381" cy="14318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Data Control</a:t>
            </a:r>
            <a:endParaRPr lang="en-US" sz="2400" dirty="0"/>
          </a:p>
        </p:txBody>
      </p:sp>
      <p:sp>
        <p:nvSpPr>
          <p:cNvPr id="16" name="Rectangle: Rounded Corners 15">
            <a:extLst>
              <a:ext uri="{FF2B5EF4-FFF2-40B4-BE49-F238E27FC236}">
                <a16:creationId xmlns:a16="http://schemas.microsoft.com/office/drawing/2014/main" id="{656E7656-8CAF-43A2-9FE0-2659D305FA05}"/>
              </a:ext>
            </a:extLst>
          </p:cNvPr>
          <p:cNvSpPr/>
          <p:nvPr/>
        </p:nvSpPr>
        <p:spPr>
          <a:xfrm>
            <a:off x="7508958" y="3667048"/>
            <a:ext cx="1474381" cy="143185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Hardware Control</a:t>
            </a:r>
            <a:endParaRPr lang="en-US" sz="2400" dirty="0"/>
          </a:p>
        </p:txBody>
      </p:sp>
      <p:cxnSp>
        <p:nvCxnSpPr>
          <p:cNvPr id="45" name="Straight Arrow Connector 44">
            <a:extLst>
              <a:ext uri="{FF2B5EF4-FFF2-40B4-BE49-F238E27FC236}">
                <a16:creationId xmlns:a16="http://schemas.microsoft.com/office/drawing/2014/main" id="{ABF968CF-FB79-4D64-B764-25D82EAF2818}"/>
              </a:ext>
            </a:extLst>
          </p:cNvPr>
          <p:cNvCxnSpPr>
            <a:cxnSpLocks/>
          </p:cNvCxnSpPr>
          <p:nvPr/>
        </p:nvCxnSpPr>
        <p:spPr>
          <a:xfrm>
            <a:off x="6653621" y="3010191"/>
            <a:ext cx="878961" cy="2560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3CDB9C2-72A6-43E5-B348-2FA4B9AD5CE9}"/>
              </a:ext>
            </a:extLst>
          </p:cNvPr>
          <p:cNvCxnSpPr>
            <a:cxnSpLocks/>
          </p:cNvCxnSpPr>
          <p:nvPr/>
        </p:nvCxnSpPr>
        <p:spPr>
          <a:xfrm flipH="1">
            <a:off x="6710330" y="2513241"/>
            <a:ext cx="779724"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FC7D10A-A328-453E-839A-BB5A5969DFB3}"/>
              </a:ext>
            </a:extLst>
          </p:cNvPr>
          <p:cNvSpPr txBox="1"/>
          <p:nvPr/>
        </p:nvSpPr>
        <p:spPr>
          <a:xfrm>
            <a:off x="6738669" y="2102873"/>
            <a:ext cx="609600" cy="461665"/>
          </a:xfrm>
          <a:prstGeom prst="rect">
            <a:avLst/>
          </a:prstGeom>
          <a:noFill/>
        </p:spPr>
        <p:txBody>
          <a:bodyPr wrap="square" rtlCol="0">
            <a:spAutoFit/>
          </a:bodyPr>
          <a:lstStyle/>
          <a:p>
            <a:r>
              <a:rPr lang="en-IN" sz="2400" b="1" dirty="0">
                <a:solidFill>
                  <a:schemeClr val="accent6">
                    <a:lumMod val="50000"/>
                  </a:schemeClr>
                </a:solidFill>
              </a:rPr>
              <a:t>Tx</a:t>
            </a:r>
            <a:endParaRPr lang="en-US" sz="2400" b="1" dirty="0">
              <a:solidFill>
                <a:schemeClr val="accent6">
                  <a:lumMod val="50000"/>
                </a:schemeClr>
              </a:solidFill>
            </a:endParaRPr>
          </a:p>
        </p:txBody>
      </p:sp>
      <p:sp>
        <p:nvSpPr>
          <p:cNvPr id="53" name="TextBox 52">
            <a:extLst>
              <a:ext uri="{FF2B5EF4-FFF2-40B4-BE49-F238E27FC236}">
                <a16:creationId xmlns:a16="http://schemas.microsoft.com/office/drawing/2014/main" id="{B73A1B14-C1E4-4CCA-8E74-FD0FBC0629D7}"/>
              </a:ext>
            </a:extLst>
          </p:cNvPr>
          <p:cNvSpPr txBox="1"/>
          <p:nvPr/>
        </p:nvSpPr>
        <p:spPr>
          <a:xfrm>
            <a:off x="6667783" y="2673914"/>
            <a:ext cx="609600" cy="461665"/>
          </a:xfrm>
          <a:prstGeom prst="rect">
            <a:avLst/>
          </a:prstGeom>
          <a:noFill/>
        </p:spPr>
        <p:txBody>
          <a:bodyPr wrap="square" rtlCol="0">
            <a:spAutoFit/>
          </a:bodyPr>
          <a:lstStyle/>
          <a:p>
            <a:r>
              <a:rPr lang="en-IN" sz="2400" b="1" dirty="0">
                <a:solidFill>
                  <a:schemeClr val="accent6">
                    <a:lumMod val="50000"/>
                  </a:schemeClr>
                </a:solidFill>
              </a:rPr>
              <a:t>Rx</a:t>
            </a:r>
            <a:endParaRPr lang="en-US" sz="2400" b="1" dirty="0">
              <a:solidFill>
                <a:schemeClr val="accent6">
                  <a:lumMod val="50000"/>
                </a:schemeClr>
              </a:solidFill>
            </a:endParaRPr>
          </a:p>
        </p:txBody>
      </p:sp>
      <p:cxnSp>
        <p:nvCxnSpPr>
          <p:cNvPr id="54" name="Straight Arrow Connector 53">
            <a:extLst>
              <a:ext uri="{FF2B5EF4-FFF2-40B4-BE49-F238E27FC236}">
                <a16:creationId xmlns:a16="http://schemas.microsoft.com/office/drawing/2014/main" id="{4F41200B-CC88-4D5C-9D10-601FAF7ADDF4}"/>
              </a:ext>
            </a:extLst>
          </p:cNvPr>
          <p:cNvCxnSpPr>
            <a:cxnSpLocks/>
          </p:cNvCxnSpPr>
          <p:nvPr/>
        </p:nvCxnSpPr>
        <p:spPr>
          <a:xfrm>
            <a:off x="6700873" y="4668107"/>
            <a:ext cx="845887" cy="0"/>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9968EC3C-C73B-4B6F-98E5-C3F9858CF664}"/>
              </a:ext>
            </a:extLst>
          </p:cNvPr>
          <p:cNvCxnSpPr>
            <a:cxnSpLocks/>
          </p:cNvCxnSpPr>
          <p:nvPr/>
        </p:nvCxnSpPr>
        <p:spPr>
          <a:xfrm flipH="1" flipV="1">
            <a:off x="6672518" y="4097073"/>
            <a:ext cx="746649" cy="4715"/>
          </a:xfrm>
          <a:prstGeom prst="straightConnector1">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F35D0CEA-5D17-4DE5-AD89-BDE00D277298}"/>
              </a:ext>
            </a:extLst>
          </p:cNvPr>
          <p:cNvSpPr txBox="1"/>
          <p:nvPr/>
        </p:nvSpPr>
        <p:spPr>
          <a:xfrm>
            <a:off x="6700857" y="3681222"/>
            <a:ext cx="902592" cy="461665"/>
          </a:xfrm>
          <a:prstGeom prst="rect">
            <a:avLst/>
          </a:prstGeom>
          <a:noFill/>
        </p:spPr>
        <p:txBody>
          <a:bodyPr wrap="square" rtlCol="0">
            <a:spAutoFit/>
          </a:bodyPr>
          <a:lstStyle/>
          <a:p>
            <a:r>
              <a:rPr lang="en-IN" sz="2400" b="1" dirty="0">
                <a:solidFill>
                  <a:schemeClr val="accent6">
                    <a:lumMod val="50000"/>
                  </a:schemeClr>
                </a:solidFill>
              </a:rPr>
              <a:t>RTS</a:t>
            </a:r>
            <a:endParaRPr lang="en-US" sz="2400" b="1" dirty="0">
              <a:solidFill>
                <a:schemeClr val="accent6">
                  <a:lumMod val="50000"/>
                </a:schemeClr>
              </a:solidFill>
            </a:endParaRPr>
          </a:p>
        </p:txBody>
      </p:sp>
      <p:sp>
        <p:nvSpPr>
          <p:cNvPr id="57" name="TextBox 56">
            <a:extLst>
              <a:ext uri="{FF2B5EF4-FFF2-40B4-BE49-F238E27FC236}">
                <a16:creationId xmlns:a16="http://schemas.microsoft.com/office/drawing/2014/main" id="{9EDCA2C7-D643-40C4-BC67-7974B98E2DDD}"/>
              </a:ext>
            </a:extLst>
          </p:cNvPr>
          <p:cNvSpPr txBox="1"/>
          <p:nvPr/>
        </p:nvSpPr>
        <p:spPr>
          <a:xfrm>
            <a:off x="6705581" y="4238847"/>
            <a:ext cx="798632" cy="461665"/>
          </a:xfrm>
          <a:prstGeom prst="rect">
            <a:avLst/>
          </a:prstGeom>
          <a:noFill/>
        </p:spPr>
        <p:txBody>
          <a:bodyPr wrap="square" rtlCol="0">
            <a:spAutoFit/>
          </a:bodyPr>
          <a:lstStyle/>
          <a:p>
            <a:r>
              <a:rPr lang="en-IN" sz="2400" b="1" dirty="0">
                <a:solidFill>
                  <a:schemeClr val="accent6">
                    <a:lumMod val="50000"/>
                  </a:schemeClr>
                </a:solidFill>
              </a:rPr>
              <a:t>CTS</a:t>
            </a:r>
            <a:endParaRPr lang="en-US" sz="2400" b="1" dirty="0">
              <a:solidFill>
                <a:schemeClr val="accent6">
                  <a:lumMod val="50000"/>
                </a:schemeClr>
              </a:solidFill>
            </a:endParaRPr>
          </a:p>
        </p:txBody>
      </p:sp>
      <p:cxnSp>
        <p:nvCxnSpPr>
          <p:cNvPr id="58" name="Straight Connector 57">
            <a:extLst>
              <a:ext uri="{FF2B5EF4-FFF2-40B4-BE49-F238E27FC236}">
                <a16:creationId xmlns:a16="http://schemas.microsoft.com/office/drawing/2014/main" id="{080651D1-08AE-41EF-A662-BDD66A003600}"/>
              </a:ext>
            </a:extLst>
          </p:cNvPr>
          <p:cNvCxnSpPr>
            <a:cxnSpLocks/>
          </p:cNvCxnSpPr>
          <p:nvPr/>
        </p:nvCxnSpPr>
        <p:spPr>
          <a:xfrm>
            <a:off x="5365334" y="2474238"/>
            <a:ext cx="1316100" cy="535953"/>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6406AE8B-EE28-41EA-8F75-07CC5D92DFAC}"/>
              </a:ext>
            </a:extLst>
          </p:cNvPr>
          <p:cNvCxnSpPr>
            <a:cxnSpLocks/>
          </p:cNvCxnSpPr>
          <p:nvPr/>
        </p:nvCxnSpPr>
        <p:spPr>
          <a:xfrm flipH="1">
            <a:off x="5273748" y="2523290"/>
            <a:ext cx="1450760" cy="495601"/>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52DE8274-8A03-4784-BE08-C9DAAD8D0BCF}"/>
              </a:ext>
            </a:extLst>
          </p:cNvPr>
          <p:cNvCxnSpPr>
            <a:cxnSpLocks/>
          </p:cNvCxnSpPr>
          <p:nvPr/>
        </p:nvCxnSpPr>
        <p:spPr>
          <a:xfrm>
            <a:off x="5380465" y="4030021"/>
            <a:ext cx="1301511" cy="619195"/>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969A355-77A0-4A40-BE75-26D6605650AA}"/>
              </a:ext>
            </a:extLst>
          </p:cNvPr>
          <p:cNvCxnSpPr>
            <a:cxnSpLocks/>
          </p:cNvCxnSpPr>
          <p:nvPr/>
        </p:nvCxnSpPr>
        <p:spPr>
          <a:xfrm flipH="1">
            <a:off x="5264255" y="4115512"/>
            <a:ext cx="1441363" cy="510819"/>
          </a:xfrm>
          <a:prstGeom prst="line">
            <a:avLst/>
          </a:prstGeom>
          <a:ln w="38100">
            <a:solidFill>
              <a:srgbClr val="002060"/>
            </a:solidFill>
          </a:ln>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9B8BC93A-5AD7-4A81-A828-B6DCA86BAD36}"/>
              </a:ext>
            </a:extLst>
          </p:cNvPr>
          <p:cNvSpPr txBox="1"/>
          <p:nvPr/>
        </p:nvSpPr>
        <p:spPr>
          <a:xfrm>
            <a:off x="1020725" y="5769931"/>
            <a:ext cx="10515600" cy="913199"/>
          </a:xfrm>
          <a:prstGeom prst="rect">
            <a:avLst/>
          </a:prstGeom>
          <a:noFill/>
        </p:spPr>
        <p:txBody>
          <a:bodyPr wrap="square" rtlCol="0">
            <a:spAutoFit/>
          </a:bodyPr>
          <a:lstStyle/>
          <a:p>
            <a:r>
              <a:rPr lang="en-IN" sz="2667" b="1" u="sng" dirty="0">
                <a:latin typeface="Gill Sans" panose="020B0604020202020204" charset="0"/>
                <a:cs typeface="Gill Sans" panose="020B0604020202020204" charset="0"/>
              </a:rPr>
              <a:t>Once flow control is disabled RTS &amp; CTS lines are ignored, so UART needs only 2 lines to communicate.</a:t>
            </a:r>
            <a:endParaRPr lang="en-US" sz="2667" b="1" u="sng"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2214453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A45D-13CE-42F8-B59F-8545C3A71D3E}"/>
              </a:ext>
            </a:extLst>
          </p:cNvPr>
          <p:cNvSpPr>
            <a:spLocks noGrp="1"/>
          </p:cNvSpPr>
          <p:nvPr>
            <p:ph type="title"/>
          </p:nvPr>
        </p:nvSpPr>
        <p:spPr>
          <a:xfrm>
            <a:off x="838200" y="180823"/>
            <a:ext cx="10515600" cy="1325600"/>
          </a:xfrm>
        </p:spPr>
        <p:txBody>
          <a:bodyPr/>
          <a:lstStyle/>
          <a:p>
            <a:pPr algn="ctr"/>
            <a:r>
              <a:rPr lang="en-IN" sz="4267" b="1" dirty="0">
                <a:latin typeface="Helvetica Neue" panose="020B0604020202020204" charset="0"/>
                <a:cs typeface="Helvetica Neue" panose="020B0604020202020204" charset="0"/>
              </a:rPr>
              <a:t>UART Frame Format</a:t>
            </a:r>
            <a:endParaRPr lang="en-US" sz="4267" dirty="0"/>
          </a:p>
        </p:txBody>
      </p:sp>
      <p:sp>
        <p:nvSpPr>
          <p:cNvPr id="3" name="Text Placeholder 2">
            <a:extLst>
              <a:ext uri="{FF2B5EF4-FFF2-40B4-BE49-F238E27FC236}">
                <a16:creationId xmlns:a16="http://schemas.microsoft.com/office/drawing/2014/main" id="{6B86D8E0-5105-4310-AFC6-1A02CAD97514}"/>
              </a:ext>
            </a:extLst>
          </p:cNvPr>
          <p:cNvSpPr>
            <a:spLocks noGrp="1"/>
          </p:cNvSpPr>
          <p:nvPr>
            <p:ph type="body" idx="1"/>
          </p:nvPr>
        </p:nvSpPr>
        <p:spPr>
          <a:xfrm>
            <a:off x="838199" y="1173471"/>
            <a:ext cx="11048853" cy="5159971"/>
          </a:xfrm>
        </p:spPr>
        <p:txBody>
          <a:bodyPr>
            <a:normAutofit/>
          </a:bodyPr>
          <a:lstStyle/>
          <a:p>
            <a:pPr marL="457189" indent="-457189">
              <a:spcAft>
                <a:spcPts val="800"/>
              </a:spcAft>
              <a:buSzPct val="100000"/>
            </a:pPr>
            <a:r>
              <a:rPr lang="en-US" sz="2667" dirty="0">
                <a:latin typeface="Gill Sans" panose="020B0604020202020204" charset="0"/>
                <a:cs typeface="Gill Sans" panose="020B0604020202020204" charset="0"/>
              </a:rPr>
              <a:t>A </a:t>
            </a:r>
            <a:r>
              <a:rPr lang="en-US" sz="2667" b="1" i="1" dirty="0">
                <a:latin typeface="Gill Sans" panose="020B0604020202020204" charset="0"/>
                <a:cs typeface="Gill Sans" panose="020B0604020202020204" charset="0"/>
              </a:rPr>
              <a:t>frame</a:t>
            </a:r>
            <a:r>
              <a:rPr lang="en-US" sz="2667" dirty="0">
                <a:latin typeface="Gill Sans" panose="020B0604020202020204" charset="0"/>
                <a:cs typeface="Gill Sans" panose="020B0604020202020204" charset="0"/>
              </a:rPr>
              <a:t> refers to the entire data packet which is being sent or received during the communication.</a:t>
            </a:r>
          </a:p>
          <a:p>
            <a:pPr marL="457189" indent="-457189">
              <a:spcAft>
                <a:spcPts val="800"/>
              </a:spcAft>
              <a:buSzPct val="100000"/>
            </a:pPr>
            <a:r>
              <a:rPr lang="en-US" sz="2667" b="1" i="1" dirty="0">
                <a:latin typeface="Gill Sans" panose="020B0604020202020204" charset="0"/>
                <a:cs typeface="Gill Sans" panose="020B0604020202020204" charset="0"/>
              </a:rPr>
              <a:t>Frame includes:</a:t>
            </a:r>
            <a:endParaRPr lang="en-IN" sz="2667" b="1" i="1" dirty="0">
              <a:latin typeface="Gill Sans" panose="020B0604020202020204" charset="0"/>
              <a:cs typeface="Gill Sans" panose="020B0604020202020204" charset="0"/>
            </a:endParaRPr>
          </a:p>
          <a:p>
            <a:pPr marL="1066773" lvl="1" indent="-457189">
              <a:spcAft>
                <a:spcPts val="800"/>
              </a:spcAft>
              <a:buSzPct val="100000"/>
            </a:pPr>
            <a:r>
              <a:rPr lang="en-IN" dirty="0">
                <a:latin typeface="Gill Sans" panose="020B0604020202020204" charset="0"/>
                <a:cs typeface="Gill Sans" panose="020B0604020202020204" charset="0"/>
              </a:rPr>
              <a:t>1 START bit </a:t>
            </a:r>
          </a:p>
          <a:p>
            <a:pPr marL="1066773" lvl="1" indent="-457189">
              <a:spcAft>
                <a:spcPts val="800"/>
              </a:spcAft>
              <a:buSzPct val="100000"/>
            </a:pPr>
            <a:r>
              <a:rPr lang="en-IN" dirty="0">
                <a:latin typeface="Gill Sans" panose="020B0604020202020204" charset="0"/>
                <a:cs typeface="Gill Sans" panose="020B0604020202020204" charset="0"/>
              </a:rPr>
              <a:t>5, 6, 7, or 8 data bits </a:t>
            </a:r>
          </a:p>
          <a:p>
            <a:pPr marL="1066773" lvl="1" indent="-457189">
              <a:spcAft>
                <a:spcPts val="800"/>
              </a:spcAft>
              <a:buSzPct val="100000"/>
            </a:pPr>
            <a:r>
              <a:rPr lang="en-IN" dirty="0">
                <a:latin typeface="Gill Sans" panose="020B0604020202020204" charset="0"/>
                <a:cs typeface="Gill Sans" panose="020B0604020202020204" charset="0"/>
              </a:rPr>
              <a:t>1 PARITY bit (optional) </a:t>
            </a:r>
          </a:p>
          <a:p>
            <a:pPr marL="1066773" lvl="1" indent="-457189">
              <a:spcAft>
                <a:spcPts val="800"/>
              </a:spcAft>
              <a:buSzPct val="100000"/>
            </a:pPr>
            <a:r>
              <a:rPr lang="en-IN" dirty="0">
                <a:latin typeface="Gill Sans" panose="020B0604020202020204" charset="0"/>
                <a:cs typeface="Gill Sans" panose="020B0604020202020204" charset="0"/>
              </a:rPr>
              <a:t>1, 1.5, or 2 STOP bits</a:t>
            </a:r>
          </a:p>
          <a:p>
            <a:pPr marL="457189" indent="-457189">
              <a:spcAft>
                <a:spcPts val="800"/>
              </a:spcAft>
              <a:buSzPct val="100000"/>
            </a:pPr>
            <a:r>
              <a:rPr lang="en-US" sz="2667" dirty="0">
                <a:latin typeface="Gill Sans" panose="020B0604020202020204" charset="0"/>
                <a:cs typeface="Gill Sans" panose="020B0604020202020204" charset="0"/>
              </a:rPr>
              <a:t>The </a:t>
            </a:r>
            <a:r>
              <a:rPr lang="en-US" sz="2667" b="1" i="1" dirty="0">
                <a:latin typeface="Gill Sans" panose="020B0604020202020204" charset="0"/>
                <a:cs typeface="Gill Sans" panose="020B0604020202020204" charset="0"/>
              </a:rPr>
              <a:t>baud rate</a:t>
            </a:r>
            <a:r>
              <a:rPr lang="en-US" sz="2667" dirty="0">
                <a:latin typeface="Gill Sans" panose="020B0604020202020204" charset="0"/>
                <a:cs typeface="Gill Sans" panose="020B0604020202020204" charset="0"/>
              </a:rPr>
              <a:t> is a measure of the number of bits per second that can be transmitted or received by the UART. </a:t>
            </a:r>
            <a:endParaRPr lang="en-IN" sz="2667" dirty="0">
              <a:latin typeface="Gill Sans" panose="020B0604020202020204" charset="0"/>
              <a:cs typeface="Gill Sans" panose="020B0604020202020204" charset="0"/>
            </a:endParaRPr>
          </a:p>
          <a:p>
            <a:pPr lvl="1">
              <a:buSzPct val="100000"/>
            </a:pPr>
            <a:endParaRPr lang="en-US" sz="2667" dirty="0"/>
          </a:p>
        </p:txBody>
      </p:sp>
      <p:pic>
        <p:nvPicPr>
          <p:cNvPr id="4" name="Picture 3">
            <a:extLst>
              <a:ext uri="{FF2B5EF4-FFF2-40B4-BE49-F238E27FC236}">
                <a16:creationId xmlns:a16="http://schemas.microsoft.com/office/drawing/2014/main" id="{FD4A5CFD-6B0B-49DC-A523-6E69A7B99936}"/>
              </a:ext>
            </a:extLst>
          </p:cNvPr>
          <p:cNvPicPr>
            <a:picLocks noChangeAspect="1"/>
          </p:cNvPicPr>
          <p:nvPr/>
        </p:nvPicPr>
        <p:blipFill>
          <a:blip r:embed="rId3"/>
          <a:stretch>
            <a:fillRect/>
          </a:stretch>
        </p:blipFill>
        <p:spPr>
          <a:xfrm>
            <a:off x="6096001" y="2499071"/>
            <a:ext cx="5791052" cy="1917700"/>
          </a:xfrm>
          <a:prstGeom prst="rect">
            <a:avLst/>
          </a:prstGeom>
        </p:spPr>
      </p:pic>
    </p:spTree>
    <p:extLst>
      <p:ext uri="{BB962C8B-B14F-4D97-AF65-F5344CB8AC3E}">
        <p14:creationId xmlns:p14="http://schemas.microsoft.com/office/powerpoint/2010/main" val="10103929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9FAB4A-6AAE-4CC7-A459-38719E07543D}"/>
              </a:ext>
            </a:extLst>
          </p:cNvPr>
          <p:cNvSpPr txBox="1"/>
          <p:nvPr/>
        </p:nvSpPr>
        <p:spPr>
          <a:xfrm>
            <a:off x="765544" y="1353420"/>
            <a:ext cx="11001153" cy="4324261"/>
          </a:xfrm>
          <a:prstGeom prst="rect">
            <a:avLst/>
          </a:prstGeom>
          <a:noFill/>
        </p:spPr>
        <p:txBody>
          <a:bodyPr wrap="square" rtlCol="0">
            <a:spAutoFit/>
          </a:bodyPr>
          <a:lstStyle/>
          <a:p>
            <a:r>
              <a:rPr lang="en-US" sz="2800" dirty="0">
                <a:latin typeface="Gill Sans" panose="020B0604020202020204" charset="0"/>
                <a:cs typeface="Gill Sans" panose="020B0604020202020204" charset="0"/>
              </a:rPr>
              <a:t>2400,  4800, 9600, 19200, 38400, 57600 and 115200</a:t>
            </a:r>
          </a:p>
          <a:p>
            <a:endParaRPr lang="en-US" sz="1200" dirty="0">
              <a:latin typeface="Gill Sans" panose="020B0604020202020204" charset="0"/>
              <a:cs typeface="Gill Sans" panose="020B0604020202020204" charset="0"/>
            </a:endParaRPr>
          </a:p>
          <a:p>
            <a:r>
              <a:rPr lang="en-US" sz="2800" b="1" i="1" dirty="0">
                <a:latin typeface="Gill Sans" panose="020B0604020202020204" charset="0"/>
                <a:cs typeface="Gill Sans" panose="020B0604020202020204" charset="0"/>
              </a:rPr>
              <a:t>Ex:</a:t>
            </a:r>
            <a:r>
              <a:rPr lang="en-US" sz="2800" dirty="0">
                <a:latin typeface="Gill Sans" panose="020B0604020202020204" charset="0"/>
                <a:cs typeface="Gill Sans" panose="020B0604020202020204" charset="0"/>
              </a:rPr>
              <a:t> Baud rate = 115200 then </a:t>
            </a:r>
          </a:p>
          <a:p>
            <a:r>
              <a:rPr lang="en-US" sz="2800" dirty="0">
                <a:latin typeface="Gill Sans" panose="020B0604020202020204" charset="0"/>
                <a:cs typeface="Gill Sans" panose="020B0604020202020204" charset="0"/>
              </a:rPr>
              <a:t>     to transmit single bit it takes 1/115200 = 8.6 micro sec.</a:t>
            </a:r>
          </a:p>
          <a:p>
            <a:endParaRPr lang="en-US" sz="7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800" dirty="0">
                <a:latin typeface="Gill Sans" panose="020B0604020202020204" charset="0"/>
                <a:cs typeface="Gill Sans" panose="020B0604020202020204" charset="0"/>
              </a:rPr>
              <a:t>Both the transmitting and receiving devices should operate at the same baud rate.</a:t>
            </a:r>
          </a:p>
          <a:p>
            <a:endParaRPr lang="en-US" sz="12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800" dirty="0">
                <a:latin typeface="Gill Sans" panose="020B0604020202020204" charset="0"/>
                <a:cs typeface="Gill Sans" panose="020B0604020202020204" charset="0"/>
              </a:rPr>
              <a:t>START and STOP bits are used for synchronization bits in UART</a:t>
            </a:r>
          </a:p>
          <a:p>
            <a:pPr marL="457189" indent="-457189">
              <a:buFont typeface="Arial" panose="020B0604020202020204" pitchFamily="34" charset="0"/>
              <a:buChar char="•"/>
            </a:pPr>
            <a:endParaRPr lang="en-US" sz="1100" dirty="0">
              <a:latin typeface="Gill Sans" panose="020B0604020202020204" charset="0"/>
              <a:cs typeface="Gill Sans" panose="020B0604020202020204" charset="0"/>
            </a:endParaRPr>
          </a:p>
          <a:p>
            <a:pPr marL="457189" indent="-457189">
              <a:buFont typeface="Arial" panose="020B0604020202020204" pitchFamily="34" charset="0"/>
              <a:buChar char="•"/>
            </a:pPr>
            <a:r>
              <a:rPr lang="en-US" sz="2800" dirty="0">
                <a:latin typeface="Gill Sans" panose="020B0604020202020204" charset="0"/>
                <a:cs typeface="Gill Sans" panose="020B0604020202020204" charset="0"/>
              </a:rPr>
              <a:t>PARITY (even or odd) bit is used for error detection during transmission. </a:t>
            </a:r>
          </a:p>
        </p:txBody>
      </p:sp>
      <p:sp>
        <p:nvSpPr>
          <p:cNvPr id="2" name="TextBox 1">
            <a:extLst>
              <a:ext uri="{FF2B5EF4-FFF2-40B4-BE49-F238E27FC236}">
                <a16:creationId xmlns:a16="http://schemas.microsoft.com/office/drawing/2014/main" id="{B5D31D33-C2BE-4B4A-86AD-31BCEEABCEE0}"/>
              </a:ext>
            </a:extLst>
          </p:cNvPr>
          <p:cNvSpPr txBox="1"/>
          <p:nvPr/>
        </p:nvSpPr>
        <p:spPr>
          <a:xfrm>
            <a:off x="893135" y="297712"/>
            <a:ext cx="9739424" cy="707886"/>
          </a:xfrm>
          <a:prstGeom prst="rect">
            <a:avLst/>
          </a:prstGeom>
          <a:noFill/>
        </p:spPr>
        <p:txBody>
          <a:bodyPr wrap="square" rtlCol="0">
            <a:spAutoFit/>
          </a:bodyPr>
          <a:lstStyle/>
          <a:p>
            <a:pPr algn="ctr"/>
            <a:r>
              <a:rPr lang="en-US" sz="4000" b="1" dirty="0">
                <a:latin typeface="Helvetica Neue" panose="020B0604020202020204" charset="0"/>
                <a:cs typeface="Helvetica Neue" panose="020B0604020202020204" charset="0"/>
              </a:rPr>
              <a:t>Common baud rates</a:t>
            </a:r>
          </a:p>
        </p:txBody>
      </p:sp>
    </p:spTree>
    <p:extLst>
      <p:ext uri="{BB962C8B-B14F-4D97-AF65-F5344CB8AC3E}">
        <p14:creationId xmlns:p14="http://schemas.microsoft.com/office/powerpoint/2010/main" val="3163290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B22E34-BFDF-469F-9A8F-6B5528C7EB8B}"/>
              </a:ext>
            </a:extLst>
          </p:cNvPr>
          <p:cNvSpPr txBox="1"/>
          <p:nvPr/>
        </p:nvSpPr>
        <p:spPr>
          <a:xfrm>
            <a:off x="1270000" y="1708770"/>
            <a:ext cx="10078720" cy="3559949"/>
          </a:xfrm>
          <a:prstGeom prst="rect">
            <a:avLst/>
          </a:prstGeom>
          <a:noFill/>
        </p:spPr>
        <p:txBody>
          <a:bodyPr wrap="square" rtlCol="0">
            <a:spAutoFit/>
          </a:bodyPr>
          <a:lstStyle/>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Baud rate generator</a:t>
            </a:r>
          </a:p>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Tx and Rx shift registers</a:t>
            </a:r>
          </a:p>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Transmit/Receive control blocks</a:t>
            </a:r>
          </a:p>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Transmit/Receive buffers</a:t>
            </a:r>
          </a:p>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Read/Write Control logic</a:t>
            </a:r>
          </a:p>
          <a:p>
            <a:pPr marL="457189" indent="-457189">
              <a:spcAft>
                <a:spcPts val="800"/>
              </a:spcAft>
              <a:buFont typeface="Arial" panose="020B0604020202020204" pitchFamily="34" charset="0"/>
              <a:buChar char="•"/>
            </a:pPr>
            <a:r>
              <a:rPr lang="en-US" sz="3200" dirty="0">
                <a:latin typeface="Gill Sans" panose="020B0604020202020204" charset="0"/>
                <a:cs typeface="Gill Sans" panose="020B0604020202020204" charset="0"/>
              </a:rPr>
              <a:t>First-in, First-out (FIFO) buffer memory </a:t>
            </a:r>
          </a:p>
        </p:txBody>
      </p:sp>
      <p:sp>
        <p:nvSpPr>
          <p:cNvPr id="4" name="TextBox 3">
            <a:extLst>
              <a:ext uri="{FF2B5EF4-FFF2-40B4-BE49-F238E27FC236}">
                <a16:creationId xmlns:a16="http://schemas.microsoft.com/office/drawing/2014/main" id="{04BF5C7E-90E8-4A26-9597-3603D6CE8DE9}"/>
              </a:ext>
            </a:extLst>
          </p:cNvPr>
          <p:cNvSpPr txBox="1"/>
          <p:nvPr/>
        </p:nvSpPr>
        <p:spPr>
          <a:xfrm>
            <a:off x="1270000" y="645415"/>
            <a:ext cx="9348381" cy="748988"/>
          </a:xfrm>
          <a:prstGeom prst="rect">
            <a:avLst/>
          </a:prstGeom>
          <a:noFill/>
        </p:spPr>
        <p:txBody>
          <a:bodyPr wrap="square">
            <a:spAutoFit/>
          </a:bodyPr>
          <a:lstStyle/>
          <a:p>
            <a:pPr algn="ctr"/>
            <a:r>
              <a:rPr lang="en-US" sz="4267" b="1" dirty="0">
                <a:latin typeface="Helvetica Neue" panose="020B0604020202020204" charset="0"/>
                <a:cs typeface="Helvetica Neue" panose="020B0604020202020204" charset="0"/>
              </a:rPr>
              <a:t>UART Hardware Components</a:t>
            </a:r>
          </a:p>
        </p:txBody>
      </p:sp>
    </p:spTree>
    <p:extLst>
      <p:ext uri="{BB962C8B-B14F-4D97-AF65-F5344CB8AC3E}">
        <p14:creationId xmlns:p14="http://schemas.microsoft.com/office/powerpoint/2010/main" val="995920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655C-58C4-488E-A391-BE7240804BF2}"/>
              </a:ext>
            </a:extLst>
          </p:cNvPr>
          <p:cNvSpPr>
            <a:spLocks noGrp="1"/>
          </p:cNvSpPr>
          <p:nvPr>
            <p:ph type="title"/>
          </p:nvPr>
        </p:nvSpPr>
        <p:spPr>
          <a:xfrm>
            <a:off x="838200" y="1247544"/>
            <a:ext cx="10515600" cy="4352261"/>
          </a:xfrm>
        </p:spPr>
        <p:txBody>
          <a:bodyPr/>
          <a:lstStyle/>
          <a:p>
            <a:pPr algn="ctr">
              <a:lnSpc>
                <a:spcPct val="115000"/>
              </a:lnSpc>
              <a:tabLst>
                <a:tab pos="609585" algn="l"/>
              </a:tabLst>
            </a:pPr>
            <a:r>
              <a:rPr lang="en-IN" sz="4800" b="1" dirty="0">
                <a:solidFill>
                  <a:schemeClr val="dk1"/>
                </a:solidFill>
                <a:latin typeface="Helvetica Neue" panose="020B0604020202020204" charset="0"/>
                <a:cs typeface="Gill Sans"/>
              </a:rPr>
              <a:t>UART Baud rate Generation</a:t>
            </a:r>
            <a:endParaRPr lang="en-US" sz="4800" b="1" dirty="0">
              <a:solidFill>
                <a:schemeClr val="dk1"/>
              </a:solidFill>
              <a:latin typeface="Helvetica Neue" panose="020B0604020202020204" charset="0"/>
              <a:cs typeface="Gill Sans"/>
            </a:endParaRPr>
          </a:p>
        </p:txBody>
      </p:sp>
    </p:spTree>
    <p:extLst>
      <p:ext uri="{BB962C8B-B14F-4D97-AF65-F5344CB8AC3E}">
        <p14:creationId xmlns:p14="http://schemas.microsoft.com/office/powerpoint/2010/main" val="1869663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A899-66EE-41FC-A545-D67804357F57}"/>
              </a:ext>
            </a:extLst>
          </p:cNvPr>
          <p:cNvSpPr>
            <a:spLocks noGrp="1"/>
          </p:cNvSpPr>
          <p:nvPr>
            <p:ph type="title"/>
          </p:nvPr>
        </p:nvSpPr>
        <p:spPr/>
        <p:txBody>
          <a:bodyPr/>
          <a:lstStyle/>
          <a:p>
            <a:pPr algn="ctr"/>
            <a:r>
              <a:rPr lang="en-IN" sz="4267" b="1" dirty="0">
                <a:latin typeface="Helvetica Neue" panose="020B0604020202020204" charset="0"/>
                <a:cs typeface="Helvetica Neue" panose="020B0604020202020204" charset="0"/>
              </a:rPr>
              <a:t>USART Oversampling</a:t>
            </a:r>
            <a:endParaRPr lang="en-US" sz="4267" b="1"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84ABC06B-00F8-41A5-9D92-AC350BDC9AA5}"/>
              </a:ext>
            </a:extLst>
          </p:cNvPr>
          <p:cNvSpPr>
            <a:spLocks noGrp="1"/>
          </p:cNvSpPr>
          <p:nvPr>
            <p:ph type="body" idx="1"/>
          </p:nvPr>
        </p:nvSpPr>
        <p:spPr>
          <a:xfrm>
            <a:off x="838200" y="1457019"/>
            <a:ext cx="10515600" cy="5032375"/>
          </a:xfrm>
        </p:spPr>
        <p:txBody>
          <a:bodyPr/>
          <a:lstStyle/>
          <a:p>
            <a:pPr algn="l">
              <a:buSzPct val="100000"/>
            </a:pPr>
            <a:r>
              <a:rPr lang="en-US" sz="3200" dirty="0">
                <a:latin typeface="Gill Sans" panose="020B0604020202020204" charset="0"/>
                <a:cs typeface="Gill Sans" panose="020B0604020202020204" charset="0"/>
              </a:rPr>
              <a:t>The receiver implements different user-configurable oversampling techniques (except in </a:t>
            </a:r>
            <a:r>
              <a:rPr lang="en-IN" sz="3200" dirty="0">
                <a:latin typeface="Gill Sans" panose="020B0604020202020204" charset="0"/>
                <a:cs typeface="Gill Sans" panose="020B0604020202020204" charset="0"/>
              </a:rPr>
              <a:t>synchronous mode) for data recovery by discriminating between valid incoming data and </a:t>
            </a:r>
            <a:r>
              <a:rPr lang="en-US" sz="3200" dirty="0">
                <a:latin typeface="Gill Sans" panose="020B0604020202020204" charset="0"/>
                <a:cs typeface="Gill Sans" panose="020B0604020202020204" charset="0"/>
              </a:rPr>
              <a:t>noise.</a:t>
            </a:r>
          </a:p>
          <a:p>
            <a:pPr algn="l">
              <a:buSzPct val="100000"/>
            </a:pPr>
            <a:r>
              <a:rPr lang="en-IN" sz="3200" dirty="0">
                <a:latin typeface="Gill Sans" panose="020B0604020202020204" charset="0"/>
                <a:cs typeface="Gill Sans" panose="020B0604020202020204" charset="0"/>
              </a:rPr>
              <a:t>The oversampling method can be selected by programming the OVER8 bit in the USART_CR1 register and can be either 16 or 8 times the baud rate clock.</a:t>
            </a:r>
          </a:p>
          <a:p>
            <a:pPr algn="l">
              <a:buSzPct val="100000"/>
            </a:pPr>
            <a:r>
              <a:rPr lang="en-IN" sz="3200" dirty="0">
                <a:latin typeface="Gill Sans" panose="020B0604020202020204" charset="0"/>
                <a:cs typeface="Gill Sans" panose="020B0604020202020204" charset="0"/>
              </a:rPr>
              <a:t>Configurable oversampling method by 16 or by 8 to give flexibility between speed and </a:t>
            </a:r>
            <a:r>
              <a:rPr lang="en-US" sz="3200" dirty="0">
                <a:latin typeface="Gill Sans" panose="020B0604020202020204" charset="0"/>
                <a:cs typeface="Gill Sans" panose="020B0604020202020204" charset="0"/>
              </a:rPr>
              <a:t>clock tolerance.</a:t>
            </a:r>
          </a:p>
        </p:txBody>
      </p:sp>
    </p:spTree>
    <p:extLst>
      <p:ext uri="{BB962C8B-B14F-4D97-AF65-F5344CB8AC3E}">
        <p14:creationId xmlns:p14="http://schemas.microsoft.com/office/powerpoint/2010/main" val="9135082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CA9E12-AE9B-4ED8-AC63-A610201699AE}"/>
              </a:ext>
            </a:extLst>
          </p:cNvPr>
          <p:cNvPicPr>
            <a:picLocks noChangeAspect="1"/>
          </p:cNvPicPr>
          <p:nvPr/>
        </p:nvPicPr>
        <p:blipFill>
          <a:blip r:embed="rId3"/>
          <a:stretch>
            <a:fillRect/>
          </a:stretch>
        </p:blipFill>
        <p:spPr>
          <a:xfrm>
            <a:off x="4821875" y="3725676"/>
            <a:ext cx="7214191" cy="2710565"/>
          </a:xfrm>
          <a:prstGeom prst="rect">
            <a:avLst/>
          </a:prstGeom>
        </p:spPr>
      </p:pic>
      <p:pic>
        <p:nvPicPr>
          <p:cNvPr id="7" name="Picture 6">
            <a:extLst>
              <a:ext uri="{FF2B5EF4-FFF2-40B4-BE49-F238E27FC236}">
                <a16:creationId xmlns:a16="http://schemas.microsoft.com/office/drawing/2014/main" id="{52CD16FF-5BE2-4231-8236-30D9C9E571B6}"/>
              </a:ext>
            </a:extLst>
          </p:cNvPr>
          <p:cNvPicPr>
            <a:picLocks noChangeAspect="1"/>
          </p:cNvPicPr>
          <p:nvPr/>
        </p:nvPicPr>
        <p:blipFill>
          <a:blip r:embed="rId4"/>
          <a:stretch>
            <a:fillRect/>
          </a:stretch>
        </p:blipFill>
        <p:spPr>
          <a:xfrm>
            <a:off x="4821875" y="861229"/>
            <a:ext cx="7245197" cy="2710567"/>
          </a:xfrm>
          <a:prstGeom prst="rect">
            <a:avLst/>
          </a:prstGeom>
        </p:spPr>
      </p:pic>
      <p:sp>
        <p:nvSpPr>
          <p:cNvPr id="8" name="TextBox 7">
            <a:extLst>
              <a:ext uri="{FF2B5EF4-FFF2-40B4-BE49-F238E27FC236}">
                <a16:creationId xmlns:a16="http://schemas.microsoft.com/office/drawing/2014/main" id="{95A186D2-68A1-420A-A603-7EF9A5F126C9}"/>
              </a:ext>
            </a:extLst>
          </p:cNvPr>
          <p:cNvSpPr txBox="1"/>
          <p:nvPr/>
        </p:nvSpPr>
        <p:spPr>
          <a:xfrm>
            <a:off x="467831" y="1616142"/>
            <a:ext cx="4182139" cy="1323632"/>
          </a:xfrm>
          <a:prstGeom prst="rect">
            <a:avLst/>
          </a:prstGeom>
          <a:noFill/>
        </p:spPr>
        <p:txBody>
          <a:bodyPr wrap="square" rtlCol="0">
            <a:spAutoFit/>
          </a:bodyPr>
          <a:lstStyle/>
          <a:p>
            <a:r>
              <a:rPr lang="en-IN" sz="2667" dirty="0">
                <a:latin typeface="Gill Sans" panose="020B0604020202020204" charset="0"/>
                <a:cs typeface="Gill Sans" panose="020B0604020202020204" charset="0"/>
              </a:rPr>
              <a:t>Receiver sampling the data when oversampling by 8 is used</a:t>
            </a:r>
            <a:endParaRPr lang="en-US" sz="2667" dirty="0">
              <a:latin typeface="Gill Sans" panose="020B0604020202020204" charset="0"/>
              <a:cs typeface="Gill Sans" panose="020B0604020202020204" charset="0"/>
            </a:endParaRPr>
          </a:p>
        </p:txBody>
      </p:sp>
      <p:sp>
        <p:nvSpPr>
          <p:cNvPr id="9" name="TextBox 8">
            <a:extLst>
              <a:ext uri="{FF2B5EF4-FFF2-40B4-BE49-F238E27FC236}">
                <a16:creationId xmlns:a16="http://schemas.microsoft.com/office/drawing/2014/main" id="{DCE66D81-BEE1-493B-A4B0-EB93D95B3315}"/>
              </a:ext>
            </a:extLst>
          </p:cNvPr>
          <p:cNvSpPr txBox="1"/>
          <p:nvPr/>
        </p:nvSpPr>
        <p:spPr>
          <a:xfrm>
            <a:off x="387491" y="4569643"/>
            <a:ext cx="4182139" cy="1323632"/>
          </a:xfrm>
          <a:prstGeom prst="rect">
            <a:avLst/>
          </a:prstGeom>
          <a:noFill/>
        </p:spPr>
        <p:txBody>
          <a:bodyPr wrap="square" rtlCol="0">
            <a:spAutoFit/>
          </a:bodyPr>
          <a:lstStyle/>
          <a:p>
            <a:r>
              <a:rPr lang="en-IN" sz="2667" dirty="0">
                <a:latin typeface="Gill Sans" panose="020B0604020202020204" charset="0"/>
                <a:cs typeface="Gill Sans" panose="020B0604020202020204" charset="0"/>
              </a:rPr>
              <a:t>Receiver sampling the data when oversampling by 16 is used</a:t>
            </a:r>
            <a:endParaRPr lang="en-US" sz="2667" dirty="0">
              <a:latin typeface="Gill Sans" panose="020B0604020202020204" charset="0"/>
              <a:cs typeface="Gill Sans" panose="020B0604020202020204" charset="0"/>
            </a:endParaRPr>
          </a:p>
        </p:txBody>
      </p:sp>
      <p:cxnSp>
        <p:nvCxnSpPr>
          <p:cNvPr id="11" name="Straight Arrow Connector 10">
            <a:extLst>
              <a:ext uri="{FF2B5EF4-FFF2-40B4-BE49-F238E27FC236}">
                <a16:creationId xmlns:a16="http://schemas.microsoft.com/office/drawing/2014/main" id="{328E8513-1991-4556-A260-3CCB8D808EFC}"/>
              </a:ext>
            </a:extLst>
          </p:cNvPr>
          <p:cNvCxnSpPr/>
          <p:nvPr/>
        </p:nvCxnSpPr>
        <p:spPr>
          <a:xfrm>
            <a:off x="4323905" y="2301575"/>
            <a:ext cx="10207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A242911-8C3B-41B0-B10C-88EB58797927}"/>
              </a:ext>
            </a:extLst>
          </p:cNvPr>
          <p:cNvCxnSpPr/>
          <p:nvPr/>
        </p:nvCxnSpPr>
        <p:spPr>
          <a:xfrm>
            <a:off x="4229389" y="5283420"/>
            <a:ext cx="10207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2731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653B5-9A70-40BB-BE0C-C5A4A5326007}"/>
              </a:ext>
            </a:extLst>
          </p:cNvPr>
          <p:cNvSpPr>
            <a:spLocks noGrp="1"/>
          </p:cNvSpPr>
          <p:nvPr>
            <p:ph type="title"/>
          </p:nvPr>
        </p:nvSpPr>
        <p:spPr>
          <a:xfrm>
            <a:off x="639721" y="606135"/>
            <a:ext cx="11070265" cy="1325600"/>
          </a:xfrm>
        </p:spPr>
        <p:txBody>
          <a:bodyPr/>
          <a:lstStyle/>
          <a:p>
            <a:r>
              <a:rPr lang="en-IN" sz="4267" b="1" dirty="0">
                <a:latin typeface="Helvetica Neue" panose="020B0604020202020204" charset="0"/>
                <a:cs typeface="Helvetica Neue" panose="020B0604020202020204" charset="0"/>
              </a:rPr>
              <a:t>Noise Detection based on Sampled Value</a:t>
            </a:r>
            <a:endParaRPr lang="en-US" sz="4267" b="1" dirty="0">
              <a:latin typeface="Helvetica Neue" panose="020B0604020202020204" charset="0"/>
              <a:cs typeface="Helvetica Neue" panose="020B0604020202020204" charset="0"/>
            </a:endParaRPr>
          </a:p>
        </p:txBody>
      </p:sp>
      <p:pic>
        <p:nvPicPr>
          <p:cNvPr id="5" name="Picture 4">
            <a:extLst>
              <a:ext uri="{FF2B5EF4-FFF2-40B4-BE49-F238E27FC236}">
                <a16:creationId xmlns:a16="http://schemas.microsoft.com/office/drawing/2014/main" id="{0F3D091C-C862-43C2-97EC-AD3D61965104}"/>
              </a:ext>
            </a:extLst>
          </p:cNvPr>
          <p:cNvPicPr>
            <a:picLocks noChangeAspect="1"/>
          </p:cNvPicPr>
          <p:nvPr/>
        </p:nvPicPr>
        <p:blipFill>
          <a:blip r:embed="rId3"/>
          <a:stretch>
            <a:fillRect/>
          </a:stretch>
        </p:blipFill>
        <p:spPr>
          <a:xfrm>
            <a:off x="1635047" y="1838695"/>
            <a:ext cx="8855740" cy="4384895"/>
          </a:xfrm>
          <a:prstGeom prst="rect">
            <a:avLst/>
          </a:prstGeom>
        </p:spPr>
      </p:pic>
    </p:spTree>
    <p:extLst>
      <p:ext uri="{BB962C8B-B14F-4D97-AF65-F5344CB8AC3E}">
        <p14:creationId xmlns:p14="http://schemas.microsoft.com/office/powerpoint/2010/main" val="920903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97DCE-7E31-403B-83E8-09A7BB6725A0}"/>
              </a:ext>
            </a:extLst>
          </p:cNvPr>
          <p:cNvSpPr>
            <a:spLocks noGrp="1"/>
          </p:cNvSpPr>
          <p:nvPr>
            <p:ph type="title"/>
          </p:nvPr>
        </p:nvSpPr>
        <p:spPr>
          <a:xfrm>
            <a:off x="171888" y="23647"/>
            <a:ext cx="11864163" cy="1325600"/>
          </a:xfrm>
        </p:spPr>
        <p:txBody>
          <a:bodyPr/>
          <a:lstStyle/>
          <a:p>
            <a:pPr algn="ctr"/>
            <a:r>
              <a:rPr lang="en-IN" sz="4267" b="1" dirty="0">
                <a:latin typeface="Helvetica Neue" panose="020B0604020202020204" charset="0"/>
                <a:cs typeface="Helvetica Neue" panose="020B0604020202020204" charset="0"/>
              </a:rPr>
              <a:t>Selecting the proper oversampling method</a:t>
            </a:r>
            <a:endParaRPr lang="en-US" sz="4267"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E4891D39-CD26-4110-B581-6CE79B0268DE}"/>
              </a:ext>
            </a:extLst>
          </p:cNvPr>
          <p:cNvSpPr>
            <a:spLocks noGrp="1"/>
          </p:cNvSpPr>
          <p:nvPr>
            <p:ph type="body" idx="1"/>
          </p:nvPr>
        </p:nvSpPr>
        <p:spPr>
          <a:xfrm>
            <a:off x="838199" y="1146983"/>
            <a:ext cx="10797209" cy="5528563"/>
          </a:xfrm>
        </p:spPr>
        <p:txBody>
          <a:bodyPr/>
          <a:lstStyle/>
          <a:p>
            <a:pPr marL="186262" indent="0">
              <a:buNone/>
            </a:pPr>
            <a:r>
              <a:rPr lang="en-IN" sz="3200" dirty="0">
                <a:latin typeface="Gill Sans" panose="020B0604020202020204" charset="0"/>
                <a:cs typeface="Gill Sans" panose="020B0604020202020204" charset="0"/>
              </a:rPr>
              <a:t>The oversampling method can be selected by programming the OVER8 bit in the USART</a:t>
            </a:r>
            <a:r>
              <a:rPr lang="en-IN" sz="3200" dirty="0">
                <a:latin typeface="+mj-lt"/>
                <a:cs typeface="Gill Sans" panose="020B0604020202020204" charset="0"/>
              </a:rPr>
              <a:t>_</a:t>
            </a:r>
            <a:r>
              <a:rPr lang="en-IN" sz="3200" dirty="0">
                <a:latin typeface="Gill Sans" panose="020B0604020202020204" charset="0"/>
                <a:cs typeface="Gill Sans" panose="020B0604020202020204" charset="0"/>
              </a:rPr>
              <a:t>CR1 register and can be either 16 or 8 times the baud rate clock.</a:t>
            </a:r>
          </a:p>
          <a:p>
            <a:pPr marL="186262" indent="0">
              <a:buNone/>
            </a:pPr>
            <a:r>
              <a:rPr lang="en-IN" sz="3200" b="1" dirty="0">
                <a:latin typeface="Gill Sans" panose="020B0604020202020204" charset="0"/>
                <a:cs typeface="Gill Sans" panose="020B0604020202020204" charset="0"/>
              </a:rPr>
              <a:t>Depending on the application:</a:t>
            </a:r>
          </a:p>
          <a:p>
            <a:pPr>
              <a:buSzPct val="100000"/>
            </a:pPr>
            <a:r>
              <a:rPr lang="en-IN" sz="2933" dirty="0">
                <a:latin typeface="Gill Sans" panose="020B0604020202020204" charset="0"/>
                <a:cs typeface="Gill Sans" panose="020B0604020202020204" charset="0"/>
              </a:rPr>
              <a:t>select oversampling by 8 (OVER8=1) to achieve higher speed (up to </a:t>
            </a:r>
            <a:r>
              <a:rPr lang="en-IN" sz="2933" dirty="0" err="1">
                <a:latin typeface="Gill Sans" panose="020B0604020202020204" charset="0"/>
                <a:cs typeface="Gill Sans" panose="020B0604020202020204" charset="0"/>
              </a:rPr>
              <a:t>fPCLK</a:t>
            </a:r>
            <a:r>
              <a:rPr lang="en-IN" sz="2933" dirty="0">
                <a:latin typeface="Gill Sans" panose="020B0604020202020204" charset="0"/>
                <a:cs typeface="Gill Sans" panose="020B0604020202020204" charset="0"/>
              </a:rPr>
              <a:t>/8). In this case the maximum receiver tolerance to clock deviation is reduced.</a:t>
            </a:r>
          </a:p>
          <a:p>
            <a:pPr>
              <a:buSzPct val="100000"/>
            </a:pPr>
            <a:r>
              <a:rPr lang="en-IN" sz="2933" dirty="0">
                <a:latin typeface="Gill Sans" panose="020B0604020202020204" charset="0"/>
                <a:cs typeface="Gill Sans" panose="020B0604020202020204" charset="0"/>
              </a:rPr>
              <a:t>select oversampling by 16 (OVER8=0) to increase the tolerance of the receiver to clock deviations. In this case, the maximum speed is limited to maximum </a:t>
            </a:r>
            <a:r>
              <a:rPr lang="en-IN" sz="2933" dirty="0" err="1">
                <a:latin typeface="Gill Sans" panose="020B0604020202020204" charset="0"/>
                <a:cs typeface="Gill Sans" panose="020B0604020202020204" charset="0"/>
              </a:rPr>
              <a:t>fPCLK</a:t>
            </a:r>
            <a:r>
              <a:rPr lang="en-IN" sz="2933" dirty="0">
                <a:latin typeface="Gill Sans" panose="020B0604020202020204" charset="0"/>
                <a:cs typeface="Gill Sans" panose="020B0604020202020204" charset="0"/>
              </a:rPr>
              <a:t>/16</a:t>
            </a:r>
            <a:endParaRPr lang="en-US" sz="2933" dirty="0">
              <a:latin typeface="Gill Sans" panose="020B0604020202020204" charset="0"/>
              <a:cs typeface="Gill Sans" panose="020B0604020202020204" charset="0"/>
            </a:endParaRPr>
          </a:p>
        </p:txBody>
      </p:sp>
    </p:spTree>
    <p:extLst>
      <p:ext uri="{BB962C8B-B14F-4D97-AF65-F5344CB8AC3E}">
        <p14:creationId xmlns:p14="http://schemas.microsoft.com/office/powerpoint/2010/main" val="28020408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1C77-7D6F-4245-BD30-A48D4701E8BF}"/>
              </a:ext>
            </a:extLst>
          </p:cNvPr>
          <p:cNvSpPr>
            <a:spLocks noGrp="1"/>
          </p:cNvSpPr>
          <p:nvPr>
            <p:ph type="title"/>
          </p:nvPr>
        </p:nvSpPr>
        <p:spPr/>
        <p:txBody>
          <a:bodyPr/>
          <a:lstStyle/>
          <a:p>
            <a:pPr algn="ctr"/>
            <a:r>
              <a:rPr lang="en-IN" sz="4267" dirty="0" err="1">
                <a:latin typeface="Helvetica Neue" panose="020B0604020202020204" charset="0"/>
                <a:cs typeface="Helvetica Neue" panose="020B0604020202020204" charset="0"/>
              </a:rPr>
              <a:t>Buad</a:t>
            </a:r>
            <a:r>
              <a:rPr lang="en-IN" sz="4267" dirty="0">
                <a:latin typeface="Helvetica Neue" panose="020B0604020202020204" charset="0"/>
                <a:cs typeface="Helvetica Neue" panose="020B0604020202020204" charset="0"/>
              </a:rPr>
              <a:t> rate Calculation</a:t>
            </a:r>
            <a:endParaRPr lang="en-US" sz="4267" dirty="0">
              <a:latin typeface="Helvetica Neue" panose="020B0604020202020204" charset="0"/>
              <a:cs typeface="Helvetica Neue" panose="020B0604020202020204" charset="0"/>
            </a:endParaRPr>
          </a:p>
        </p:txBody>
      </p:sp>
      <p:sp>
        <p:nvSpPr>
          <p:cNvPr id="3" name="Text Placeholder 2">
            <a:extLst>
              <a:ext uri="{FF2B5EF4-FFF2-40B4-BE49-F238E27FC236}">
                <a16:creationId xmlns:a16="http://schemas.microsoft.com/office/drawing/2014/main" id="{6C028A07-F4DE-4850-82C4-084EEB3A716C}"/>
              </a:ext>
            </a:extLst>
          </p:cNvPr>
          <p:cNvSpPr>
            <a:spLocks noGrp="1"/>
          </p:cNvSpPr>
          <p:nvPr>
            <p:ph type="body" idx="1"/>
          </p:nvPr>
        </p:nvSpPr>
        <p:spPr>
          <a:xfrm>
            <a:off x="838200" y="3429001"/>
            <a:ext cx="10515600" cy="2747824"/>
          </a:xfrm>
        </p:spPr>
        <p:txBody>
          <a:bodyPr/>
          <a:lstStyle/>
          <a:p>
            <a:pPr marL="186262" indent="0">
              <a:buNone/>
            </a:pPr>
            <a:r>
              <a:rPr lang="en-IN" sz="3200" dirty="0">
                <a:latin typeface="Gill Sans" panose="020B0604020202020204" charset="0"/>
                <a:cs typeface="Gill Sans" panose="020B0604020202020204" charset="0"/>
              </a:rPr>
              <a:t>Here,</a:t>
            </a:r>
          </a:p>
          <a:p>
            <a:r>
              <a:rPr lang="en-US" sz="3200" dirty="0">
                <a:latin typeface="Gill Sans" panose="020B0604020202020204" charset="0"/>
                <a:cs typeface="Gill Sans" panose="020B0604020202020204" charset="0"/>
              </a:rPr>
              <a:t>If OVER8 = 1 then oversampling by 8</a:t>
            </a:r>
          </a:p>
          <a:p>
            <a:r>
              <a:rPr lang="en-US" sz="3200" dirty="0">
                <a:latin typeface="Gill Sans" panose="020B0604020202020204" charset="0"/>
                <a:cs typeface="Gill Sans" panose="020B0604020202020204" charset="0"/>
              </a:rPr>
              <a:t>If OVER8 = 1 then oversampling by 16</a:t>
            </a:r>
          </a:p>
          <a:p>
            <a:r>
              <a:rPr lang="en-US" sz="3200" dirty="0">
                <a:latin typeface="Gill Sans" panose="020B0604020202020204" charset="0"/>
                <a:cs typeface="Gill Sans" panose="020B0604020202020204" charset="0"/>
              </a:rPr>
              <a:t>USARTDIV value needs to be derived based on baud rate value.  </a:t>
            </a:r>
          </a:p>
        </p:txBody>
      </p:sp>
      <p:pic>
        <p:nvPicPr>
          <p:cNvPr id="5" name="Picture 4">
            <a:extLst>
              <a:ext uri="{FF2B5EF4-FFF2-40B4-BE49-F238E27FC236}">
                <a16:creationId xmlns:a16="http://schemas.microsoft.com/office/drawing/2014/main" id="{4C4A9230-B4BA-49B7-BCEC-A1E231DFE2F7}"/>
              </a:ext>
            </a:extLst>
          </p:cNvPr>
          <p:cNvPicPr>
            <a:picLocks noChangeAspect="1"/>
          </p:cNvPicPr>
          <p:nvPr/>
        </p:nvPicPr>
        <p:blipFill>
          <a:blip r:embed="rId3"/>
          <a:stretch>
            <a:fillRect/>
          </a:stretch>
        </p:blipFill>
        <p:spPr>
          <a:xfrm>
            <a:off x="3892550" y="1878344"/>
            <a:ext cx="4406900" cy="1325600"/>
          </a:xfrm>
          <a:prstGeom prst="rect">
            <a:avLst/>
          </a:prstGeom>
        </p:spPr>
      </p:pic>
    </p:spTree>
    <p:extLst>
      <p:ext uri="{BB962C8B-B14F-4D97-AF65-F5344CB8AC3E}">
        <p14:creationId xmlns:p14="http://schemas.microsoft.com/office/powerpoint/2010/main" val="2196450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C4307D-7749-43CA-9FBB-A49083D77FA8}"/>
              </a:ext>
            </a:extLst>
          </p:cNvPr>
          <p:cNvSpPr txBox="1"/>
          <p:nvPr/>
        </p:nvSpPr>
        <p:spPr>
          <a:xfrm>
            <a:off x="1457325" y="2886075"/>
            <a:ext cx="9182100" cy="1107996"/>
          </a:xfrm>
          <a:prstGeom prst="rect">
            <a:avLst/>
          </a:prstGeom>
          <a:noFill/>
        </p:spPr>
        <p:txBody>
          <a:bodyPr wrap="square" rtlCol="0">
            <a:spAutoFit/>
          </a:bodyPr>
          <a:lstStyle/>
          <a:p>
            <a:pPr algn="ctr"/>
            <a:r>
              <a:rPr lang="en-US" sz="6600" b="1" dirty="0"/>
              <a:t>THANK YOU…</a:t>
            </a:r>
          </a:p>
        </p:txBody>
      </p:sp>
    </p:spTree>
    <p:extLst>
      <p:ext uri="{BB962C8B-B14F-4D97-AF65-F5344CB8AC3E}">
        <p14:creationId xmlns:p14="http://schemas.microsoft.com/office/powerpoint/2010/main" val="4670067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156</TotalTime>
  <Words>3039</Words>
  <Application>Microsoft Office PowerPoint</Application>
  <PresentationFormat>Widescreen</PresentationFormat>
  <Paragraphs>589</Paragraphs>
  <Slides>56</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Calibri Light</vt:lpstr>
      <vt:lpstr>Courier New</vt:lpstr>
      <vt:lpstr>Gill Sans</vt:lpstr>
      <vt:lpstr>Helvetica Neue</vt:lpstr>
      <vt:lpstr>Office Theme</vt:lpstr>
      <vt:lpstr>Understand the GPIO controller and its functionalities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 the SPI protocol </vt:lpstr>
      <vt:lpstr>SPI Protocol</vt:lpstr>
      <vt:lpstr>SPI Protocol</vt:lpstr>
      <vt:lpstr>SPI Protocol</vt:lpstr>
      <vt:lpstr>SPI Protocol</vt:lpstr>
      <vt:lpstr>SPI Protocol</vt:lpstr>
      <vt:lpstr>SPI Protocol</vt:lpstr>
      <vt:lpstr>SPI Protocol</vt:lpstr>
      <vt:lpstr>One Master and Multiple Slave</vt:lpstr>
      <vt:lpstr>Slave Select (NSS) pin Management</vt:lpstr>
      <vt:lpstr>Slave Select (NSS) pin Management</vt:lpstr>
      <vt:lpstr>Slave Select (NSS) pin Management</vt:lpstr>
      <vt:lpstr>Slave Select (NSS) pin Management</vt:lpstr>
      <vt:lpstr>SPI Protocol</vt:lpstr>
      <vt:lpstr>SPI Protocol</vt:lpstr>
      <vt:lpstr>SPI Protocol</vt:lpstr>
      <vt:lpstr>SPI Protocol</vt:lpstr>
      <vt:lpstr>SPI Protocol</vt:lpstr>
      <vt:lpstr>Understand the I2C protocol (Inter-Integrated 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I2C and SPI</vt:lpstr>
      <vt:lpstr>Difference between I2C and SPI</vt:lpstr>
      <vt:lpstr>I2C Block Diagram</vt:lpstr>
      <vt:lpstr>I2C Block Diagram</vt:lpstr>
      <vt:lpstr>Understand the UART protocol</vt:lpstr>
      <vt:lpstr>USART vs UART protocol</vt:lpstr>
      <vt:lpstr>USART vs UART protocol</vt:lpstr>
      <vt:lpstr>UART pins</vt:lpstr>
      <vt:lpstr>UART Communication</vt:lpstr>
      <vt:lpstr>UART Frame Format</vt:lpstr>
      <vt:lpstr>PowerPoint Presentation</vt:lpstr>
      <vt:lpstr>PowerPoint Presentation</vt:lpstr>
      <vt:lpstr>UART Baud rate Generation</vt:lpstr>
      <vt:lpstr>USART Oversampling</vt:lpstr>
      <vt:lpstr>PowerPoint Presentation</vt:lpstr>
      <vt:lpstr>Noise Detection based on Sampled Value</vt:lpstr>
      <vt:lpstr>Selecting the proper oversampling method</vt:lpstr>
      <vt:lpstr>Buad rate Calculation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 the GPIO controller and its functionalities </dc:title>
  <dc:creator>Vinod Kumar Jadhav</dc:creator>
  <cp:lastModifiedBy>Vinod Kumar Jadhav</cp:lastModifiedBy>
  <cp:revision>7</cp:revision>
  <dcterms:created xsi:type="dcterms:W3CDTF">2021-07-21T05:44:49Z</dcterms:created>
  <dcterms:modified xsi:type="dcterms:W3CDTF">2021-08-13T12:36:57Z</dcterms:modified>
</cp:coreProperties>
</file>